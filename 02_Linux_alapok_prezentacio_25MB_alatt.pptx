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669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EEF"/>
                </a:solidFill>
              </a:rPr>
              <a:t>02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94360" y="1234440"/>
            <a:ext cx="60350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Linux alapok és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támadói gondolkodás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21792" y="2788920"/>
            <a:ext cx="6126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C4D9"/>
                </a:solidFill>
              </a:rPr>
              <a:t>Gyakorlati modul Kali/Ubuntu VM-en, mini-CTF szemlélettel és Cisco labor kapcsolódással.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" y="5120640"/>
            <a:ext cx="3840480" cy="786384"/>
          </a:xfrm>
          <a:prstGeom prst="roundRect">
            <a:avLst>
              <a:gd name="adj" fmla="val 9302"/>
            </a:avLst>
          </a:prstGeom>
          <a:solidFill>
            <a:srgbClr val="80ED99">
              <a:alpha val="92000"/>
            </a:srgbClr>
          </a:solidFill>
          <a:ln w="12700">
            <a:solidFill>
              <a:srgbClr val="80ED99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5230368"/>
            <a:ext cx="3566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Nem parancsmagolás.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Gondolkodási út + dokumentálás.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photo_of_a_modern_computer_lab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Miért ez a modul?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Az előző modul elmélete után most jön az első valódi kézzel fogható rész.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508760"/>
            <a:ext cx="566928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A diákok terminálban dolgoznak, nem csak hallgatják az anyagot.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A Kali későbbi eszközei csak Linux alapokkal lesznek érthetők.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Minden parancs mellé kérdés társul: mit látok, mire következtetek?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12280" y="1463040"/>
            <a:ext cx="4389120" cy="2286000"/>
          </a:xfrm>
          <a:prstGeom prst="roundRect">
            <a:avLst>
              <a:gd name="adj" fmla="val 3200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1572768"/>
            <a:ext cx="4114800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pwd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/home/student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grep -R "FLAG" 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949440" y="4069080"/>
            <a:ext cx="4160520" cy="731520"/>
          </a:xfrm>
          <a:prstGeom prst="roundRect">
            <a:avLst>
              <a:gd name="adj" fmla="val 10000"/>
            </a:avLst>
          </a:prstGeom>
          <a:solidFill>
            <a:srgbClr val="00AEEF">
              <a:alpha val="92000"/>
            </a:srgbClr>
          </a:solidFill>
          <a:ln w="12700">
            <a:solidFill>
              <a:srgbClr val="00AEEF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4178808"/>
            <a:ext cx="38862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A cél: biztonságos rutin + szakmai szemlélet.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Óramenet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Javaslat: 4 × 45 perc, de rövidíthető 2 órára is.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55448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700784"/>
            <a:ext cx="144475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Terminál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171907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Ki vagyok? Hol vagyok? Mi a parancs kimenete?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770632" y="155448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73552" y="1700784"/>
            <a:ext cx="144475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Fájlok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953512" y="2286000"/>
            <a:ext cx="171907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Navigálás, mappák, másolás, átnevezés, biztonságos törlés.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38344" y="155448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48072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541264" y="1700784"/>
            <a:ext cx="144475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Keresés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221224" y="2286000"/>
            <a:ext cx="171907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cat, less, head, tail, grep, find, pipe-ok.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306056" y="155448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15784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808976" y="1700784"/>
            <a:ext cx="144475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Rendszer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488936" y="2286000"/>
            <a:ext cx="171907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Jogosultság, sudo, processzek, szolgáltatások, naplók.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573768" y="155448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83496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076688" y="1700784"/>
            <a:ext cx="144475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Hálózat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756648" y="2286000"/>
            <a:ext cx="171907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ip addr, ip route, ping, ss, Cisco-labor kapcsolat.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keretei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A biztonsági szabályokat már a Linux alapoknál is érdemes rögzíteni.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5087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80ED99">
              <a:alpha val="92000"/>
            </a:srgbClr>
          </a:solidFill>
          <a:ln w="12700">
            <a:solidFill>
              <a:srgbClr val="80ED99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618488"/>
            <a:ext cx="283464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Csak saját VM és kijelölt laborcél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26280" y="1508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D166">
              <a:alpha val="92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618488"/>
            <a:ext cx="24688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Törlés előtt: pwd + 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01000" y="1508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6B6B">
              <a:alpha val="92000"/>
            </a:srgbClr>
          </a:solidFill>
          <a:ln w="12700">
            <a:solidFill>
              <a:srgbClr val="FF6B6B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1618488"/>
            <a:ext cx="24688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sudo csak indokoltan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3108960"/>
            <a:ext cx="97840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5FAFF"/>
                </a:solidFill>
              </a:rPr>
              <a:t>• A parancsot nem csak lefuttatjuk: értelmezzük.
</a:t>
            </a:r>
            <a:pPr indent="0" marL="0">
              <a:buNone/>
            </a:pPr>
            <a:r>
              <a:rPr lang="en-US" sz="2300" dirty="0">
                <a:solidFill>
                  <a:srgbClr val="F5FAFF"/>
                </a:solidFill>
              </a:rPr>
              <a:t>• A dokumentálás a munka része.
</a:t>
            </a:r>
            <a:pPr indent="0" marL="0">
              <a:buNone/>
            </a:pPr>
            <a:r>
              <a:rPr lang="en-US" sz="2300" dirty="0">
                <a:solidFill>
                  <a:srgbClr val="F5FAFF"/>
                </a:solidFill>
              </a:rPr>
              <a:t>• Külső rendszert engedély nélkül nem vizsgálunk.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terminál gondolkodási modellje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Parancs → kimenet → következtetés → következő lépés.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697480" y="2743200"/>
            <a:ext cx="1097280" cy="0"/>
          </a:xfrm>
          <a:prstGeom prst="line">
            <a:avLst/>
          </a:prstGeom>
          <a:noFill/>
          <a:ln w="25400">
            <a:solidFill>
              <a:srgbClr val="48D9FF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5303520" y="2743200"/>
            <a:ext cx="1097280" cy="0"/>
          </a:xfrm>
          <a:prstGeom prst="line">
            <a:avLst/>
          </a:prstGeom>
          <a:noFill/>
          <a:ln w="25400">
            <a:solidFill>
              <a:srgbClr val="48D9FF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7909560" y="2743200"/>
            <a:ext cx="1097280" cy="0"/>
          </a:xfrm>
          <a:prstGeom prst="line">
            <a:avLst/>
          </a:prstGeom>
          <a:noFill/>
          <a:ln w="25400">
            <a:solidFill>
              <a:srgbClr val="48D9FF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77240" y="20574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0D2A4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487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Parancs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83280" y="20574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0D2A4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2487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Kimenet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989320" y="20574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0D2A4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487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Értelmezés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595360" y="20574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0D2A4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0" y="2487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AFF"/>
                </a:solidFill>
              </a:rPr>
              <a:t>Dokumentálás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05840" y="434340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4453128"/>
            <a:ext cx="457200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ss -tulpen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LISTEN 0 128 0.0.0.0:22 ...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0" y="4325112"/>
            <a:ext cx="420624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5FAFF"/>
                </a:solidFill>
              </a:rPr>
              <a:t>Mit jelent, ha egy gépen hallgat a 22-es port?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5FAFF"/>
                </a:solidFill>
              </a:rPr>
              <a:t>Miért fontos ez üzemeltetőként?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Első közös parancsok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Ezekkel indítsd az élő demót.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417320"/>
            <a:ext cx="4892040" cy="3154680"/>
          </a:xfrm>
          <a:prstGeom prst="roundRect">
            <a:avLst>
              <a:gd name="adj" fmla="val 2319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527048"/>
            <a:ext cx="4617720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whoami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hostname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pwd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date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uname -a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history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0" y="1600200"/>
            <a:ext cx="457200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Melyik felhasználóval dolgozom?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Melyik gépen vagyok?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Pontosan melyik mappában vagyok?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Mit árul el a rendszer verziója?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51560" y="5166360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FD166">
              <a:alpha val="92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5276088"/>
            <a:ext cx="960120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Tanári kérdés: „Miért baj, ha nem tudod, hol vagy a fájlrendszerben?”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Fájlrendszer: térkép a gépen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A Linuxban minden a / gyökér alól indul.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508760"/>
            <a:ext cx="4206240" cy="3657600"/>
          </a:xfrm>
          <a:prstGeom prst="roundRect">
            <a:avLst>
              <a:gd name="adj" fmla="val 2000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618488"/>
            <a:ext cx="3931920" cy="3438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home/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student/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etc/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var/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log/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tmp/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52160" y="1508760"/>
            <a:ext cx="502920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AFF"/>
                </a:solidFill>
              </a:rPr>
              <a:t>• /home: felhasználói mappák
</a:t>
            </a:r>
            <a:pPr indent="0" marL="0">
              <a:buNone/>
            </a:pPr>
            <a:r>
              <a:rPr lang="en-US" sz="2200" dirty="0">
                <a:solidFill>
                  <a:srgbClr val="F5FAFF"/>
                </a:solidFill>
              </a:rPr>
              <a:t>• /etc: konfigurációk
</a:t>
            </a:r>
            <a:pPr indent="0" marL="0">
              <a:buNone/>
            </a:pPr>
            <a:r>
              <a:rPr lang="en-US" sz="2200" dirty="0">
                <a:solidFill>
                  <a:srgbClr val="F5FAFF"/>
                </a:solidFill>
              </a:rPr>
              <a:t>• /var/log: naplók
</a:t>
            </a:r>
            <a:pPr indent="0" marL="0">
              <a:buNone/>
            </a:pPr>
            <a:r>
              <a:rPr lang="en-US" sz="2200" dirty="0">
                <a:solidFill>
                  <a:srgbClr val="F5FAFF"/>
                </a:solidFill>
              </a:rPr>
              <a:t>• /tmp: ideiglenes fájlok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989320" y="45720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00AEEF">
              <a:alpha val="92000"/>
            </a:srgbClr>
          </a:solidFill>
          <a:ln w="12700">
            <a:solidFill>
              <a:srgbClr val="00AEEF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4681728"/>
            <a:ext cx="42976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Etikus hacker szemlélet: hol keresnék nyomot, konfigurációt vagy hibát?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Navigálás és listázás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A diákok együtt futtatják, majd megmagyarázzák.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463040"/>
            <a:ext cx="4663440" cy="3977640"/>
          </a:xfrm>
          <a:prstGeom prst="roundRect">
            <a:avLst>
              <a:gd name="adj" fmla="val 1839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572768"/>
            <a:ext cx="4389120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pwd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Documents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..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mkdir gyakorlat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gyakorlat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806440" y="1691640"/>
            <a:ext cx="1615440" cy="2834640"/>
          </a:xfrm>
          <a:prstGeom prst="roundRect">
            <a:avLst>
              <a:gd name="adj" fmla="val 4528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16168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09360" y="1837944"/>
            <a:ext cx="975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Futtasd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989320" y="2423160"/>
            <a:ext cx="12496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Ne másold vakon: figyeld a promptot.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604760" y="1691640"/>
            <a:ext cx="1615440" cy="2834640"/>
          </a:xfrm>
          <a:prstGeom prst="roundRect">
            <a:avLst>
              <a:gd name="adj" fmla="val 4528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14488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07680" y="1837944"/>
            <a:ext cx="975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Írd le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787640" y="2423160"/>
            <a:ext cx="12496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Mit csinált a parancs?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403080" y="1691640"/>
            <a:ext cx="1615440" cy="2834640"/>
          </a:xfrm>
          <a:prstGeom prst="roundRect">
            <a:avLst>
              <a:gd name="adj" fmla="val 4528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12808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906000" y="1837944"/>
            <a:ext cx="975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Következtess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585960" y="2423160"/>
            <a:ext cx="12496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Mit árul el a kimenet?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Fájlműveletek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Létrehozás, másolás, átnevezés, tartalomírás.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37160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481328"/>
            <a:ext cx="5212080" cy="3621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touch jegyzet.txt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echo "Linux labor" &gt; jegyzet.txt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cat jegyzet.txt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cp jegyzet.txt mentés.txt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mv mentés.txt backup.txt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766560" y="1508760"/>
            <a:ext cx="429768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&gt; felülír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&gt;&gt; hozzáfűz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cp másol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mv átnevez vagy áthelyez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cat gyors megtekintés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903720" y="48463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D166">
              <a:alpha val="92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4956048"/>
            <a:ext cx="36576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Mini kérdés: melyik parancs okozhat adatvesztést?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Veszélyes zóna: törlés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Itt tanítsd meg a „gondolkodj előtte” rutint.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55448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664208"/>
            <a:ext cx="4937760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pwd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/home/student/gyakorlat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backup.txt jegyzet.txt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rm backup.txt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7512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</a:rPr>
              <a:t>Törlés előtti rutin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720840" y="2331720"/>
            <a:ext cx="420624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pwd: hol vagyok?
</a:t>
            </a:r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ls: mit fogok érinteni?
</a:t>
            </a:r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rm csak tesztfájlra
</a:t>
            </a:r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rm -rf nincs reflexből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148840" y="507492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FF6B6B">
              <a:alpha val="92000"/>
            </a:srgbClr>
          </a:solidFill>
          <a:ln w="12700">
            <a:solidFill>
              <a:srgbClr val="FF6B6B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0" y="5184648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Éles gépen a terminál nem játék.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Szövegolvasás és keresés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Logelemzés alapjai már kezdő szinten.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3258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435608"/>
            <a:ext cx="5029200" cy="3941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cat naplo.txt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less naplo.txt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head naplo.txt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tail -n 20 naplo.txt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grep "hiba" naplo.txt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grep -R "FLAG" 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537960" y="1508760"/>
            <a:ext cx="457200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A log nem dekoráció: bizonyíték és idővonal.
</a:t>
            </a:r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A grep gyorsan kiemeli a releváns sort.
</a:t>
            </a:r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A -R mappákban is keres.
</a:t>
            </a:r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A kimenetet mentsük fájlba, ha kell.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629400" y="484632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80ED99">
              <a:alpha val="92000"/>
            </a:srgbClr>
          </a:solidFill>
          <a:ln w="12700">
            <a:solidFill>
              <a:srgbClr val="80ED99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4956048"/>
            <a:ext cx="420624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Gyakorlat: találj 3 „hiba” sort egy auth.log fájlban.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Mini-CTF 1: rejtett nyom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Játékos, de szakmai: parancs + gondolkodási út.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55448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64208"/>
            <a:ext cx="5029200" cy="2843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echo "FLAG{rejtett_fajl}" &gt; .titok.txt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cat .titok.txt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58368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</a:rPr>
              <a:t>Feladat a diáknak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629400" y="2331720"/>
            <a:ext cx="42976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Miért nem látszott elsőre?
</a:t>
            </a:r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Melyik kapcsoló fedte fel?
</a:t>
            </a:r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Hogyan dokumentálnád a megoldást?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011680" y="52578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00AEEF">
              <a:alpha val="92000"/>
            </a:srgbClr>
          </a:solidFill>
          <a:ln w="12700">
            <a:solidFill>
              <a:srgbClr val="00AEEF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48840" y="5367528"/>
            <a:ext cx="777240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Pontozás: nem csak FLAG, hanem megoldási út.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Jogosultságok: r, w, x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A Linux biztonsági alapmodellje.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41732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527048"/>
            <a:ext cx="4754880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-rw-r--r-- 1 student student 84 jegyzet.txt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user:  rw-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group: r--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others:r--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72200" y="1508760"/>
            <a:ext cx="1493520" cy="2834640"/>
          </a:xfrm>
          <a:prstGeom prst="roundRect">
            <a:avLst>
              <a:gd name="adj" fmla="val 4898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81928" y="1618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75120" y="1655064"/>
            <a:ext cx="85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355080" y="2240280"/>
            <a:ext cx="11277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read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olvasás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848600" y="1508760"/>
            <a:ext cx="1493520" cy="2834640"/>
          </a:xfrm>
          <a:prstGeom prst="roundRect">
            <a:avLst>
              <a:gd name="adj" fmla="val 4898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8328" y="1618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351520" y="1655064"/>
            <a:ext cx="85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w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031480" y="2240280"/>
            <a:ext cx="11277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write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írás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525000" y="1508760"/>
            <a:ext cx="1493520" cy="2834640"/>
          </a:xfrm>
          <a:prstGeom prst="roundRect">
            <a:avLst>
              <a:gd name="adj" fmla="val 4898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34728" y="1618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027920" y="1655064"/>
            <a:ext cx="85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x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707880" y="2240280"/>
            <a:ext cx="11277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execute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futtatás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1188720" y="5074920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FD166">
              <a:alpha val="92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25880" y="5184648"/>
            <a:ext cx="960120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Kérdés: miért lehet baj, ha „others” írhat egy konfigurációs fájlt?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chmod gyakorlat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Jogosultságot nem hasraütésre állítunk.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17320"/>
            <a:ext cx="5715000" cy="3886200"/>
          </a:xfrm>
          <a:prstGeom prst="roundRect">
            <a:avLst>
              <a:gd name="adj" fmla="val 1882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527048"/>
            <a:ext cx="544068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 titok.txt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-rw-r--r-- 1 student student 20 titok.txt</a:t>
            </a:r>
            <a:endParaRPr lang="en-US" sz="1580" dirty="0"/>
          </a:p>
          <a:p>
            <a:pPr indent="0" marL="0">
              <a:buNone/>
            </a:pP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chmod 600 titok.txt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 titok.txt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-rw------- 1 student student 20 titok.txt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6858000" y="1508760"/>
            <a:ext cx="429768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FAFF"/>
                </a:solidFill>
              </a:rPr>
              <a:t>• 600: csak tulajdonos olvas/ír
</a:t>
            </a:r>
            <a:pPr indent="0" marL="0">
              <a:buNone/>
            </a:pPr>
            <a:r>
              <a:rPr lang="en-US" sz="1800" dirty="0">
                <a:solidFill>
                  <a:srgbClr val="F5FAFF"/>
                </a:solidFill>
              </a:rPr>
              <a:t>• 644: tulajdonos ír, más olvas
</a:t>
            </a:r>
            <a:pPr indent="0" marL="0">
              <a:buNone/>
            </a:pPr>
            <a:r>
              <a:rPr lang="en-US" sz="1800" dirty="0">
                <a:solidFill>
                  <a:srgbClr val="F5FAFF"/>
                </a:solidFill>
              </a:rPr>
              <a:t>• 755: futtatható programoknál gyakori
</a:t>
            </a:r>
            <a:pPr indent="0" marL="0">
              <a:buNone/>
            </a:pPr>
            <a:r>
              <a:rPr lang="en-US" sz="1800" dirty="0">
                <a:solidFill>
                  <a:srgbClr val="F5FAFF"/>
                </a:solidFill>
              </a:rPr>
              <a:t>• Jogosultság = támadási felület csökkentése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903720" y="4983480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80ED99">
              <a:alpha val="92000"/>
            </a:srgbClr>
          </a:solidFill>
          <a:ln w="12700">
            <a:solidFill>
              <a:srgbClr val="80ED99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5093208"/>
            <a:ext cx="39319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Lab: állítsd át .titok.txt jogát 600-ra, majd vissza 644-re.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sudo és apt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A magasabb jogosultság felelősség.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41732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527048"/>
            <a:ext cx="4663440" cy="2523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sudo apt update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sudo apt install tree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tree ~/ethical_linux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55080" y="1508760"/>
            <a:ext cx="466344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sudo: egy parancs magasabb joggal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apt: csomagkezelés Debian/Kali/Ubuntu alatt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Előbb értsd, utána futtasd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Telepítés csak ismert forrásból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057400" y="498348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D166">
              <a:alpha val="92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94560" y="5093208"/>
            <a:ext cx="77724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Tanári kérdés: „Miért nem jó minden elé sudo-t írni?”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tech_digital_illustr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Processzek, szolgáltatások, naplók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Üzemeltetői és kiberbiztonsági szemmel is alap.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17320"/>
            <a:ext cx="5943600" cy="3474720"/>
          </a:xfrm>
          <a:prstGeom prst="roundRect">
            <a:avLst>
              <a:gd name="adj" fmla="val 2105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527048"/>
            <a:ext cx="5669280" cy="3255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ps aux | head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systemctl status ssh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systemctl --type=service --state=running | head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journalctl --no-pager | tail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86600" y="1600200"/>
            <a:ext cx="420624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Mi fut a gépen?
</a:t>
            </a:r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Melyik szolgáltatás aktív?
</a:t>
            </a:r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Mikor történt hiba?
</a:t>
            </a:r>
            <a:pPr indent="0" marL="0">
              <a:buNone/>
            </a:pPr>
            <a:r>
              <a:rPr lang="en-US" sz="2100" dirty="0">
                <a:solidFill>
                  <a:srgbClr val="F5FAFF"/>
                </a:solidFill>
              </a:rPr>
              <a:t>• Milyen nyom maradt a naplóban?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828800" y="516636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0AEEF">
              <a:alpha val="92000"/>
            </a:srgbClr>
          </a:solidFill>
          <a:ln w="12700">
            <a:solidFill>
              <a:srgbClr val="00AEEF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65960" y="5276088"/>
            <a:ext cx="822960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A log olvasása gyakran fontosabb, mint egy új eszköz telepítése.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tech_digital_illustr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Linux hálózati nézőpont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A Cisco tudás most Linuxból lesz látható.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32588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435608"/>
            <a:ext cx="4937760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ip addr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ip route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ping -c 4 &lt;gateway_ip&gt;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ss -tulpen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ip neigh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400800" y="1463040"/>
            <a:ext cx="46634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Milyen IP-címem van?
</a:t>
            </a:r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Mi az alapértelmezett átjáró?
</a:t>
            </a:r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Elérem-e a gateway-t?
</a:t>
            </a:r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Milyen portok hallgatnak?
</a:t>
            </a:r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Mit látok az ARP szomszédokból?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629400" y="5166360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80ED99">
              <a:alpha val="92000"/>
            </a:srgbClr>
          </a:solidFill>
          <a:ln w="12700">
            <a:solidFill>
              <a:srgbClr val="80ED99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76088"/>
            <a:ext cx="402336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Ezt már rá lehet kötni a rackes Cisco laborra.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photo_of_a_modern_computer_lab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Opcionális élő Cisco-labor kapcsolódás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Nem újra tanítjuk a VLAN-t, hanem más szemszögből nézzük.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88920" y="2743200"/>
            <a:ext cx="1828800" cy="0"/>
          </a:xfrm>
          <a:prstGeom prst="line">
            <a:avLst/>
          </a:prstGeom>
          <a:noFill/>
          <a:ln w="25400">
            <a:solidFill>
              <a:srgbClr val="48D9FF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5486400" y="2743200"/>
            <a:ext cx="1920240" cy="0"/>
          </a:xfrm>
          <a:prstGeom prst="line">
            <a:avLst/>
          </a:prstGeom>
          <a:noFill/>
          <a:ln w="25400">
            <a:solidFill>
              <a:srgbClr val="48D9FF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85800" y="2057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AFF"/>
                </a:solidFill>
              </a:rPr>
              <a:t>Linux VM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160520" y="2057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196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AFF"/>
                </a:solidFill>
              </a:rPr>
              <a:t>Cisco rack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635240" y="2057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AFF"/>
                </a:solidFill>
              </a:rPr>
              <a:t>Megfigyelés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34340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4453128"/>
            <a:ext cx="420624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ping &lt;gateway&gt;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traceroute &lt;gateway&gt;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ip neigh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89320" y="4389120"/>
            <a:ext cx="49377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A diák összeköti a Cisco-n tanult fogalmakat a Linux kimenetével.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 és átirányítás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A Linux egyik legfontosabb „összerakós” képessége.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17320"/>
            <a:ext cx="6400800" cy="3794760"/>
          </a:xfrm>
          <a:prstGeom prst="roundRect">
            <a:avLst>
              <a:gd name="adj" fmla="val 1928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527048"/>
            <a:ext cx="6126480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cat auth.log | grep "hiba" | head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-la &gt; fajllista.txt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grep -R "FLAG" . &gt; talalatok.txt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tail -n 50 /var/log/syslog | grep ssh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543800" y="1600200"/>
            <a:ext cx="384048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| továbbadja a kimenetet
</a:t>
            </a:r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&gt; fájlba ír, felülír
</a:t>
            </a:r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&gt;&gt; fájlba ír, hozzáfűz
</a:t>
            </a:r>
            <a:pPr indent="0" marL="0">
              <a:buNone/>
            </a:pPr>
            <a:r>
              <a:rPr lang="en-US" sz="1900" dirty="0">
                <a:solidFill>
                  <a:srgbClr val="F5FAFF"/>
                </a:solidFill>
              </a:rPr>
              <a:t>• Egy jó parancslánc = gyors szűrés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498080" y="484632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80ED99">
              <a:alpha val="92000"/>
            </a:srgbClr>
          </a:solidFill>
          <a:ln w="12700">
            <a:solidFill>
              <a:srgbClr val="80ED99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4956048"/>
            <a:ext cx="35661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Feladat: készíts talalatok.txt fájlt a FLAG keresésekből.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Laborfeladat menete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Így tudod órán vezetni a gyakorlást.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64592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1755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1792224"/>
            <a:ext cx="1783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Demo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97280" y="2377440"/>
            <a:ext cx="20574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Tanár futtatja, hangosan gondolkodik.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520440" y="164592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30168" y="1755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23360" y="1792224"/>
            <a:ext cx="1783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Együtt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3320" y="2377440"/>
            <a:ext cx="20574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Diákok ugyanazt futtatják saját VM-en.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4592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755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29400" y="1792224"/>
            <a:ext cx="1783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Önálló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309360" y="2377440"/>
            <a:ext cx="20574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Párok megoldják a feladatlapot.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732520" y="1645920"/>
            <a:ext cx="2423160" cy="2834640"/>
          </a:xfrm>
          <a:prstGeom prst="roundRect">
            <a:avLst>
              <a:gd name="adj" fmla="val 3019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42248" y="1755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235440" y="1792224"/>
            <a:ext cx="1783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Megbeszélés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915400" y="2377440"/>
            <a:ext cx="20574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Kimenetek értelmezése, hibák javítása.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2377440" y="5074920"/>
            <a:ext cx="7498080" cy="640080"/>
          </a:xfrm>
          <a:prstGeom prst="roundRect">
            <a:avLst>
              <a:gd name="adj" fmla="val 11429"/>
            </a:avLst>
          </a:prstGeom>
          <a:solidFill>
            <a:srgbClr val="FFD166">
              <a:alpha val="92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14600" y="5184648"/>
            <a:ext cx="72237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A parancs nem cél. A következtetés a cél.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Mini-CTF: nyomkeresés Linuxon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Kis játék, nagy tanulási érték.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4173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07111F">
              <a:alpha val="95000"/>
            </a:srgbClr>
          </a:solidFill>
          <a:ln w="12700">
            <a:solidFill>
              <a:srgbClr val="1E6A8A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527048"/>
            <a:ext cx="5029200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find . -type 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grep -R "FLAG" 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file gyanus_fajl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7F3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cat gyanus_fajl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0" y="1508760"/>
            <a:ext cx="457200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3 rejtett zászló a mappában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Minden flag mellé megoldási út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Páros munka ajánlott
</a:t>
            </a:r>
            <a:pPr indent="0" marL="0">
              <a:buNone/>
            </a:pPr>
            <a:r>
              <a:rPr lang="en-US" sz="2000" dirty="0">
                <a:solidFill>
                  <a:srgbClr val="F5FAFF"/>
                </a:solidFill>
              </a:rPr>
              <a:t>• Értékelés: pontosság + dokumentáció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675120" y="48920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80ED99">
              <a:alpha val="92000"/>
            </a:srgbClr>
          </a:solidFill>
          <a:ln w="12700">
            <a:solidFill>
              <a:srgbClr val="80ED99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12280" y="5001768"/>
            <a:ext cx="374904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Példa: FLAG{grep_mester}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Értékelés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A gyakorlati szemléletet pontozzuk, nem a bemagolt definíciót.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55448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00AEEF">
              <a:alpha val="90000"/>
            </a:srgbClr>
          </a:solidFill>
          <a:ln w="12700">
            <a:solidFill>
              <a:srgbClr val="00AEEF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645920"/>
            <a:ext cx="2688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AFF"/>
                </a:solidFill>
              </a:rPr>
              <a:t>Parancshasználat 30%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17720" y="155448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80ED99">
              <a:alpha val="90000"/>
            </a:srgbClr>
          </a:solidFill>
          <a:ln w="12700">
            <a:solidFill>
              <a:srgbClr val="80ED99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90872" y="1645920"/>
            <a:ext cx="296265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AFF"/>
                </a:solidFill>
              </a:rPr>
              <a:t>Kimenet értelmezése 30%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0" y="155448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59952" y="1645920"/>
            <a:ext cx="23225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AFF"/>
                </a:solidFill>
              </a:rPr>
              <a:t>Dokumentálás 25%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60520" y="320040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F6B6B">
              <a:alpha val="90000"/>
            </a:srgbClr>
          </a:solidFill>
          <a:ln w="12700">
            <a:solidFill>
              <a:srgbClr val="FF6B6B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33672" y="3291840"/>
            <a:ext cx="35112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AFF"/>
                </a:solidFill>
              </a:rPr>
              <a:t>Laborfegyelem 15%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AFF"/>
                </a:solidFill>
              </a:rPr>
              <a:t>Leadandó: kitöltött laborlap + legalább 10 parancs + 2 értelmezett kimenet + rövid reflektálás.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wa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vigyenek magukkal?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A modul rövid összefoglalása.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508760"/>
            <a:ext cx="996696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5FAFF"/>
                </a:solidFill>
              </a:rPr>
              <a:t>• A Linux terminál szakmai munkaeszköz.
</a:t>
            </a:r>
            <a:pPr indent="0" marL="0">
              <a:buNone/>
            </a:pPr>
            <a:r>
              <a:rPr lang="en-US" sz="2200" dirty="0">
                <a:solidFill>
                  <a:srgbClr val="F5FAFF"/>
                </a:solidFill>
              </a:rPr>
              <a:t>• A fájlrendszerben való tájékozódás alapfeltétel.
</a:t>
            </a:r>
            <a:pPr indent="0" marL="0">
              <a:buNone/>
            </a:pPr>
            <a:r>
              <a:rPr lang="en-US" sz="2200" dirty="0">
                <a:solidFill>
                  <a:srgbClr val="F5FAFF"/>
                </a:solidFill>
              </a:rPr>
              <a:t>• A grep/find/log olvasás a biztonsági gondolkodás kezdete.
</a:t>
            </a:r>
            <a:pPr indent="0" marL="0">
              <a:buNone/>
            </a:pPr>
            <a:r>
              <a:rPr lang="en-US" sz="2200" dirty="0">
                <a:solidFill>
                  <a:srgbClr val="F5FAFF"/>
                </a:solidFill>
              </a:rPr>
              <a:t>• A jogosultság nem elmélet: konkrét védelmi mechanizmus.
</a:t>
            </a:r>
            <a:pPr indent="0" marL="0">
              <a:buNone/>
            </a:pPr>
            <a:r>
              <a:rPr lang="en-US" sz="2200" dirty="0">
                <a:solidFill>
                  <a:srgbClr val="F5FAFF"/>
                </a:solidFill>
              </a:rPr>
              <a:t>• A Cisco tudás Linuxból is ellenőrizhető és értelmezhető.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920240" y="530352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0AEEF">
              <a:alpha val="92000"/>
            </a:srgbClr>
          </a:solidFill>
          <a:ln w="12700">
            <a:solidFill>
              <a:srgbClr val="00AEEF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57400" y="5413248"/>
            <a:ext cx="822960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Következő modul: Kali Linux környezet és biztonságos labormunka.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photo_of_a_modern_computer_lab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7772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Kilépőkártya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30352" y="749808"/>
            <a:ext cx="8686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C4D9"/>
                </a:solidFill>
              </a:rPr>
              <a:t>3 kérdés az óra végére.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205740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" y="1691640"/>
            <a:ext cx="3200400" cy="2834640"/>
          </a:xfrm>
          <a:prstGeom prst="roundRect">
            <a:avLst>
              <a:gd name="adj" fmla="val 2581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1288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1837944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34440" y="2423160"/>
            <a:ext cx="283464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Melyik Linux parancs volt ma a leghasznosabb?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200400" cy="2834640"/>
          </a:xfrm>
          <a:prstGeom prst="roundRect">
            <a:avLst>
              <a:gd name="adj" fmla="val 2581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4568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937760" y="1837944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17720" y="2423160"/>
            <a:ext cx="283464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Melyik kimenetet volt nehéz értelmezni?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818120" y="1691640"/>
            <a:ext cx="3200400" cy="2834640"/>
          </a:xfrm>
          <a:prstGeom prst="roundRect">
            <a:avLst>
              <a:gd name="adj" fmla="val 2581"/>
            </a:avLst>
          </a:prstGeom>
          <a:solidFill>
            <a:srgbClr val="0D2A44">
              <a:alpha val="98000"/>
            </a:srgbClr>
          </a:solidFill>
          <a:ln w="12700">
            <a:solidFill>
              <a:srgbClr val="1E6A8A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27848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D9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321040" y="1837944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AFF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01000" y="2423160"/>
            <a:ext cx="283464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C4D9"/>
                </a:solidFill>
              </a:rPr>
              <a:t>Mit néznél meg először egy ismeretlen Linux gépen?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063240" y="5166360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80ED99">
              <a:alpha val="92000"/>
            </a:srgbClr>
          </a:solidFill>
          <a:ln w="12700">
            <a:solidFill>
              <a:srgbClr val="80ED99">
                <a:alpha val="8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0" y="5276088"/>
            <a:ext cx="57607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A2B"/>
                </a:solidFill>
              </a:rPr>
              <a:t>A válaszokból építsd a következő órát.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9C4"/>
                </a:solidFill>
              </a:rPr>
              <a:t>02. modul | Linux alapok és támadói gondolkodás | 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Oktatási segédanyag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alapok és támadói gondolkodás</dc:title>
  <dc:subject>Etikus hackelés tananyag - 2. modul</dc:subject>
  <dc:creator>ChatGPT</dc:creator>
  <cp:lastModifiedBy>ChatGPT</cp:lastModifiedBy>
  <cp:revision>1</cp:revision>
  <dcterms:created xsi:type="dcterms:W3CDTF">2026-08-02T21:42:37Z</dcterms:created>
  <dcterms:modified xsi:type="dcterms:W3CDTF">2026-08-02T21:42:37Z</dcterms:modified>
</cp:coreProperties>
</file>