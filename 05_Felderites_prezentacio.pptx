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Nyitás: hangsúlyozd, hogy ez a modul nem a véletlen parancspróbálgatásról szól, hanem szabályos, dokumentált felderítésről.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dule05_improved_assets/img1_dark.jp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502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FF"/>
                </a:solidFill>
              </a:rPr>
              <a:t>05. modul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94360" y="1078992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Felderítés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Kali Linux alatt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621792" y="2743200"/>
            <a:ext cx="4983480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B7C8D9"/>
                </a:solidFill>
              </a:rPr>
              <a:t>Engedélyezett célterület → host discovery → nmap → web/DNS nyomok → riport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21792" y="5532120"/>
            <a:ext cx="1572768" cy="329184"/>
          </a:xfrm>
          <a:prstGeom prst="rect">
            <a:avLst/>
          </a:prstGeom>
          <a:solidFill>
            <a:srgbClr val="00C2FF">
              <a:alpha val="95000"/>
            </a:srgbClr>
          </a:solidFill>
          <a:ln>
            <a:solidFill>
              <a:srgbClr val="00C2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6FBFF"/>
                </a:solidFill>
              </a:rPr>
              <a:t>gyakorlati modul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C2FF">
              <a:alpha val="90000"/>
            </a:srgbClr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654710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94A8"/>
                </a:solidFill>
              </a:rPr>
              <a:t>05. modul | Felderítés Kali Linux alatt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124712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94A8"/>
                </a:solidFill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dule05_improved_assets/img3_dark.jpg">    </p:cNvPr>
          <p:cNvPicPr>
            <a:picLocks noChangeAspect="1"/>
          </p:cNvPicPr>
          <p:nvPr/>
        </p:nvPicPr>
        <p:blipFill>
          <a:blip r:embed="rId1"/>
          <a:srcRect l="5000" r="-4997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Miért fontos a felderítés?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2920" y="822960"/>
            <a:ext cx="502920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94183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7C8D9"/>
                </a:solidFill>
              </a:rPr>
              <a:t>Nem az exploitolásnál kezdődik a szakmai munka.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94360" y="1691640"/>
            <a:ext cx="48463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6FBFF"/>
                </a:solidFill>
              </a:rPr>
              <a:t>A jó felderítés olyan, mint egy rendszergazdai térkép — csak támadói szemszögből.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58368" y="2788920"/>
            <a:ext cx="470916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6FBFF"/>
                </a:solidFill>
              </a:rPr>
              <a:t>mit lát egy külső vizsgáló?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6FBFF"/>
                </a:solidFill>
              </a:rPr>
              <a:t>mely eszközök és szolgáltatások érhetők el?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6FBFF"/>
                </a:solidFill>
              </a:rPr>
              <a:t>mi az, ami feleslegesen látszik?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6FBFF"/>
                </a:solidFill>
              </a:rPr>
              <a:t>mit kell dokumentálni bizonyítékként?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58368" y="5230368"/>
            <a:ext cx="2926080" cy="329184"/>
          </a:xfrm>
          <a:prstGeom prst="rect">
            <a:avLst/>
          </a:prstGeom>
          <a:solidFill>
            <a:srgbClr val="00E0B8">
              <a:alpha val="95000"/>
            </a:srgbClr>
          </a:solidFill>
          <a:ln>
            <a:solidFill>
              <a:srgbClr val="00E0B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6FBFF"/>
                </a:solidFill>
              </a:rPr>
              <a:t>kulcs: térképezés + értelmezés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C2FF">
              <a:alpha val="90000"/>
            </a:srgbClr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654710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94A8"/>
                </a:solidFill>
              </a:rPr>
              <a:t>05. modul | Felderítés Kali Linux alatt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4712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94A8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felderítés nem egy parancslista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502920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4183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7C8D9"/>
                </a:solidFill>
              </a:rPr>
              <a:t>A sorrend többet számít, mint az eszköz neve.</a:t>
            </a:r>
            <a:endParaRPr lang="en-US" sz="1500" dirty="0"/>
          </a:p>
        </p:txBody>
      </p:sp>
      <p:pic>
        <p:nvPicPr>
          <p:cNvPr id="5" name="Image 0" descr="/mnt/data/module05_improved_assets/img4.jpg">    </p:cNvPr>
          <p:cNvPicPr>
            <a:picLocks noChangeAspect="1"/>
          </p:cNvPicPr>
          <p:nvPr/>
        </p:nvPicPr>
        <p:blipFill>
          <a:blip r:embed="rId1"/>
          <a:srcRect l="0" r="0" t="17347" b="17347"/>
          <a:stretch/>
        </p:blipFill>
        <p:spPr>
          <a:xfrm>
            <a:off x="502920" y="1554480"/>
            <a:ext cx="1120140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91840" y="5897880"/>
            <a:ext cx="56692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B7C8D9"/>
                </a:solidFill>
              </a:rPr>
              <a:t>óraüzenet: először gondolkodunk, aztán mérünk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C2FF">
              <a:alpha val="90000"/>
            </a:srgbClr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654710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94A8"/>
                </a:solidFill>
              </a:rPr>
              <a:t>05. modul | Felderítés Kali Linux alatt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124712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94A8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Scope: mit szabad vizsgálni?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502920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4183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7C8D9"/>
                </a:solidFill>
              </a:rPr>
              <a:t>A technikai munka előtt a határok legyenek tiszták.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4800600" cy="2331720"/>
          </a:xfrm>
          <a:prstGeom prst="rect">
            <a:avLst/>
          </a:prstGeom>
          <a:solidFill>
            <a:srgbClr val="062119"/>
          </a:solidFill>
          <a:ln>
            <a:solidFill>
              <a:srgbClr val="5CFFB2">
                <a:alpha val="85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5CFFB2"/>
                </a:solidFill>
              </a:rPr>
              <a:t>ENGEDÉLYEZETT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5CFFB2"/>
                </a:solidFill>
              </a:rPr>
              <a:t>• kijelölt labor VLAN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5CFFB2"/>
                </a:solidFill>
              </a:rPr>
              <a:t>• célgépek IP-listája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5CFFB2"/>
                </a:solidFill>
              </a:rPr>
              <a:t>• megadott időablak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5CFFB2"/>
                </a:solidFill>
              </a:rPr>
              <a:t>• mentett bizonyítékok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37960" y="1600200"/>
            <a:ext cx="4800600" cy="2331720"/>
          </a:xfrm>
          <a:prstGeom prst="rect">
            <a:avLst/>
          </a:prstGeom>
          <a:solidFill>
            <a:srgbClr val="250B12"/>
          </a:solidFill>
          <a:ln>
            <a:solidFill>
              <a:srgbClr val="FF5C5C">
                <a:alpha val="90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5C5C"/>
                </a:solidFill>
              </a:rPr>
              <a:t>TILOS / KIZÁRT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5C5C"/>
                </a:solidFill>
              </a:rPr>
              <a:t>• internetes célpontok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5C5C"/>
                </a:solidFill>
              </a:rPr>
              <a:t>• teljes iskolai hálózat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5C5C"/>
                </a:solidFill>
              </a:rPr>
              <a:t>• jelszótörés engedély nélkül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5C5C"/>
                </a:solidFill>
              </a:rPr>
              <a:t>• túlterhelő scan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5074920"/>
            <a:ext cx="99212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6FBFF"/>
                </a:solidFill>
              </a:rPr>
              <a:t>Tanári mondat: „Ha nem tudod bizonyítani, hogy engedélyed van rá, akkor nem scanneljük.”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C2FF">
              <a:alpha val="90000"/>
            </a:srgbClr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4710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94A8"/>
                </a:solidFill>
              </a:rPr>
              <a:t>05. modul | Felderítés Kali Linux alatt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24712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94A8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dule05_improved_assets/img2_dark.jp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Órai küldetés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2920" y="822960"/>
            <a:ext cx="502920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94183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7C8D9"/>
                </a:solidFill>
              </a:rPr>
              <a:t>A rendszergazda biztonsági leltárt kér a laborkörnyezetről.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85800" y="1417320"/>
            <a:ext cx="5303520" cy="2834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6FBFF"/>
                </a:solidFill>
              </a:rPr>
              <a:t>azonosítsd a saját Kali géped hálózati helyzetét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6FBFF"/>
                </a:solidFill>
              </a:rPr>
              <a:t>keress élő hosztokat a megadott tartományban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6FBFF"/>
                </a:solidFill>
              </a:rPr>
              <a:t>vizsgáld meg célzottan a nyitott portokat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6FBFF"/>
                </a:solidFill>
              </a:rPr>
              <a:t>web/DNS nyomok alapján írj rövid következtetést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6FBFF"/>
                </a:solidFill>
              </a:rPr>
              <a:t>készíts bizonyítékokkal alátámasztott mini riportot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583680" y="1828800"/>
            <a:ext cx="4206240" cy="1143000"/>
          </a:xfrm>
          <a:prstGeom prst="rect">
            <a:avLst/>
          </a:prstGeom>
          <a:solidFill>
            <a:srgbClr val="02111F">
              <a:alpha val="96000"/>
            </a:srgbClr>
          </a:solidFill>
          <a:ln>
            <a:solidFill>
              <a:srgbClr val="00C2FF">
                <a:alpha val="7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FFFE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mkdir -p ~/recon-lab/{notes,reports,screenshots}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FFFE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ip -br 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FFFE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ip route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874520" y="5166360"/>
            <a:ext cx="6035040" cy="329184"/>
          </a:xfrm>
          <a:prstGeom prst="rect">
            <a:avLst/>
          </a:prstGeom>
          <a:solidFill>
            <a:srgbClr val="00C2FF">
              <a:alpha val="95000"/>
            </a:srgbClr>
          </a:solidFill>
          <a:ln>
            <a:solidFill>
              <a:srgbClr val="00C2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6FBFF"/>
                </a:solidFill>
              </a:rPr>
              <a:t>nem „találtam valamit” → bizonyítottam és értelmeztem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C2FF">
              <a:alpha val="90000"/>
            </a:srgbClr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654710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94A8"/>
                </a:solidFill>
              </a:rPr>
              <a:t>05. modul | Felderítés Kali Linux alatt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4712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94A8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Saját helyzet tisztázása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502920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4183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7C8D9"/>
                </a:solidFill>
              </a:rPr>
              <a:t>A Kali gépünk is a vizsgálat része: interfész, IP, útvonal, DNS.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508760"/>
            <a:ext cx="4069080" cy="1481328"/>
          </a:xfrm>
          <a:prstGeom prst="rect">
            <a:avLst/>
          </a:prstGeom>
          <a:solidFill>
            <a:srgbClr val="02111F">
              <a:alpha val="96000"/>
            </a:srgbClr>
          </a:solidFill>
          <a:ln>
            <a:solidFill>
              <a:srgbClr val="00C2FF">
                <a:alpha val="7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7FFFE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ip -br address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7FFFE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ip route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7FFFE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resolvectl status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7FFFE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ip neigh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577840" y="1417320"/>
            <a:ext cx="5212080" cy="2240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6FBFF"/>
                </a:solidFill>
              </a:rPr>
              <a:t>melyik interfész a labor?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6FBFF"/>
                </a:solidFill>
              </a:rPr>
              <a:t>milyen IP-t kaptál?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6FBFF"/>
                </a:solidFill>
              </a:rPr>
              <a:t>merre van a gateway?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6FBFF"/>
                </a:solidFill>
              </a:rPr>
              <a:t>milyen DNS-t használsz?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6FBFF"/>
                </a:solidFill>
              </a:rPr>
              <a:t>látszik-e már ARP szomszéd?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057400" y="4983480"/>
            <a:ext cx="81381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6FBFF"/>
                </a:solidFill>
              </a:rPr>
              <a:t>Mini feladat: rajzold fel 2 percben, hogy a Kali honnan hova tud eljutni.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C2FF">
              <a:alpha val="90000"/>
            </a:srgbClr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4710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94A8"/>
                </a:solidFill>
              </a:rPr>
              <a:t>05. modul | Felderítés Kali Linux alatt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24712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94A8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dule05_improved_assets/img7_dark.jpg">    </p:cNvPr>
          <p:cNvPicPr>
            <a:picLocks noChangeAspect="1"/>
          </p:cNvPicPr>
          <p:nvPr/>
        </p:nvPicPr>
        <p:blipFill>
          <a:blip r:embed="rId1"/>
          <a:srcRect l="0" r="3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Passzív és aktív felderítés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2920" y="822960"/>
            <a:ext cx="502920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94183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7C8D9"/>
                </a:solidFill>
              </a:rPr>
              <a:t>Mindkettő értékes, de más a kockázata.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58368" y="1508760"/>
            <a:ext cx="4937760" cy="1965960"/>
          </a:xfrm>
          <a:prstGeom prst="rect">
            <a:avLst/>
          </a:prstGeom>
          <a:solidFill>
            <a:srgbClr val="071324">
              <a:alpha val="92000"/>
            </a:srgbClr>
          </a:solidFill>
          <a:ln>
            <a:solidFill>
              <a:srgbClr val="00C2FF">
                <a:alpha val="65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6FBFF"/>
                </a:solidFill>
              </a:rPr>
              <a:t>PASSZÍV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6FBFF"/>
                </a:solidFill>
              </a:rPr>
              <a:t>Nem szólítjuk meg közvetlenül a célt.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6FBFF"/>
                </a:solidFill>
              </a:rPr>
              <a:t>Példák: dokumentumok, DNS adatok, webes nyomok, korábbi információk.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92240" y="1508760"/>
            <a:ext cx="4937760" cy="1965960"/>
          </a:xfrm>
          <a:prstGeom prst="rect">
            <a:avLst/>
          </a:prstGeom>
          <a:solidFill>
            <a:srgbClr val="071324">
              <a:alpha val="92000"/>
            </a:srgbClr>
          </a:solidFill>
          <a:ln>
            <a:solidFill>
              <a:srgbClr val="FFC857">
                <a:alpha val="75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6FBFF"/>
                </a:solidFill>
              </a:rPr>
              <a:t>AKTÍV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6FBFF"/>
                </a:solidFill>
              </a:rPr>
              <a:t>A célhálózat válaszait mérjük.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6FBFF"/>
                </a:solidFill>
              </a:rPr>
              <a:t>Példák: ping, arp-scan, nmap, curl, whatweb. Csak engedéllyel.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880360" y="5257800"/>
            <a:ext cx="64922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7C8D9"/>
                </a:solidFill>
              </a:rPr>
              <a:t>A modulban aktív felderítést végzünk – kizárólag laborban.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C2FF">
              <a:alpha val="90000"/>
            </a:srgbClr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654710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94A8"/>
                </a:solidFill>
              </a:rPr>
              <a:t>05. modul | Felderítés Kali Linux alatt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4712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94A8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dule05_improved_assets/img5_dark.jpg">    </p:cNvPr>
          <p:cNvPicPr>
            <a:picLocks noChangeAspect="1"/>
          </p:cNvPicPr>
          <p:nvPr/>
        </p:nvPicPr>
        <p:blipFill>
          <a:blip r:embed="rId1"/>
          <a:srcRect l="0" r="3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Host discovery: kik vannak a hálózaton?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2920" y="822960"/>
            <a:ext cx="502920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94183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7C8D9"/>
                </a:solidFill>
              </a:rPr>
              <a:t>Először élő gépeket keresünk, nem szolgáltatásokat.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13232" y="1600200"/>
            <a:ext cx="5715000" cy="1554480"/>
          </a:xfrm>
          <a:prstGeom prst="rect">
            <a:avLst/>
          </a:prstGeom>
          <a:solidFill>
            <a:srgbClr val="02111F">
              <a:alpha val="96000"/>
            </a:srgbClr>
          </a:solidFill>
          <a:ln>
            <a:solidFill>
              <a:srgbClr val="00C2FF">
                <a:alpha val="7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FFFE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sudo arp-scan --localnet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FFFE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sudo netdiscover -i eth0 -r 192.168.56.0/24 -P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FFFE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nmap -sn 192.168.56.0/24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0" y="1600200"/>
            <a:ext cx="448056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6FBFF"/>
                </a:solidFill>
              </a:rPr>
              <a:t>arp-scan: gyors helyi L2 leltár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6FBFF"/>
                </a:solidFill>
              </a:rPr>
              <a:t>netdiscover: látványos, könnyen érthető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6FBFF"/>
                </a:solidFill>
              </a:rPr>
              <a:t>nmap -sn: IP-tartomány gyors felmérése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6FBFF"/>
                </a:solidFill>
              </a:rPr>
              <a:t>eredmény: IP + MAC + gyártói nyom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069080" y="5120640"/>
            <a:ext cx="3657600" cy="329184"/>
          </a:xfrm>
          <a:prstGeom prst="rect">
            <a:avLst/>
          </a:prstGeom>
          <a:solidFill>
            <a:srgbClr val="00E0B8">
              <a:alpha val="95000"/>
            </a:srgbClr>
          </a:solidFill>
          <a:ln>
            <a:solidFill>
              <a:srgbClr val="00E0B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FBFF"/>
                </a:solidFill>
              </a:rPr>
              <a:t>Leadandó: élő gépek táblázata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C2FF">
              <a:alpha val="90000"/>
            </a:srgbClr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654710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94A8"/>
                </a:solidFill>
              </a:rPr>
              <a:t>05. modul | Felderítés Kali Linux alatt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4712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94A8"/>
                </a:solidFill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Nmap lépcsőzetesen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502920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4183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7C8D9"/>
                </a:solidFill>
              </a:rPr>
              <a:t>Ne mindent egyszerre. Kevesebb zaj, jobb értelmezés.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457200" cy="457200"/>
          </a:xfrm>
          <a:prstGeom prst="rect">
            <a:avLst/>
          </a:prstGeom>
          <a:solidFill>
            <a:srgbClr val="00C2FF"/>
          </a:solidFill>
          <a:ln>
            <a:solidFill>
              <a:srgbClr val="00C2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324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11887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B7C8D9"/>
                </a:solidFill>
              </a:rPr>
              <a:t>hostok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554480" y="1993392"/>
            <a:ext cx="914400" cy="256032"/>
          </a:xfrm>
          <a:prstGeom prst="chevron">
            <a:avLst/>
          </a:prstGeom>
          <a:solidFill>
            <a:srgbClr val="00C2FF">
              <a:alpha val="40000"/>
            </a:srgbClr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1874520"/>
            <a:ext cx="457200" cy="457200"/>
          </a:xfrm>
          <a:prstGeom prst="rect">
            <a:avLst/>
          </a:prstGeom>
          <a:solidFill>
            <a:srgbClr val="00C2FF"/>
          </a:solidFill>
          <a:ln>
            <a:solidFill>
              <a:srgbClr val="00C2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324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560320" y="2468880"/>
            <a:ext cx="11887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B7C8D9"/>
                </a:solidFill>
              </a:rPr>
              <a:t>top portok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566160" y="1993392"/>
            <a:ext cx="914400" cy="256032"/>
          </a:xfrm>
          <a:prstGeom prst="chevron">
            <a:avLst/>
          </a:prstGeom>
          <a:solidFill>
            <a:srgbClr val="00C2FF">
              <a:alpha val="40000"/>
            </a:srgbClr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874520"/>
            <a:ext cx="457200" cy="457200"/>
          </a:xfrm>
          <a:prstGeom prst="rect">
            <a:avLst/>
          </a:prstGeom>
          <a:solidFill>
            <a:srgbClr val="00C2FF"/>
          </a:solidFill>
          <a:ln>
            <a:solidFill>
              <a:srgbClr val="00C2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324"/>
                </a:solidFill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0" y="2468880"/>
            <a:ext cx="11887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B7C8D9"/>
                </a:solidFill>
              </a:rPr>
              <a:t>célportok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577840" y="1993392"/>
            <a:ext cx="914400" cy="256032"/>
          </a:xfrm>
          <a:prstGeom prst="chevron">
            <a:avLst/>
          </a:prstGeom>
          <a:solidFill>
            <a:srgbClr val="00C2FF">
              <a:alpha val="40000"/>
            </a:srgbClr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1874520"/>
            <a:ext cx="457200" cy="457200"/>
          </a:xfrm>
          <a:prstGeom prst="rect">
            <a:avLst/>
          </a:prstGeom>
          <a:solidFill>
            <a:srgbClr val="00C2FF"/>
          </a:solidFill>
          <a:ln>
            <a:solidFill>
              <a:srgbClr val="00C2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324"/>
                </a:solidFill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83680" y="2468880"/>
            <a:ext cx="11887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B7C8D9"/>
                </a:solidFill>
              </a:rPr>
              <a:t>verzió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89520" y="1993392"/>
            <a:ext cx="914400" cy="256032"/>
          </a:xfrm>
          <a:prstGeom prst="chevron">
            <a:avLst/>
          </a:prstGeom>
          <a:solidFill>
            <a:srgbClr val="00C2FF">
              <a:alpha val="40000"/>
            </a:srgbClr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0" y="1874520"/>
            <a:ext cx="457200" cy="457200"/>
          </a:xfrm>
          <a:prstGeom prst="rect">
            <a:avLst/>
          </a:prstGeom>
          <a:solidFill>
            <a:srgbClr val="00C2FF"/>
          </a:solidFill>
          <a:ln>
            <a:solidFill>
              <a:srgbClr val="00C2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324"/>
                </a:solidFill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95360" y="2468880"/>
            <a:ext cx="11887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B7C8D9"/>
                </a:solidFill>
              </a:rPr>
              <a:t>mentés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3794760"/>
            <a:ext cx="9784080" cy="1170432"/>
          </a:xfrm>
          <a:prstGeom prst="rect">
            <a:avLst/>
          </a:prstGeom>
          <a:solidFill>
            <a:srgbClr val="02111F">
              <a:alpha val="96000"/>
            </a:srgbClr>
          </a:solidFill>
          <a:ln>
            <a:solidFill>
              <a:srgbClr val="00C2FF">
                <a:alpha val="7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FFFE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nmap -sn 192.168.56.0/24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FFFE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nmap --top-ports 20 &lt;IP&gt;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FFFE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nmap -sV --version-light -p 22,80 &lt;IP&gt;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FFFE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nmap -oA reports/target01 &lt;IP&gt;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C2FF">
              <a:alpha val="90000"/>
            </a:srgbClr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94A8"/>
                </a:solidFill>
              </a:rPr>
              <a:t>05. modul | Felderítés Kali Linux alatt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24712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94A8"/>
                </a:solidFill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dule05_improved_assets/img4_dark.jpg">    </p:cNvPr>
          <p:cNvPicPr>
            <a:picLocks noChangeAspect="1"/>
          </p:cNvPicPr>
          <p:nvPr/>
        </p:nvPicPr>
        <p:blipFill>
          <a:blip r:embed="rId1"/>
          <a:srcRect l="5000" r="-4997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Port ≠ szolgáltatás ≠ kockázat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2920" y="822960"/>
            <a:ext cx="502920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94183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7C8D9"/>
                </a:solidFill>
              </a:rPr>
              <a:t>A felderítés értelmezés nélkül csak számhalmaz.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77240" y="1508760"/>
            <a:ext cx="2377440" cy="1828800"/>
          </a:xfrm>
          <a:prstGeom prst="rect">
            <a:avLst/>
          </a:prstGeom>
          <a:solidFill>
            <a:srgbClr val="071324">
              <a:alpha val="92000"/>
            </a:srgbClr>
          </a:solidFill>
          <a:ln>
            <a:solidFill>
              <a:srgbClr val="00C2FF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6FBFF"/>
                </a:solidFill>
              </a:rPr>
              <a:t>22/tcp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6FBFF"/>
                </a:solidFill>
              </a:rPr>
              <a:t>open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6FBFF"/>
                </a:solidFill>
              </a:rPr>
              <a:t>ssh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6FBFF"/>
                </a:solidFill>
              </a:rPr>
              <a:t>Távoli adminisztráció nyoma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429000" y="1508760"/>
            <a:ext cx="2377440" cy="1828800"/>
          </a:xfrm>
          <a:prstGeom prst="rect">
            <a:avLst/>
          </a:prstGeom>
          <a:solidFill>
            <a:srgbClr val="071324">
              <a:alpha val="92000"/>
            </a:srgbClr>
          </a:solidFill>
          <a:ln>
            <a:solidFill>
              <a:srgbClr val="00C2FF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6FBFF"/>
                </a:solidFill>
              </a:rPr>
              <a:t>80/tcp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6FBFF"/>
                </a:solidFill>
              </a:rPr>
              <a:t>open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6FBFF"/>
                </a:solidFill>
              </a:rPr>
              <a:t>http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6FBFF"/>
                </a:solidFill>
              </a:rPr>
              <a:t>Webes támadási felület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080760" y="1508760"/>
            <a:ext cx="2377440" cy="1828800"/>
          </a:xfrm>
          <a:prstGeom prst="rect">
            <a:avLst/>
          </a:prstGeom>
          <a:solidFill>
            <a:srgbClr val="071324">
              <a:alpha val="92000"/>
            </a:srgbClr>
          </a:solidFill>
          <a:ln>
            <a:solidFill>
              <a:srgbClr val="00C2FF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6FBFF"/>
                </a:solidFill>
              </a:rPr>
              <a:t>445/tcp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6FBFF"/>
                </a:solidFill>
              </a:rPr>
              <a:t>open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6FBFF"/>
                </a:solidFill>
              </a:rPr>
              <a:t>microsoft-ds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6FBFF"/>
                </a:solidFill>
              </a:rPr>
              <a:t>Fájlmegosztási felület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057400" y="4892040"/>
            <a:ext cx="80467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6FBFF"/>
                </a:solidFill>
              </a:rPr>
              <a:t>Következő kérdés: miért kell ennek látszania?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C2FF">
              <a:alpha val="90000"/>
            </a:srgbClr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54710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94A8"/>
                </a:solidFill>
              </a:rPr>
              <a:t>05. modul | Felderítés Kali Linux alatt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124712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94A8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Egyszerű, látványos Kali eszközök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502920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4183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7C8D9"/>
                </a:solidFill>
              </a:rPr>
              <a:t>Ezek jól mutathatók projektoron is.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1920240" cy="329184"/>
          </a:xfrm>
          <a:prstGeom prst="rect">
            <a:avLst/>
          </a:prstGeom>
          <a:solidFill>
            <a:srgbClr val="00C2FF">
              <a:alpha val="95000"/>
            </a:srgbClr>
          </a:solidFill>
          <a:ln>
            <a:solidFill>
              <a:srgbClr val="00C2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BFF"/>
                </a:solidFill>
              </a:rPr>
              <a:t>arp-scan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71800" y="1444752"/>
            <a:ext cx="28346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B7C8D9"/>
                </a:solidFill>
              </a:rPr>
              <a:t>élő eszközök listája helyi hálózaton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09360" y="1417320"/>
            <a:ext cx="1920240" cy="329184"/>
          </a:xfrm>
          <a:prstGeom prst="rect">
            <a:avLst/>
          </a:prstGeom>
          <a:solidFill>
            <a:srgbClr val="00C2FF">
              <a:alpha val="95000"/>
            </a:srgbClr>
          </a:solidFill>
          <a:ln>
            <a:solidFill>
              <a:srgbClr val="00C2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BFF"/>
                </a:solidFill>
              </a:rPr>
              <a:t>netdiscover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58200" y="1444752"/>
            <a:ext cx="28346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B7C8D9"/>
                </a:solidFill>
              </a:rPr>
              <a:t>gyors hálózatfelderítés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1920240" cy="329184"/>
          </a:xfrm>
          <a:prstGeom prst="rect">
            <a:avLst/>
          </a:prstGeom>
          <a:solidFill>
            <a:srgbClr val="00E0B8">
              <a:alpha val="95000"/>
            </a:srgbClr>
          </a:solidFill>
          <a:ln>
            <a:solidFill>
              <a:srgbClr val="00E0B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BFF"/>
                </a:solidFill>
              </a:rPr>
              <a:t>whatweb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71800" y="2862072"/>
            <a:ext cx="28346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B7C8D9"/>
                </a:solidFill>
              </a:rPr>
              <a:t>webtechnológiai ujjlenyomat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09360" y="2834640"/>
            <a:ext cx="1920240" cy="329184"/>
          </a:xfrm>
          <a:prstGeom prst="rect">
            <a:avLst/>
          </a:prstGeom>
          <a:solidFill>
            <a:srgbClr val="00E0B8">
              <a:alpha val="95000"/>
            </a:srgbClr>
          </a:solidFill>
          <a:ln>
            <a:solidFill>
              <a:srgbClr val="00E0B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BFF"/>
                </a:solidFill>
              </a:rPr>
              <a:t>xsltproc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58200" y="2862072"/>
            <a:ext cx="28346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B7C8D9"/>
                </a:solidFill>
              </a:rPr>
              <a:t>nmap XML → HTML riport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45920" y="4754880"/>
            <a:ext cx="8778240" cy="868680"/>
          </a:xfrm>
          <a:prstGeom prst="rect">
            <a:avLst/>
          </a:prstGeom>
          <a:solidFill>
            <a:srgbClr val="02111F">
              <a:alpha val="96000"/>
            </a:srgbClr>
          </a:solidFill>
          <a:ln>
            <a:solidFill>
              <a:srgbClr val="00C2FF">
                <a:alpha val="7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FFFE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sudo arp-scan --localnet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FFE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whatweb http://&lt;IP&gt;/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FFE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xsltproc /usr/share/nmap/nmap.xsl scan.xml &gt; scan.html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C2FF">
              <a:alpha val="90000"/>
            </a:srgbClr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54710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94A8"/>
                </a:solidFill>
              </a:rPr>
              <a:t>05. modul | Felderítés Kali Linux alatt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24712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94A8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dule05_improved_assets/img2_dark.jpg">    </p:cNvPr>
          <p:cNvPicPr>
            <a:picLocks noChangeAspect="1"/>
          </p:cNvPicPr>
          <p:nvPr/>
        </p:nvPicPr>
        <p:blipFill>
          <a:blip r:embed="rId1"/>
          <a:srcRect l="0" r="3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Laborgyakorlat 1: saját Kali + scope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2920" y="822960"/>
            <a:ext cx="502920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94183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7C8D9"/>
                </a:solidFill>
              </a:rPr>
              <a:t>Cél: szabályosan elkezdeni a munkát és létrehozni a mappastruktúrát.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13232" y="1554480"/>
            <a:ext cx="5989320" cy="1417320"/>
          </a:xfrm>
          <a:prstGeom prst="rect">
            <a:avLst/>
          </a:prstGeom>
          <a:solidFill>
            <a:srgbClr val="02111F">
              <a:alpha val="96000"/>
            </a:srgbClr>
          </a:solidFill>
          <a:ln>
            <a:solidFill>
              <a:srgbClr val="00C2FF">
                <a:alpha val="7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FFFE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mkdir -p ~/recon-lab/{notes,reports,screenshots}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FFE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ip -br a | tee ~/recon-lab/notes/interfaces.txt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FFE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ip route | tee ~/recon-lab/notes/routes.txt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040880" y="1554480"/>
            <a:ext cx="434340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6FBFF"/>
                </a:solidFill>
              </a:rPr>
              <a:t>írd fel a célhálózatot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6FBFF"/>
                </a:solidFill>
              </a:rPr>
              <a:t>készíts saját topológia-vázlatot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6FBFF"/>
                </a:solidFill>
              </a:rPr>
              <a:t>ne indíts scan-t, amíg nincs scope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6FBFF"/>
                </a:solidFill>
              </a:rPr>
              <a:t>a jegyzetet mentsd a recon-lab mappába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383280" y="5257800"/>
            <a:ext cx="4846320" cy="329184"/>
          </a:xfrm>
          <a:prstGeom prst="rect">
            <a:avLst/>
          </a:prstGeom>
          <a:solidFill>
            <a:srgbClr val="00C2FF">
              <a:alpha val="95000"/>
            </a:srgbClr>
          </a:solidFill>
          <a:ln>
            <a:solidFill>
              <a:srgbClr val="00C2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FBFF"/>
                </a:solidFill>
              </a:rPr>
              <a:t>Leadandó: scope + saját hálózati helyzet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C2FF">
              <a:alpha val="90000"/>
            </a:srgbClr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654710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94A8"/>
                </a:solidFill>
              </a:rPr>
              <a:t>05. modul | Felderítés Kali Linux alatt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4712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94A8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dule05_improved_assets/img2_dark.jpg">    </p:cNvPr>
          <p:cNvPicPr>
            <a:picLocks noChangeAspect="1"/>
          </p:cNvPicPr>
          <p:nvPr/>
        </p:nvPicPr>
        <p:blipFill>
          <a:blip r:embed="rId1"/>
          <a:srcRect l="0" r="3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Laborgyakorlat 2: élő gépek keresése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2920" y="822960"/>
            <a:ext cx="502920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94183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7C8D9"/>
                </a:solidFill>
              </a:rPr>
              <a:t>A cél nem a gyorsaság, hanem a pontos leltár.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85800" y="1463040"/>
            <a:ext cx="6583680" cy="1600200"/>
          </a:xfrm>
          <a:prstGeom prst="rect">
            <a:avLst/>
          </a:prstGeom>
          <a:solidFill>
            <a:srgbClr val="02111F">
              <a:alpha val="96000"/>
            </a:srgbClr>
          </a:solidFill>
          <a:ln>
            <a:solidFill>
              <a:srgbClr val="00C2FF">
                <a:alpha val="7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FFFE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sudo arp-scan --localnet | tee reports/arp.txt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FFE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sudo netdiscover -i eth0 -r &lt;HALOZAT&gt;/24 -P | tee reports/netdiscover.txt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FFE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nmap -sn &lt;HALOZAT&gt;/24 -oA reports/hosts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635240" y="1572768"/>
            <a:ext cx="31089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6FBFF"/>
                </a:solidFill>
              </a:rPr>
              <a:t>Összehasonlítás: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699248" y="2057400"/>
            <a:ext cx="352044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6FBFF"/>
                </a:solidFill>
              </a:rPr>
              <a:t>melyik eszköz mit talált?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6FBFF"/>
                </a:solidFill>
              </a:rPr>
              <a:t>van eltérés?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6FBFF"/>
                </a:solidFill>
              </a:rPr>
              <a:t>MAC alapján mi lehet az eszköz?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6FBFF"/>
                </a:solidFill>
              </a:rPr>
              <a:t>mi lehet téves pozitív?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337560" y="5257800"/>
            <a:ext cx="5120640" cy="329184"/>
          </a:xfrm>
          <a:prstGeom prst="rect">
            <a:avLst/>
          </a:prstGeom>
          <a:solidFill>
            <a:srgbClr val="00E0B8">
              <a:alpha val="95000"/>
            </a:srgbClr>
          </a:solidFill>
          <a:ln>
            <a:solidFill>
              <a:srgbClr val="00E0B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FBFF"/>
                </a:solidFill>
              </a:rPr>
              <a:t>Leadandó: IP / MAC / gyártó / megjegyzés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C2FF">
              <a:alpha val="90000"/>
            </a:srgbClr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54710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94A8"/>
                </a:solidFill>
              </a:rPr>
              <a:t>05. modul | Felderítés Kali Linux alatt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124712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94A8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dule05_improved_assets/img1_dark.jpg">    </p:cNvPr>
          <p:cNvPicPr>
            <a:picLocks noChangeAspect="1"/>
          </p:cNvPicPr>
          <p:nvPr/>
        </p:nvPicPr>
        <p:blipFill>
          <a:blip r:embed="rId1"/>
          <a:srcRect l="10000" r="-9997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Laborgyakorlat 3: szolgáltatásfelderítés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2920" y="822960"/>
            <a:ext cx="502920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94183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7C8D9"/>
                </a:solidFill>
              </a:rPr>
              <a:t>Csak a megtalált gépeken, csak indokolt mélységben.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85800" y="1508760"/>
            <a:ext cx="6126480" cy="1261872"/>
          </a:xfrm>
          <a:prstGeom prst="rect">
            <a:avLst/>
          </a:prstGeom>
          <a:solidFill>
            <a:srgbClr val="02111F">
              <a:alpha val="96000"/>
            </a:srgbClr>
          </a:solidFill>
          <a:ln>
            <a:solidFill>
              <a:srgbClr val="00C2FF">
                <a:alpha val="7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FFFE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nmap --top-ports 30 &lt;IP&gt; -oA reports/top30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FFE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nmap -sV --version-light -p &lt;PORTOK&gt; &lt;IP&gt; -oA reports/services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0" y="1463040"/>
            <a:ext cx="4114800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6FBFF"/>
                </a:solidFill>
              </a:rPr>
              <a:t>milyen portok vannak nyitva?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6FBFF"/>
                </a:solidFill>
              </a:rPr>
              <a:t>mi a szolgáltatás neve?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6FBFF"/>
                </a:solidFill>
              </a:rPr>
              <a:t>mennyire biztos a verzió?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6FBFF"/>
                </a:solidFill>
              </a:rPr>
              <a:t>van-e olyan, ami nem kellene hogy látszódjon?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88720" y="5074920"/>
            <a:ext cx="9738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BFF"/>
                </a:solidFill>
              </a:rPr>
              <a:t>Tanári fókusz: ne „mindent scannelünk”, hanem mérünk → értelmezünk → következtetünk.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C2FF">
              <a:alpha val="90000"/>
            </a:srgbClr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654710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94A8"/>
                </a:solidFill>
              </a:rPr>
              <a:t>05. modul | Felderítés Kali Linux alatt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4712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94A8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dule05_improved_assets/img7_dark.jpg">    </p:cNvPr>
          <p:cNvPicPr>
            <a:picLocks noChangeAspect="1"/>
          </p:cNvPicPr>
          <p:nvPr/>
        </p:nvPicPr>
        <p:blipFill>
          <a:blip r:embed="rId1"/>
          <a:srcRect l="5000" r="-4997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DNS és webes nyomok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2920" y="822960"/>
            <a:ext cx="502920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94183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7C8D9"/>
                </a:solidFill>
              </a:rPr>
              <a:t>Ez már előkészíti a későbbi webbiztonsági modult.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49808" y="1508760"/>
            <a:ext cx="5212080" cy="1783080"/>
          </a:xfrm>
          <a:prstGeom prst="rect">
            <a:avLst/>
          </a:prstGeom>
          <a:solidFill>
            <a:srgbClr val="02111F">
              <a:alpha val="96000"/>
            </a:srgbClr>
          </a:solidFill>
          <a:ln>
            <a:solidFill>
              <a:srgbClr val="00C2FF">
                <a:alpha val="7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FFFE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dig academy.lab 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FFFE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dig -x &lt;IP&gt;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FFFE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curl -I http://&lt;IP&gt;/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FFFE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curl http://&lt;IP&gt;/robots.txt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FFFE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whatweb http://&lt;IP&gt;/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37960" y="1508760"/>
            <a:ext cx="438912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6FBFF"/>
                </a:solidFill>
              </a:rPr>
              <a:t>HTTP fejlécek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6FBFF"/>
                </a:solidFill>
              </a:rPr>
              <a:t>robots.txt / sitemap.xml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6FBFF"/>
                </a:solidFill>
              </a:rPr>
              <a:t>technológiai nyomok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6FBFF"/>
                </a:solidFill>
              </a:rPr>
              <a:t>belső nevek / reverse DNS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6FBFF"/>
                </a:solidFill>
              </a:rPr>
              <a:t>verziók óvatos értelmezése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749040" y="5212080"/>
            <a:ext cx="4663440" cy="329184"/>
          </a:xfrm>
          <a:prstGeom prst="rect">
            <a:avLst/>
          </a:prstGeom>
          <a:solidFill>
            <a:srgbClr val="00C2FF">
              <a:alpha val="95000"/>
            </a:srgbClr>
          </a:solidFill>
          <a:ln>
            <a:solidFill>
              <a:srgbClr val="00C2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FBFF"/>
                </a:solidFill>
              </a:rPr>
              <a:t>whatweb: egyszerű és látványos demonstráció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C2FF">
              <a:alpha val="90000"/>
            </a:srgbClr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654710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94A8"/>
                </a:solidFill>
              </a:rPr>
              <a:t>05. modul | Felderítés Kali Linux alatt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4712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94A8"/>
                </a:solidFill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Bizonyíték = újraellenőrizhető eredmény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502920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4183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7C8D9"/>
                </a:solidFill>
              </a:rPr>
              <a:t>A jó riportban nem csak állítás van, hanem bizonyíték is.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384048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6FBFF"/>
                </a:solidFill>
              </a:rPr>
              <a:t>dátum és idő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6FBFF"/>
                </a:solidFill>
              </a:rPr>
              <a:t>célhálózat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6FBFF"/>
                </a:solidFill>
              </a:rPr>
              <a:t>használt parancs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6FBFF"/>
                </a:solidFill>
              </a:rPr>
              <a:t>mentett kimenet neve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6FBFF"/>
                </a:solidFill>
              </a:rPr>
              <a:t>rövid értelmezés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6FBFF"/>
                </a:solidFill>
              </a:rPr>
              <a:t>következő javasolt vizsgálat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0" y="1554480"/>
            <a:ext cx="5440680" cy="1143000"/>
          </a:xfrm>
          <a:prstGeom prst="rect">
            <a:avLst/>
          </a:prstGeom>
          <a:solidFill>
            <a:srgbClr val="02111F">
              <a:alpha val="96000"/>
            </a:srgbClr>
          </a:solidFill>
          <a:ln>
            <a:solidFill>
              <a:srgbClr val="00C2FF">
                <a:alpha val="75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FFFE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nmap -sV --top-ports 50 -oA reports/lab-scan &lt;IP&gt;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FFE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date &gt;&gt; notes/timeline.txt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FFE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cp reports/lab-scan.nmap evidence/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0" y="489204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C2FF"/>
                </a:solidFill>
              </a:rPr>
              <a:t>ADAT → ÉRTELMEZÉS → JELENTÉS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C2FF">
              <a:alpha val="90000"/>
            </a:srgbClr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4710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94A8"/>
                </a:solidFill>
              </a:rPr>
              <a:t>05. modul | Felderítés Kali Linux alatt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24712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94A8"/>
                </a:solidFill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dule05_improved_assets/img6_dark.jpg">    </p:cNvPr>
          <p:cNvPicPr>
            <a:picLocks noChangeAspect="1"/>
          </p:cNvPicPr>
          <p:nvPr/>
        </p:nvPicPr>
        <p:blipFill>
          <a:blip r:embed="rId1"/>
          <a:srcRect l="0" r="3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CTF: 5 flag felderítéssel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2920" y="822960"/>
            <a:ext cx="502920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94183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7C8D9"/>
                </a:solidFill>
              </a:rPr>
              <a:t>Nem exploit, nem támadás — csak figyelmes információgyűjtés.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14173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5CFFB2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FLAG{...}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868680" y="2331720"/>
            <a:ext cx="3383280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6FBFF"/>
                </a:solidFill>
              </a:rPr>
              <a:t>robots.txt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6FBFF"/>
                </a:solidFill>
              </a:rPr>
              <a:t>HTML forrás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6FBFF"/>
                </a:solidFill>
              </a:rPr>
              <a:t>HTTP header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6FBFF"/>
                </a:solidFill>
              </a:rPr>
              <a:t>sitemap.xml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6FBFF"/>
                </a:solidFill>
              </a:rPr>
              <a:t>WhatWeb nyom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800600" y="1691640"/>
            <a:ext cx="589788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FBFF"/>
                </a:solidFill>
              </a:rPr>
              <a:t>A flagek megtalálásához nem kell jelszót törni és nem kell exploitot futtatni. Csak fegyelmezett felderítés kell.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669280" y="4389120"/>
            <a:ext cx="2468880" cy="329184"/>
          </a:xfrm>
          <a:prstGeom prst="rect">
            <a:avLst/>
          </a:prstGeom>
          <a:solidFill>
            <a:srgbClr val="00E0B8">
              <a:alpha val="95000"/>
            </a:srgbClr>
          </a:solidFill>
          <a:ln>
            <a:solidFill>
              <a:srgbClr val="00E0B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FBFF"/>
                </a:solidFill>
              </a:rPr>
              <a:t>játékos, de szakmai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C2FF">
              <a:alpha val="90000"/>
            </a:srgbClr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54710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94A8"/>
                </a:solidFill>
              </a:rPr>
              <a:t>05. modul | Felderítés Kali Linux alatt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124712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94A8"/>
                </a:solidFill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Csoportmunka: felderítési döntések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502920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4183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7C8D9"/>
                </a:solidFill>
              </a:rPr>
              <a:t>Minden csapat más célgépet kap, de ugyanazt a módszert követi.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1920240"/>
            <a:ext cx="457200" cy="457200"/>
          </a:xfrm>
          <a:prstGeom prst="rect">
            <a:avLst/>
          </a:prstGeom>
          <a:solidFill>
            <a:srgbClr val="00C2FF"/>
          </a:solidFill>
          <a:ln>
            <a:solidFill>
              <a:srgbClr val="00C2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324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76656" y="2487168"/>
            <a:ext cx="11430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B7C8D9"/>
                </a:solidFill>
              </a:rPr>
              <a:t>scope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08960" y="1920240"/>
            <a:ext cx="457200" cy="457200"/>
          </a:xfrm>
          <a:prstGeom prst="rect">
            <a:avLst/>
          </a:prstGeom>
          <a:solidFill>
            <a:srgbClr val="00C2FF"/>
          </a:solidFill>
          <a:ln>
            <a:solidFill>
              <a:srgbClr val="00C2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324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79776" y="2487168"/>
            <a:ext cx="11430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B7C8D9"/>
                </a:solidFill>
              </a:rPr>
              <a:t>hostok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12080" y="1920240"/>
            <a:ext cx="457200" cy="457200"/>
          </a:xfrm>
          <a:prstGeom prst="rect">
            <a:avLst/>
          </a:prstGeom>
          <a:solidFill>
            <a:srgbClr val="00C2FF"/>
          </a:solidFill>
          <a:ln>
            <a:solidFill>
              <a:srgbClr val="00C2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324"/>
                </a:solidFill>
              </a:rPr>
              <a:t>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882896" y="2487168"/>
            <a:ext cx="11430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B7C8D9"/>
                </a:solidFill>
              </a:rPr>
              <a:t>portok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0" y="1920240"/>
            <a:ext cx="457200" cy="457200"/>
          </a:xfrm>
          <a:prstGeom prst="rect">
            <a:avLst/>
          </a:prstGeom>
          <a:solidFill>
            <a:srgbClr val="00C2FF"/>
          </a:solidFill>
          <a:ln>
            <a:solidFill>
              <a:srgbClr val="00C2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324"/>
                </a:solidFill>
              </a:rPr>
              <a:t>4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986016" y="2487168"/>
            <a:ext cx="11430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B7C8D9"/>
                </a:solidFill>
              </a:rPr>
              <a:t>web/DNS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418320" y="1920240"/>
            <a:ext cx="457200" cy="457200"/>
          </a:xfrm>
          <a:prstGeom prst="rect">
            <a:avLst/>
          </a:prstGeom>
          <a:solidFill>
            <a:srgbClr val="00C2FF"/>
          </a:solidFill>
          <a:ln>
            <a:solidFill>
              <a:srgbClr val="00C2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324"/>
                </a:solidFill>
              </a:rPr>
              <a:t>5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089136" y="2487168"/>
            <a:ext cx="11430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B7C8D9"/>
                </a:solidFill>
              </a:rPr>
              <a:t>riport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4389120"/>
            <a:ext cx="96012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6FBFF"/>
                </a:solidFill>
              </a:rPr>
              <a:t>Végén 2 perces csapatbeszámoló: „mit találtunk, miből következtettünk, mit javaslunk?”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C2FF">
              <a:alpha val="90000"/>
            </a:srgbClr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54710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94A8"/>
                </a:solidFill>
              </a:rPr>
              <a:t>05. modul | Felderítés Kali Linux alatt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24712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94A8"/>
                </a:solidFill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dule05_improved_assets/img4_dark.jpg">    </p:cNvPr>
          <p:cNvPicPr>
            <a:picLocks noChangeAspect="1"/>
          </p:cNvPicPr>
          <p:nvPr/>
        </p:nvPicPr>
        <p:blipFill>
          <a:blip r:embed="rId1"/>
          <a:srcRect l="2000" r="-1997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Tipikus kezdő hibák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2920" y="822960"/>
            <a:ext cx="502920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94183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7C8D9"/>
                </a:solidFill>
              </a:rPr>
              <a:t>Ezekre érdemes órán külön rákérdezni.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13232" y="1463040"/>
            <a:ext cx="4663440" cy="2423160"/>
          </a:xfrm>
          <a:prstGeom prst="rect">
            <a:avLst/>
          </a:prstGeom>
          <a:solidFill>
            <a:srgbClr val="210A12">
              <a:alpha val="97000"/>
            </a:srgbClr>
          </a:solidFill>
          <a:ln>
            <a:solidFill>
              <a:srgbClr val="FF5C5C">
                <a:alpha val="85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5C5C"/>
                </a:solidFill>
              </a:rPr>
              <a:t>HIBA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5C5C"/>
                </a:solidFill>
              </a:rPr>
              <a:t>• scope nélkül scan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5C5C"/>
                </a:solidFill>
              </a:rPr>
              <a:t>• teljes /16 tartomány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5C5C"/>
                </a:solidFill>
              </a:rPr>
              <a:t>• túl sok kapcsoló egyszerre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5C5C"/>
                </a:solidFill>
              </a:rPr>
              <a:t>• nincs mentett kimenet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5C5C"/>
                </a:solidFill>
              </a:rPr>
              <a:t>• eredmény = másolt terminál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720840" y="1463040"/>
            <a:ext cx="4663440" cy="2423160"/>
          </a:xfrm>
          <a:prstGeom prst="rect">
            <a:avLst/>
          </a:prstGeom>
          <a:solidFill>
            <a:srgbClr val="062119">
              <a:alpha val="97000"/>
            </a:srgbClr>
          </a:solidFill>
          <a:ln>
            <a:solidFill>
              <a:srgbClr val="5CFFB2">
                <a:alpha val="85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5CFFB2"/>
                </a:solidFill>
              </a:rPr>
              <a:t>JÓ GYAKORLAT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5CFFB2"/>
                </a:solidFill>
              </a:rPr>
              <a:t>• pontos engedély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5CFFB2"/>
                </a:solidFill>
              </a:rPr>
              <a:t>• kicsi célterület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5CFFB2"/>
                </a:solidFill>
              </a:rPr>
              <a:t>• lépcsőzetes vizsgálat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5CFFB2"/>
                </a:solidFill>
              </a:rPr>
              <a:t>• -oA / jegyzet / screenshot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5CFFB2"/>
                </a:solidFill>
              </a:rPr>
              <a:t>• következtetés és javaslat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C2FF">
              <a:alpha val="90000"/>
            </a:srgbClr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54710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94A8"/>
                </a:solidFill>
              </a:rPr>
              <a:t>05. modul | Felderítés Kali Linux alatt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24712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94A8"/>
                </a:solidFill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Értékelés: nem a legtöbb parancs nyer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502920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4183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7C8D9"/>
                </a:solidFill>
              </a:rPr>
              <a:t>Az értékelés a módszert és a gondolkodást méri.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0" y="1508760"/>
            <a:ext cx="3246120" cy="1828800"/>
          </a:xfrm>
          <a:prstGeom prst="rect">
            <a:avLst/>
          </a:prstGeom>
          <a:solidFill>
            <a:srgbClr val="0A1B2D"/>
          </a:solidFill>
          <a:ln>
            <a:solidFill>
              <a:srgbClr val="00C2FF">
                <a:alpha val="90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0C2FF"/>
                </a:solidFill>
              </a:rPr>
              <a:t>Pontozás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0C2FF"/>
                </a:solidFill>
              </a:rPr>
              <a:t>20% scope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0C2FF"/>
                </a:solidFill>
              </a:rPr>
              <a:t>20% host lista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0C2FF"/>
                </a:solidFill>
              </a:rPr>
              <a:t>25% port + szolgáltatás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0C2FF"/>
                </a:solidFill>
              </a:rPr>
              <a:t>15% web/DNS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0C2FF"/>
                </a:solidFill>
              </a:rPr>
              <a:t>20% jelentés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1463040"/>
            <a:ext cx="4480560" cy="214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6FBFF"/>
                </a:solidFill>
              </a:rPr>
              <a:t>scope betartása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6FBFF"/>
                </a:solidFill>
              </a:rPr>
              <a:t>hosztlista pontossága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6FBFF"/>
                </a:solidFill>
              </a:rPr>
              <a:t>nmap kimenetek mentése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6FBFF"/>
                </a:solidFill>
              </a:rPr>
              <a:t>web/DNS nyomok értelmezése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6FBFF"/>
                </a:solidFill>
              </a:rPr>
              <a:t>rövid jelentés minősége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011680" y="5074920"/>
            <a:ext cx="80467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6FBFF"/>
                </a:solidFill>
              </a:rPr>
              <a:t>A lényeg: kevesebb parancs, több jó következtetés.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C2FF">
              <a:alpha val="90000"/>
            </a:srgbClr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4710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94A8"/>
                </a:solidFill>
              </a:rPr>
              <a:t>05. modul | Felderítés Kali Linux alatt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24712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94A8"/>
                </a:solidFill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dule05_improved_assets/img3_dark.jpg">    </p:cNvPr>
          <p:cNvPicPr>
            <a:picLocks noChangeAspect="1"/>
          </p:cNvPicPr>
          <p:nvPr/>
        </p:nvPicPr>
        <p:blipFill>
          <a:blip r:embed="rId1"/>
          <a:srcRect l="0" r="3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Összefoglalás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2920" y="822960"/>
            <a:ext cx="502920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94183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7C8D9"/>
                </a:solidFill>
              </a:rPr>
              <a:t>Felderítés = engedélyezett térképezés + bizonyíték + értelmezés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60120" y="2011680"/>
            <a:ext cx="1097280" cy="320040"/>
          </a:xfrm>
          <a:prstGeom prst="rect">
            <a:avLst/>
          </a:prstGeom>
          <a:solidFill>
            <a:srgbClr val="00C2FF">
              <a:alpha val="90000"/>
            </a:srgbClr>
          </a:solidFill>
          <a:ln>
            <a:solidFill>
              <a:srgbClr val="00C2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BFF"/>
                </a:solidFill>
              </a:rPr>
              <a:t>scope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743200" y="2011680"/>
            <a:ext cx="1143000" cy="320040"/>
          </a:xfrm>
          <a:prstGeom prst="rect">
            <a:avLst/>
          </a:prstGeom>
          <a:solidFill>
            <a:srgbClr val="00C2FF">
              <a:alpha val="90000"/>
            </a:srgbClr>
          </a:solidFill>
          <a:ln>
            <a:solidFill>
              <a:srgbClr val="00C2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BFF"/>
                </a:solidFill>
              </a:rPr>
              <a:t>hostok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0" y="2011680"/>
            <a:ext cx="1143000" cy="320040"/>
          </a:xfrm>
          <a:prstGeom prst="rect">
            <a:avLst/>
          </a:prstGeom>
          <a:solidFill>
            <a:srgbClr val="00C2FF">
              <a:alpha val="90000"/>
            </a:srgbClr>
          </a:solidFill>
          <a:ln>
            <a:solidFill>
              <a:srgbClr val="00C2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BFF"/>
                </a:solidFill>
              </a:rPr>
              <a:t>portok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0" y="2011680"/>
            <a:ext cx="1325880" cy="320040"/>
          </a:xfrm>
          <a:prstGeom prst="rect">
            <a:avLst/>
          </a:prstGeom>
          <a:solidFill>
            <a:srgbClr val="00C2FF">
              <a:alpha val="90000"/>
            </a:srgbClr>
          </a:solidFill>
          <a:ln>
            <a:solidFill>
              <a:srgbClr val="00C2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BFF"/>
                </a:solidFill>
              </a:rPr>
              <a:t>web/DNS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549640" y="2011680"/>
            <a:ext cx="1143000" cy="320040"/>
          </a:xfrm>
          <a:prstGeom prst="rect">
            <a:avLst/>
          </a:prstGeom>
          <a:solidFill>
            <a:srgbClr val="00C2FF">
              <a:alpha val="90000"/>
            </a:srgbClr>
          </a:solidFill>
          <a:ln>
            <a:solidFill>
              <a:srgbClr val="00C2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BFF"/>
                </a:solidFill>
              </a:rPr>
              <a:t>riport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874520" y="4983480"/>
            <a:ext cx="85953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FBFF"/>
                </a:solidFill>
              </a:rPr>
              <a:t>Következő modul: sebezhetőségkeresés — hogyan döntjük el, hogy egy nyom valódi kockázat-e?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C2FF">
              <a:alpha val="90000"/>
            </a:srgbClr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654710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94A8"/>
                </a:solidFill>
              </a:rPr>
              <a:t>05. modul | Felderítés Kali Linux alatt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124712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94A8"/>
                </a:solidFill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Oktatási célú tananyag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05. modul – Felderítés Kali Linux alatt</dc:title>
  <dc:subject>05. modul – Felderítés Kali Linux alatt</dc:subject>
  <dc:creator>Etikus hackelés tananyag</dc:creator>
  <cp:lastModifiedBy>Etikus hackelés tananyag</cp:lastModifiedBy>
  <cp:revision>1</cp:revision>
  <dcterms:created xsi:type="dcterms:W3CDTF">2026-08-04T13:57:52Z</dcterms:created>
  <dcterms:modified xsi:type="dcterms:W3CDTF">2026-08-04T13:57:52Z</dcterms:modified>
</cp:coreProperties>
</file>