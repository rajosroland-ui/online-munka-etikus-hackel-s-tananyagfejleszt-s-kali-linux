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4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669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5E2"/>
                </a:solidFill>
              </a:defRPr>
            </a:pPr>
            <a:r>
              <a:t>10. MODUL</a:t>
            </a:r>
          </a:p>
          <a:p>
            <a:pPr>
              <a:defRPr sz="3400" b="1">
                <a:solidFill>
                  <a:srgbClr val="F5F8FC"/>
                </a:solidFill>
              </a:defRPr>
            </a:pPr>
            <a:r>
              <a:t>Metasploit és</a:t>
            </a:r>
            <a:br/>
            <a:r>
              <a:t>kontrollált exploitáció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9BBCC"/>
                </a:solidFill>
              </a:defRPr>
            </a:pPr>
            <a:r>
              <a:t>Zárt labor • bizonyíték • cleanup • javítás • retest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Hol tartunk a tananyagban?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BCC"/>
                </a:solidFill>
                <a:latin typeface="Aptos"/>
              </a:defRPr>
            </a:pPr>
            <a:r>
              <a:t>A felderítés és sebezhetőség-azonosítás után most a kontrollált validálás következik.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06040" cy="34747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7393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01–05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220370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Alapok, Kali, hálózat és felderítés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645920"/>
            <a:ext cx="2606040" cy="34747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77393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06–09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194560"/>
            <a:ext cx="220370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Sebezhetőség, web, hitelesítés, forgalomelemzés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645920"/>
            <a:ext cx="2606040" cy="34747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77393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194560"/>
            <a:ext cx="220370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Metasploit: kontrollált exploitáció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3" y="1645920"/>
            <a:ext cx="2606040" cy="34747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177393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11–15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194560"/>
            <a:ext cx="2203704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Jogosultság, OSINT, forensics, Blue Team, záróprojekt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Nem az exploit a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BCC"/>
                </a:solidFill>
                <a:latin typeface="Aptos"/>
              </a:defRPr>
            </a:pPr>
            <a:r>
              <a:t>A cél: igazolható kockázatból javítható védelmi intézkedés.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7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5E2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82495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1. Hatókör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98094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Engedélyezett IP-k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Kijelölt célgép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Időablak és vészleállítás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64207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39C12"/>
                </a:solidFill>
              </a:defRPr>
            </a:pPr>
            <a:r>
              <a:t>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682495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2. Bizonyíték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03120"/>
            <a:ext cx="298094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Illeszkedő verzió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Modul és opciók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Minimális session-adat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664207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7AE60"/>
                </a:solidFill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682495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3. Védelem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03120"/>
            <a:ext cx="298094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Cleanup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Javítás vagy ACL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Ugyanazzal a módszerrel retest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Négy alapfogalom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606040" cy="41148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48840"/>
            <a:ext cx="2203704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Biztonsági gyengeség vagy hibás konfiguráció.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00200"/>
            <a:ext cx="2606040" cy="41148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Exploit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203704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gyengeséget célzó eljárás vagy kód.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600200"/>
            <a:ext cx="2606040" cy="41148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2203704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sikeres kihasználás után végrehajtandó funkció.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600200"/>
            <a:ext cx="2606040" cy="41148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2148840"/>
            <a:ext cx="2203704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létrejött kapcsolat, amelyen minimális ellenőrzés végezhető.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 Metasploit moduláris felépítése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920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36776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30266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Sebezhetőség kihasználása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429000" cy="1920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636776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auxiliary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057400"/>
            <a:ext cx="30266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Felderítés, ellenőrzés,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08760"/>
            <a:ext cx="3429000" cy="1920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636776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057400"/>
            <a:ext cx="30266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végrehajtandó funkció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3429000" cy="1920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77055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97679"/>
            <a:ext cx="30266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Session utáni, engedélyezett ellenőrzés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749039"/>
            <a:ext cx="3429000" cy="1920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877055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encoder / nop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97679"/>
            <a:ext cx="3026664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Speciális technikai komponensek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 biztonságos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Élő eszközös felépítés – 3 párhuzamos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BCC"/>
                </a:solidFill>
                <a:latin typeface="Aptos"/>
              </a:defRPr>
            </a:pPr>
            <a:r>
              <a:t>A 6 router és 6 switch teljes kihasználása, podonként elkülönített támadói és céloldallal.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B5E2"/>
                </a:solidFill>
              </a:defRPr>
            </a:pPr>
            <a:r>
              <a:t>POD 1</a:t>
            </a:r>
          </a:p>
        </p:txBody>
      </p:sp>
      <p:sp>
        <p:nvSpPr>
          <p:cNvPr id="7" name="Oval 6"/>
          <p:cNvSpPr/>
          <p:nvPr/>
        </p:nvSpPr>
        <p:spPr>
          <a:xfrm>
            <a:off x="150876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R1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112264"/>
            <a:ext cx="868680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44475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779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1051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7355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4300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Kali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Elemző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Cél VM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Log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472184" y="3063240"/>
            <a:ext cx="33832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10512" y="3063240"/>
            <a:ext cx="48463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118104" y="3063240"/>
            <a:ext cx="15544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73552" y="3063240"/>
            <a:ext cx="62179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4128" y="43159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9BBCC"/>
                </a:solidFill>
              </a:defRPr>
            </a:pPr>
            <a:r>
              <a:t>10.10.1.0/24  ↔  172.16.1.0/30  ↔  10.20.1.0/24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B5E2"/>
                </a:solidFill>
              </a:defRPr>
            </a:pPr>
            <a:r>
              <a:t>POD 2</a:t>
            </a:r>
          </a:p>
        </p:txBody>
      </p:sp>
      <p:sp>
        <p:nvSpPr>
          <p:cNvPr id="32" name="Oval 31"/>
          <p:cNvSpPr/>
          <p:nvPr/>
        </p:nvSpPr>
        <p:spPr>
          <a:xfrm>
            <a:off x="484632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R3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40680" y="2112264"/>
            <a:ext cx="868680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78231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231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4807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61111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48056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Kali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Elemző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Cél VM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0372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Log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4809744" y="3063240"/>
            <a:ext cx="33832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48072" y="3063240"/>
            <a:ext cx="48463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6455664" y="3063240"/>
            <a:ext cx="15544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611112" y="3063240"/>
            <a:ext cx="62179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361688" y="43159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9BBCC"/>
                </a:solidFill>
              </a:defRPr>
            </a:pPr>
            <a:r>
              <a:t>10.10.2.0/24  ↔  172.16.2.0/30  ↔  10.20.2.0/24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B5E2"/>
                </a:solidFill>
              </a:defRPr>
            </a:pPr>
            <a:r>
              <a:t>POD 3</a:t>
            </a:r>
          </a:p>
        </p:txBody>
      </p:sp>
      <p:sp>
        <p:nvSpPr>
          <p:cNvPr id="57" name="Oval 56"/>
          <p:cNvSpPr/>
          <p:nvPr/>
        </p:nvSpPr>
        <p:spPr>
          <a:xfrm>
            <a:off x="818388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8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R5</a:t>
            </a:r>
          </a:p>
        </p:txBody>
      </p:sp>
      <p:sp>
        <p:nvSpPr>
          <p:cNvPr id="59" name="Oval 58"/>
          <p:cNvSpPr/>
          <p:nvPr/>
        </p:nvSpPr>
        <p:spPr>
          <a:xfrm>
            <a:off x="9646920" y="1920240"/>
            <a:ext cx="594360" cy="384048"/>
          </a:xfrm>
          <a:prstGeom prst="ellipse">
            <a:avLst/>
          </a:prstGeom>
          <a:solidFill>
            <a:srgbClr val="2178BE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1975104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C"/>
                </a:solidFill>
              </a:defRPr>
            </a:pPr>
            <a:r>
              <a:t>R6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778240" y="2112264"/>
            <a:ext cx="868680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811987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1987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82912" y="2743200"/>
            <a:ext cx="731520" cy="320040"/>
          </a:xfrm>
          <a:prstGeom prst="rect">
            <a:avLst/>
          </a:prstGeom>
          <a:solidFill>
            <a:srgbClr val="263E54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82912" y="28163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5F8FC"/>
                </a:solidFill>
              </a:defRPr>
            </a:pPr>
            <a:r>
              <a:t>SW6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48563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948672" y="2304288"/>
            <a:ext cx="0" cy="438912"/>
          </a:xfrm>
          <a:prstGeom prst="line">
            <a:avLst/>
          </a:prstGeom>
          <a:ln>
            <a:solidFill>
              <a:srgbClr val="00B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81812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1812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Kali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4108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4108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Elemző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6404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6404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Cél VM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41280" y="3703320"/>
            <a:ext cx="658368" cy="457200"/>
          </a:xfrm>
          <a:prstGeom prst="roundRect">
            <a:avLst/>
          </a:prstGeom>
          <a:solidFill>
            <a:srgbClr val="1B2D4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41280" y="381304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F5F8FC"/>
                </a:solidFill>
              </a:defRPr>
            </a:pPr>
            <a:r>
              <a:t>Log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8147304" y="3063240"/>
            <a:ext cx="33832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85632" y="3063240"/>
            <a:ext cx="48463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9793224" y="3063240"/>
            <a:ext cx="155448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48672" y="3063240"/>
            <a:ext cx="621792" cy="640080"/>
          </a:xfrm>
          <a:prstGeom prst="line">
            <a:avLst/>
          </a:prstGeom>
          <a:ln>
            <a:solidFill>
              <a:srgbClr val="A9B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699248" y="431596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A9BBCC"/>
                </a:solidFill>
              </a:defRPr>
            </a:pPr>
            <a:r>
              <a:t>10.10.3.0/24  ↔  172.16.3.0/30  ↔  10.20.3.0/24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Tanári előkészítés – csak ellenőrzött indulás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480560"/>
          </a:xfrm>
          <a:prstGeom prst="roundRect">
            <a:avLst/>
          </a:prstGeom>
          <a:solidFill>
            <a:srgbClr val="0D2136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7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VM clean snapshot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Internet/NAT kikapcsolva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Podok között nincs átjárás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Metasploit DB rendben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417320"/>
            <a:ext cx="3474720" cy="4480560"/>
          </a:xfrm>
          <a:prstGeom prst="roundRect">
            <a:avLst/>
          </a:prstGeom>
          <a:solidFill>
            <a:srgbClr val="0D2136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1645920"/>
            <a:ext cx="292607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Cél szolgáltatás előre tesztelve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Modul és verzió illeszkedik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Vészleállítás és baseline kész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Flag csak a Mini CTF-hez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17320"/>
            <a:ext cx="3474720" cy="4480560"/>
          </a:xfrm>
          <a:prstGeom prst="roundRect">
            <a:avLst/>
          </a:prstGeom>
          <a:solidFill>
            <a:srgbClr val="0D213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645920"/>
            <a:ext cx="292607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IP-tartomány kiosztva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Tanári jóváhagyási pont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ACL/retest sablon kéznél</a:t>
            </a:r>
          </a:p>
          <a:p>
            <a:pPr>
              <a:spcAft>
                <a:spcPts val="900"/>
              </a:spcAft>
              <a:defRPr sz="1500">
                <a:solidFill>
                  <a:srgbClr val="A9BBCC"/>
                </a:solidFill>
              </a:defRPr>
            </a:pPr>
            <a:r>
              <a:t>• Óra végén teljes cleanup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msfconsole és adatbázis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937760" cy="4297680"/>
          </a:xfrm>
          <a:prstGeom prst="roundRect">
            <a:avLst/>
          </a:prstGeom>
          <a:solidFill>
            <a:srgbClr val="02081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4937760" cy="320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4608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BCC"/>
                </a:solidFill>
              </a:defRPr>
            </a:pPr>
            <a:r>
              <a:t>msfconsole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48056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sudo msfdb init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msfconsole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db_status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workspace -a modul10_pod1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db_nmap -sV 10.20.1.10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hosts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508760"/>
            <a:ext cx="539496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636776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Miért fontos?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057400"/>
            <a:ext cx="499262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workspace elkülöníti a csapatok adatait.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hosts és services segít összekötni a felderítést a modulválasztással.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reprodukálhatóság része, hogy a kiinduló adatok megmaradjanak.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Modulkeresés – nem találgatás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4297680"/>
          </a:xfrm>
          <a:prstGeom prst="roundRect">
            <a:avLst/>
          </a:prstGeom>
          <a:solidFill>
            <a:srgbClr val="02081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212080" cy="320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91056"/>
            <a:ext cx="4882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BCC"/>
                </a:solidFill>
              </a:defRPr>
            </a:pPr>
            <a:r>
              <a:t>msfconsole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search type:auxiliary name:ftp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search type:exploit platform:linux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search cve:2011-2523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show exploits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02920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682495"/>
            <a:ext cx="4626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Keresési szűrők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03120"/>
            <a:ext cx="462686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type – modul típusa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platform – célrendszer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name – név vagy szolgáltatás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cve – ismert sérülékenység azonosítója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 modul elolvasása kötelező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220370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Leírás, hivatkozások, rang, célok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737360"/>
            <a:ext cx="260604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86537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show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286000"/>
            <a:ext cx="220370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Kötelező és opcionális beállítások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737360"/>
            <a:ext cx="260604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86537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show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286000"/>
            <a:ext cx="220370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Hiányzó kötelező értékek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737360"/>
            <a:ext cx="260604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86537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show 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286000"/>
            <a:ext cx="220370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Támogatott célváltozatok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RHOSTS, RPORT, LHOST, LPORT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606040" cy="4206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RHOSTS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48840"/>
            <a:ext cx="220370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kijelölt cél IP-je vagy tartománya. Ebben a modulban mindig egyetlen 10.20.x.10 cím.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600200"/>
            <a:ext cx="2606040" cy="4206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RPORT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148840"/>
            <a:ext cx="220370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cél szolgáltatás portja. A felderítés eredményével egyezzen.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600200"/>
            <a:ext cx="2606040" cy="4206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728216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LHOST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148840"/>
            <a:ext cx="220370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Kali laborinterfészének IP-je, amelyet a cél vissza tud érni.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4" y="1600200"/>
            <a:ext cx="2331720" cy="420624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728216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LPORT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148840"/>
            <a:ext cx="192938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helyi fogadó port. Ne ütközzön más folyamattal.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Check → Run → Bizonyíték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1.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Ha támogatott: előzetes sebezhetőség-ellenőrzés.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2.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Csak tanári jóváhagyás után, egyetlen cél-IP-re.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3.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Session ID, időpont, minimális rendszerazonosítás.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Sessionkezelés – minimális és arányos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029200" cy="4297680"/>
          </a:xfrm>
          <a:prstGeom prst="roundRect">
            <a:avLst/>
          </a:prstGeom>
          <a:solidFill>
            <a:srgbClr val="02081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91056"/>
            <a:ext cx="47000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BCC"/>
                </a:solidFill>
              </a:defRPr>
            </a:pPr>
            <a:r>
              <a:t>msfconsole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sessions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sessions -i 1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id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uname -a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background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sessions -k 1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sessions -K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54480"/>
            <a:ext cx="516636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682495"/>
            <a:ext cx="4764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Mit nem csinálunk?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2103120"/>
            <a:ext cx="476402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Nem töltünk le adatbázist vagy felhasználói fájlokat.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Nem hozunk létre tartós hozzáférést.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Nem lépünk át más podba.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Nem hagyunk nyitott sessiont az óra végén.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Bizonyítéklánc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691640"/>
            <a:ext cx="2633472" cy="38404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965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Kiindulás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23113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IP, port, verzió, snapshot neve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691640"/>
            <a:ext cx="2633472" cy="38404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81965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Döntés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240280"/>
            <a:ext cx="223113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Modul, rang, CVE, opciók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691640"/>
            <a:ext cx="2633472" cy="38404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3" y="181965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Eredmény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3" y="2240280"/>
            <a:ext cx="223113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check/run, session ID, képernyőkép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8008" y="1691640"/>
            <a:ext cx="2633472" cy="38404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9176" y="181965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Lezárás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2240280"/>
            <a:ext cx="223113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cleanup, védelem, retest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Cleanup – a labor nem maradhat támadott állapotban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120640" cy="4343400"/>
          </a:xfrm>
          <a:prstGeom prst="roundRect">
            <a:avLst/>
          </a:prstGeom>
          <a:solidFill>
            <a:srgbClr val="0D213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572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5F8FC"/>
                </a:solidFill>
              </a:defRPr>
            </a:pPr>
            <a:r>
              <a:t>• Sessionök bezárása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Tesztfájlok eltávolítása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Metasploitable2 snapshot-visszaállítása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Workspace és naplók rendezése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5120640" cy="4343400"/>
          </a:xfrm>
          <a:prstGeom prst="roundRect">
            <a:avLst/>
          </a:prstGeom>
          <a:solidFill>
            <a:srgbClr val="0D213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5F8FC"/>
                </a:solidFill>
              </a:defRPr>
            </a:pPr>
            <a:r>
              <a:t>• Router/switch baseline visszatöltése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ACL számlálók ellenőrzése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Podok újra izoláltak</a:t>
            </a:r>
          </a:p>
          <a:p>
            <a:pPr>
              <a:spcAft>
                <a:spcPts val="900"/>
              </a:spcAft>
              <a:defRPr sz="1700">
                <a:solidFill>
                  <a:srgbClr val="A9BBCC"/>
                </a:solidFill>
              </a:defRPr>
            </a:pPr>
            <a:r>
              <a:t>• Tanári záróellenőrzés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Támadásból védelem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Szolgáltatás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Kikapcsolás, frissítés, konfigurációjavítás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ACL, szegmentálás, menedzsment-hozzáférés korlátozása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3337560" cy="393192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81965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Észlelés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240280"/>
            <a:ext cx="2935224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Syslog, ACL log, Wireshark, sikertelen kapcsolatok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 retest ugyanazzal a módszerrel történik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12080" cy="4297680"/>
          </a:xfrm>
          <a:prstGeom prst="roundRect">
            <a:avLst/>
          </a:prstGeom>
          <a:solidFill>
            <a:srgbClr val="020812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212080" cy="320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91056"/>
            <a:ext cx="4882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BCC"/>
                </a:solidFill>
              </a:defRPr>
            </a:pPr>
            <a:r>
              <a:t>msfconsole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show access-lists MOD10_PROTECT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# ugyanaz a scan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# ugyanaz a modul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check</a:t>
            </a:r>
          </a:p>
          <a:p>
            <a:pPr>
              <a:spcAft>
                <a:spcPts val="200"/>
              </a:spcAft>
              <a:defRPr sz="1050">
                <a:solidFill>
                  <a:srgbClr val="A4FFC2"/>
                </a:solidFill>
                <a:latin typeface="Consolas"/>
              </a:defRPr>
            </a:pPr>
            <a:r>
              <a:t>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4983480" cy="4297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682495"/>
            <a:ext cx="4581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Sikeres védelem bizonyítékai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03120"/>
            <a:ext cx="458114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port már nem elérhető vagy a szolgáltatás nem sérülékeny.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session nem jön létre.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Az ACL számláló vagy a napló mutatja a blokkolást.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 dokumentációban before/after összehasonlítás szerepel.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Laborok 1–3: alapozás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1. Pod és hatókör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Fizikai bekötés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IP- és routingteszt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Podizoláció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2.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db_status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db_nmap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hosts /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3. Auxiliary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FTP/SMB verzió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Nmap összevetés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eredményjegyzőkönyv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Laborok 4–6: döntés és kontrollált validálás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4. Döntéslap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3 moduljelölt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illeszkedés indoklása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tanári jóváhagyás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5. Kontrollált exploit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clean snapshot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check → run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egy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6. Bizonyíték + cleanup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id / uname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session bezárása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snapshot 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Laborok 7–9: védelem és Mini CTF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7. ACL + retest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portblokkolás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számlálók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azonos teszt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8.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szolgáltatás leállítása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verzióteszt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sikertelen exploit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337560" cy="402336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77393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9. Mini CTF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194560"/>
            <a:ext cx="293522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felderítés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FLAG</a:t>
            </a:r>
          </a:p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javítás + retest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Értékelés – a session csak 20 pont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9105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Biztonságos hatókör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1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59105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Felderítés + döntés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1168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6304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59105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Kontrollált végrehajtás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01168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2277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Bizonyíték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34340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79476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92277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Cleanup + javítás + 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434340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20%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794760"/>
            <a:ext cx="3474720" cy="201168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922776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Jelentés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4343400"/>
            <a:ext cx="30723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Öt mondat, amit vigyél magaddal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417320"/>
            <a:ext cx="10058400" cy="4800600"/>
          </a:xfrm>
          <a:prstGeom prst="roundRect">
            <a:avLst/>
          </a:prstGeom>
          <a:solidFill>
            <a:srgbClr val="0D2136"/>
          </a:solidFill>
          <a:ln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645920"/>
            <a:ext cx="9509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5F8FC"/>
                </a:solidFill>
              </a:defRPr>
            </a:pPr>
            <a:r>
              <a:t>• Csak azt vizsgáljuk, amihez engedélyünk és kijelölt cél-IP-nk van.</a:t>
            </a:r>
          </a:p>
          <a:p>
            <a:pPr>
              <a:spcAft>
                <a:spcPts val="900"/>
              </a:spcAft>
              <a:defRPr sz="1800">
                <a:solidFill>
                  <a:srgbClr val="A9BBCC"/>
                </a:solidFill>
              </a:defRPr>
            </a:pPr>
            <a:r>
              <a:t>• A modulválasztást verzióval, platformmal és forrással kell indokolni.</a:t>
            </a:r>
          </a:p>
          <a:p>
            <a:pPr>
              <a:spcAft>
                <a:spcPts val="900"/>
              </a:spcAft>
              <a:defRPr sz="1800">
                <a:solidFill>
                  <a:srgbClr val="A9BBCC"/>
                </a:solidFill>
              </a:defRPr>
            </a:pPr>
            <a:r>
              <a:t>• A session csak minimális bizonyítékra szolgál, nem korlátlan hozzáférésre.</a:t>
            </a:r>
          </a:p>
          <a:p>
            <a:pPr>
              <a:spcAft>
                <a:spcPts val="900"/>
              </a:spcAft>
              <a:defRPr sz="1800">
                <a:solidFill>
                  <a:srgbClr val="A9BBCC"/>
                </a:solidFill>
              </a:defRPr>
            </a:pPr>
            <a:r>
              <a:t>• Cleanup és snapshot-visszaállítás nélkül a labor nincs kész.</a:t>
            </a:r>
          </a:p>
          <a:p>
            <a:pPr>
              <a:spcAft>
                <a:spcPts val="900"/>
              </a:spcAft>
              <a:defRPr sz="1800">
                <a:solidFill>
                  <a:srgbClr val="A9BBCC"/>
                </a:solidFill>
              </a:defRPr>
            </a:pPr>
            <a:r>
              <a:t>• A szakmai eredmény a javítás és a sikeres retest.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Kilépőkártya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9BBCC"/>
                </a:solidFill>
                <a:latin typeface="Aptos"/>
              </a:defRPr>
            </a:pPr>
            <a:r>
              <a:t>Válaszolj röviden, mielőtt bezárod a laborodat.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645920" cy="4572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3756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00B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6537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293522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Mi bizonyította, hogy a modul illeszkedett?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33756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86537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286000"/>
            <a:ext cx="293522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Milyen minimális bizonyítékot rögzítettél?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337560" cy="3657600"/>
          </a:xfrm>
          <a:prstGeom prst="roundRect">
            <a:avLst/>
          </a:prstGeom>
          <a:solidFill>
            <a:srgbClr val="0D2136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865376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286000"/>
            <a:ext cx="293522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A9BBCC"/>
                </a:solidFill>
              </a:defRPr>
            </a:pPr>
            <a:r>
              <a:t>Melyik védelem akadályozta meg a retestet?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10528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9BBCC"/>
                </a:solidFill>
              </a:defRPr>
            </a:pPr>
            <a:r>
              <a:t>10. modul  •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