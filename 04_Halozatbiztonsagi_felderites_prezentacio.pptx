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detail_scene_of_a_modern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DFFF"/>
                </a:solidFill>
              </a:rPr>
              <a:t>04. modul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93268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4FAFF"/>
                </a:solidFill>
              </a:rPr>
              <a:t>Hálózatbiztonsági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AFF"/>
                </a:solidFill>
              </a:rPr>
              <a:t>felderítés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0352" y="2468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2D1"/>
                </a:solidFill>
              </a:rPr>
              <a:t>Hálózati alapok biztonsági szemléletben • Wireshark • nmap • bizonyítékrögzítés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nem “hálózatok újra”?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diákok már ismerik az alapokat; most a biztonsági gondolkodást gyakoroljuk.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164592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IP / VLAN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64592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5448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Routing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164592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5448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ACL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0" y="1417320"/>
            <a:ext cx="164592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55448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DHCP / DNS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78240" y="1417320"/>
            <a:ext cx="164592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55448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Portok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54480" y="2240280"/>
            <a:ext cx="77724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1887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AFF"/>
                </a:solidFill>
              </a:rPr>
              <a:t>Ezekre építünk, nem ezeket ismételjük.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2395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7D9"/>
                </a:solidFill>
              </a:rPr>
              <a:t>Új fókusz: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761488"/>
            <a:ext cx="493776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F4FAFF"/>
                </a:solidFill>
              </a:rPr>
              <a:t>Mit lát kívülről egy vizsgáló?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Melyik szolgáltatás indokolt?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Miből lesz bizonyíték?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Hogyan írunk szakmai javaslatot?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2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modul fő célja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hálózati tudásból biztonsági vizsgálati készség legyen.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270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1.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8470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Mit szabad vizsgálni?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5270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2. Felderítés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2968" y="18470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Hostok, portok, szolgáltatások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4173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15270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3. Forgalom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18470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Wireshark, protokollok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14173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15270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4. Bizonyíték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53528" y="18470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Kimenet, PCAP, hash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784080" y="1417320"/>
            <a:ext cx="1645920" cy="1051560"/>
          </a:xfrm>
          <a:prstGeom prst="roundRect">
            <a:avLst>
              <a:gd name="adj" fmla="val 434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3808" y="15270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5. Riport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93808" y="184708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Javaslatok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CDFFF"/>
                </a:solidFill>
              </a:rPr>
              <a:t>A jó tanulói munka nem parancslista, hanem értelmezett, dokumentált vizsgálat.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600" y="4069080"/>
            <a:ext cx="89611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F4FAFF"/>
                </a:solidFill>
              </a:rPr>
              <a:t>Nem támadás: engedélyezett, izolált laborkörnyezet.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Nem “találatvadászat”: megfigyelés → következtetés → javaslat.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Nem screenshot-gyűjtemény: bizonyítékalapú mini riport.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3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Jogosultság és vizsgálati scope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biztonsági labor első technikai lépése mindig adminisztratív.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2588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3560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Kijelölt cél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IP-tartomány, VLAN, időkeret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43560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Tiltott cél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Éles iskolai rendszerek, internet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132588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448" y="143560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Tiltott művelet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70448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Brute force, DoS, exploit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43560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Dokumentáció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85048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Ki, mikor, mit vizsgált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D9"/>
                </a:solidFill>
              </a:rPr>
              <a:t>Tanári mondat a labor elején: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520440"/>
            <a:ext cx="9875520" cy="105156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630168"/>
            <a:ext cx="9601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mai scope: 192.168.40.0/24 labortartomány.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Minden más tartomány és éles rendszer vizsgálata tilos.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 bizonytalan vagy, megállsz és kérdezel.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4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Hálózati ismétlés – biztonsági kérdésekkel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Nem a definíció a lényeg, hanem a következtetés.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4416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IP / subnet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472184"/>
            <a:ext cx="6858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03320" y="136245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F"/>
                </a:solidFill>
              </a:rPr>
              <a:t>Hol vannak a vizsgálati határok?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98424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9397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ARP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2221992"/>
            <a:ext cx="6858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03320" y="211226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F"/>
                </a:solidFill>
              </a:rPr>
              <a:t>Milyen eszközök látszanak helyben?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73405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84378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DNS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2971800"/>
            <a:ext cx="6858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03320" y="286207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F"/>
                </a:solidFill>
              </a:rPr>
              <a:t>Milyen beszédes nevek szivárognak?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48386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9359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TCP/UDP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0360" y="3721608"/>
            <a:ext cx="6858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03320" y="361188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F"/>
                </a:solidFill>
              </a:rPr>
              <a:t>Mely szolgáltatások érhetők el?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233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434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HTTP/SSH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80360" y="4471416"/>
            <a:ext cx="6858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703320" y="43616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F"/>
                </a:solidFill>
              </a:rPr>
              <a:t>Szükséges és jól korlátozott?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98348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09320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Logok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80360" y="5221224"/>
            <a:ext cx="68580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703320" y="51114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AFF"/>
                </a:solidFill>
              </a:rPr>
              <a:t>Visszakereshető, mi történt?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5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gyűjtünk felderítéskor?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cél: szolgáltatásleltár, nem “hackelés”.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43560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1755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Célpont címe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123B58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43560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Hostname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78608" y="1755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Beszédes név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3560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MAC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53128" y="1755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Eszköz/gyártó jel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123B58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43560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755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Elérhető szolgáltatás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132588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143560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Verzió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02168" y="1755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Kockázati nyom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966960" y="132588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123B58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76688" y="143560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Megjegyzés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76688" y="1755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Javaslat alapja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7D9"/>
                </a:solidFill>
              </a:rPr>
              <a:t>Példa következtetés: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3730752"/>
            <a:ext cx="4754880" cy="100584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84048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192.168.40.10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open ssh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open http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23/tcp open telnet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4FAFF"/>
                </a:solidFill>
              </a:rPr>
              <a:t>SSH: menedzsmenthez indokolt lehet.</a:t>
            </a:r>
            <a:endParaRPr lang="en-US" sz="1400" dirty="0"/>
          </a:p>
          <a:p>
            <a:r>
              <a:rPr lang="en-US" sz="1400" dirty="0">
                <a:solidFill>
                  <a:srgbClr val="F4FAFF"/>
                </a:solidFill>
              </a:rPr>
              <a:t>HTTP: adminfelület csak menedzsment VLAN-ból legyen elérhető.</a:t>
            </a:r>
            <a:endParaRPr lang="en-US" sz="1400" dirty="0"/>
          </a:p>
          <a:p>
            <a:r>
              <a:rPr lang="en-US" sz="1400" dirty="0">
                <a:solidFill>
                  <a:srgbClr val="F4FAFF"/>
                </a:solidFill>
              </a:rPr>
              <a:t>Telnet: kerülendő, javasolt tiltás vagy SSH-ra csere.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6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Javasolt laborfelépítés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meglévő Cisco laborból biztonsági gyakorlótér lesz.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98448"/>
            <a:ext cx="137160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3560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16 diákgép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298448"/>
            <a:ext cx="137160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43560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6 switch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1298448"/>
            <a:ext cx="137160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43560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6 router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1298448"/>
            <a:ext cx="14630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43560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Kali VM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43800" y="1298448"/>
            <a:ext cx="164592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43560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Cél Linux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64040" y="1298448"/>
            <a:ext cx="155448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43560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Wireshark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224028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235000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A csoport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67004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Host discovery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224028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235000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B csoport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21608" y="267004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HTTP/DNS capture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24028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35000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C csoport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267004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Gateway + útvonal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41080" y="224028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235000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D csoport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50808" y="267004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Log + bizonyíték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156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DFFF"/>
                </a:solidFill>
              </a:rPr>
              <a:t>Minden csoport ugyanazt a szemléletet gyakorolja: megfigyelés → bizonyíték → javaslat.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7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Eszközlánc a modulban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Linux és Kali parancsok, de védelmi/üzemeltetői céllal.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2588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35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755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saját állapot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132588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1435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81528" y="1755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elérhetőség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0" y="132588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1435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traceroute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755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útvonal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52360" y="132588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62088" y="1435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ip neigh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62088" y="1755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szomszédok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92640" y="132588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02368" y="143560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nmap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02368" y="1755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host + port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251460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62432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294436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saját kapcsolatok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71800" y="251460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1528" y="262432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tcpdump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81528" y="294436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capture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251460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262432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Wireshark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294436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elemzés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52360" y="251460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2088" y="262432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sha256sum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62088" y="294436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integritás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92640" y="2514600"/>
            <a:ext cx="1783080" cy="749808"/>
          </a:xfrm>
          <a:prstGeom prst="roundRect">
            <a:avLst>
              <a:gd name="adj" fmla="val 6098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2368" y="262432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journalctl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02368" y="294436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naplók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34440" y="45720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DFFF"/>
                </a:solidFill>
              </a:rPr>
              <a:t>Kulcskérdés minden parancs után: Mit bizonyít az eredmény?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8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Gyakorlati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Ezt a logikát használja minden labor.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F5A623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Scope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37944" y="2185416"/>
            <a:ext cx="41148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58568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Saját állapot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02152" y="2185416"/>
            <a:ext cx="41148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22776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Hostlista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66360" y="2185416"/>
            <a:ext cx="41148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86984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Portlista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30568" y="2185416"/>
            <a:ext cx="41148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51192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Capture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94776" y="2185416"/>
            <a:ext cx="41148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Bizonyíték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158984" y="2185416"/>
            <a:ext cx="411480" cy="0"/>
          </a:xfrm>
          <a:prstGeom prst="line">
            <a:avLst/>
          </a:prstGeom>
          <a:noFill/>
          <a:ln w="12700">
            <a:solidFill>
              <a:srgbClr val="00A7D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79608" y="196596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123B58"/>
          </a:solidFill>
          <a:ln w="12700">
            <a:solidFill>
              <a:srgbClr val="1A5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5328" y="2103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Riport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3474720"/>
            <a:ext cx="96012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F4FAFF"/>
                </a:solidFill>
              </a:rPr>
              <a:t>A workflow visszafogott, tanulói környezethez való.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Minden lépésnek legyen mentett nyoma.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Ha nincs következtetés, nincs kész a feladat.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9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Első parancsok: saját gép megértése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Mielőtt bármit vizsgálunk, tudjuk, honnan dolgozunk.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074920" cy="210312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35608"/>
            <a:ext cx="4800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neigh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-tulpen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7D9"/>
                </a:solidFill>
              </a:rPr>
              <a:t>Kérdések: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828800"/>
            <a:ext cx="48463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F4FAFF"/>
                </a:solidFill>
              </a:rPr>
              <a:t>Melyik interfészen vagyok?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Mi a saját IP-címem?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Melyik a gateway?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Milyen szomszédok látszanak?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Fut-e a saját gépemen listening szolgáltatás?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10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Nmap – kíméletes, engedélyezett felderítés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cél a leltárkészítés és értelmezés.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34440"/>
            <a:ext cx="5349240" cy="205740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44168"/>
            <a:ext cx="507492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192.168.40.0/24 -oN hosts.txt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--top-ports 30 192.168.40.10 -oN ports.txt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--top-ports 30 192.168.40.10 -oN services.txt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-oA scan_40_10 192.168.40.10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34416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-sn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66420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Host discovery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732520" y="12344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42248" y="134416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--top-ports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42248" y="166420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Kíméletes kezdés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2514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6243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-sV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294436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Verzióinformáció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32520" y="2514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42248" y="26243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-oA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42248" y="294436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Mentés több formátumban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E57"/>
                </a:solidFill>
              </a:rPr>
              <a:t>Tilalom: külső rendszerek, agresszív időzítés, jelszópróba, exploit futtatás.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11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Wireshark: zajból bizonyíték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jó elemzés konkrét kérdésekkel indul.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4023360" cy="210312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44168"/>
            <a:ext cx="3749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filterek: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ip.addr == 192.168.40.10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tcp.port == 80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49240" y="123444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8968" y="134416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ARP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58968" y="16642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Ki kicsoda helyben?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52360" y="123444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34416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DNS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62088" y="16642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Mit keres a kliens?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555480" y="123444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65208" y="134416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65208" y="16642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Létrejön-e kapcsolat?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33172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44144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HTTP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27614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Milyen kérés látszik?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03920" y="233172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244144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PCAP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13648" y="27614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Visszanézhető bizonyíték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DFFF"/>
                </a:solidFill>
              </a:rPr>
              <a:t>Tanulói cél: 1 ARP, 1 DNS, 1 TCP handshake és 1 HTTP bizonyíték screenshot.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12</a:t>
            </a:r>
            <a:endParaRPr lang="en-US" sz="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Bizonyítékcsomag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profi munka visszakereshető és ellenőrizhető.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270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commands/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8470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parancskimenetek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417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123B58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5270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screenshots/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27248" y="18470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képernyőképek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66360" y="1417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15270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pcap/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18470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capture + hash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0" y="1417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123B58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15270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timeline.txt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24928" y="18470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idővonal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64040" y="1417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3768" y="15270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report/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73768" y="18470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mini jelentés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88720" y="3246120"/>
            <a:ext cx="9601200" cy="109728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355848"/>
            <a:ext cx="9326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evidence/commands evidence/screenshots evidence/pcap report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sha256sum evidence/pcap/labor04.pcapng &gt; evidence/pcap/labor04.sha256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-Is &gt;&gt; evidence/timeline.txt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13</a:t>
            </a: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04.1 – Laborszegmens feltérképezése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Szolgáltatásleltár készítése, nem támadás.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7D9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399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IP/gateway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7D9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46120" y="1399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Hostlista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7D9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399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Portlista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7D9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69480" y="1399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Táblázat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7824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7D9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81160" y="1399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AFF"/>
                </a:solidFill>
              </a:rPr>
              <a:t>Javaslat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2423160"/>
            <a:ext cx="4937760" cy="169164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532888"/>
            <a:ext cx="46634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 | tee evidence/commands/01_ip_a.txt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 | tee evidence/commands/02_route.txt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192.168.40.0/24 -oN hosts.txt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44805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F4FAFF"/>
                </a:solidFill>
              </a:rPr>
              <a:t>Leadandó: aktív hostok listája.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Legalább 3 célpont alap portlistája.</a:t>
            </a:r>
            <a:endParaRPr lang="en-US" sz="1500" dirty="0"/>
          </a:p>
          <a:p>
            <a:r>
              <a:rPr lang="en-US" sz="1500" dirty="0">
                <a:solidFill>
                  <a:srgbClr val="F4FAFF"/>
                </a:solidFill>
              </a:rPr>
              <a:t>3 rendszergazdai javaslat.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14</a:t>
            </a:r>
            <a:endParaRPr lang="en-US" sz="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04.2 – Forgalomelemzés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Célzott capture, célzott szűrés, érthető magyarázat.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4416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1.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2–3 perc, megfelelő interfész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34416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2. Forgalom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ping, DNS, HTTP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23444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134416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3. Filter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6188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arp / dns / tcp / http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66760" y="123444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34416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4. Bizonyíték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7648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screenshot + pcap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DFFF"/>
                </a:solidFill>
              </a:rPr>
              <a:t>Nem az számít, hány csomagot láttál, hanem hogy mit tudsz belőle bizonyítani.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15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04.3 – Mini riport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technikai eredményből szakmai megállapítás lesz.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544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6420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Megfigyelés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84248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Mit láttam?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66420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Bizonyíték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1984248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Mivel támasztom alá?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66420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Kockázat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0528" y="1984248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Miért számít?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15544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166420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Javaslat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53728" y="1984248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Mit kellene tenni?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0" y="3657600"/>
            <a:ext cx="9418320" cy="82296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767328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Példa: 23/tcp Telnet nyitva → titkosítatlan menedzsment kockázata → szolgáltatás tiltása vagy SSH-ra csere, hozzáférés korlátozása.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16</a:t>
            </a:r>
            <a:endParaRPr lang="en-US" sz="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CTF – gyakorlati figyelem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Játékos, de nem támadó jellegű feladatok.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441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HTML komment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6642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View source / curl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234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3441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HTTP header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2968" y="16642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Wireshark http filter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1234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13441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DNS válasz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6642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Wireshark dns filter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1234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13441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Linux 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44968" y="16642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journalctl / log fájl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21240" y="12344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0968" y="134416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PCAP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30968" y="1664208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Follow Stream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2907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D9"/>
                </a:solidFill>
              </a:rPr>
              <a:t>Példa flag: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51760" y="3218688"/>
            <a:ext cx="7040880" cy="594360"/>
          </a:xfrm>
          <a:prstGeom prst="rect">
            <a:avLst/>
          </a:prstGeom>
          <a:solidFill>
            <a:srgbClr val="020A10"/>
          </a:solidFill>
          <a:ln w="12700">
            <a:solidFill>
              <a:srgbClr val="1A5878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328416"/>
            <a:ext cx="6766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FLAG{BIZONYITEK_ALAPON_DOLGOZUNK}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AFF"/>
                </a:solidFill>
              </a:rPr>
              <a:t>A flag megtalálása csak akkor ér pontot, ha leírják a módszert és a bizonyítékot is.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17</a:t>
            </a:r>
            <a:endParaRPr lang="en-US" sz="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Értékelési rubrika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hangsúly a felelős, dokumentált munkán van.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80160"/>
            <a:ext cx="3749040" cy="530352"/>
          </a:xfrm>
          <a:prstGeom prst="roundRect">
            <a:avLst>
              <a:gd name="adj" fmla="val 8621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38988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Scope betartása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417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DFFF"/>
                </a:solidFill>
              </a:rPr>
              <a:t>20p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3749040" cy="530352"/>
          </a:xfrm>
          <a:prstGeom prst="roundRect">
            <a:avLst>
              <a:gd name="adj" fmla="val 8621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5856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Parancs + értelmezés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286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DFFF"/>
                </a:solidFill>
              </a:rPr>
              <a:t>25p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3749040" cy="530352"/>
          </a:xfrm>
          <a:prstGeom prst="roundRect">
            <a:avLst>
              <a:gd name="adj" fmla="val 8621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12724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Wireshark bizonyíték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DFFF"/>
                </a:solidFill>
              </a:rPr>
              <a:t>20p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3749040" cy="530352"/>
          </a:xfrm>
          <a:prstGeom prst="roundRect">
            <a:avLst>
              <a:gd name="adj" fmla="val 8621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99592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Evidence mappa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4023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DFFF"/>
                </a:solidFill>
              </a:rPr>
              <a:t>15p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754880"/>
            <a:ext cx="3749040" cy="530352"/>
          </a:xfrm>
          <a:prstGeom prst="roundRect">
            <a:avLst>
              <a:gd name="adj" fmla="val 8621"/>
            </a:avLst>
          </a:prstGeom>
          <a:solidFill>
            <a:srgbClr val="102C42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864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Mini riport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DFFF"/>
                </a:solidFill>
              </a:rPr>
              <a:t>20p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28800"/>
            <a:ext cx="429768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4FAFF"/>
                </a:solidFill>
              </a:rPr>
              <a:t>Nem kap pontot külső célpont vizsgálata.</a:t>
            </a:r>
            <a:endParaRPr lang="en-US" sz="1400" dirty="0"/>
          </a:p>
          <a:p>
            <a:r>
              <a:rPr lang="en-US" sz="1400" dirty="0">
                <a:solidFill>
                  <a:srgbClr val="F4FAFF"/>
                </a:solidFill>
              </a:rPr>
              <a:t>Nem elég a screenshot: magyarázat kell.</a:t>
            </a:r>
            <a:endParaRPr lang="en-US" sz="1400" dirty="0"/>
          </a:p>
          <a:p>
            <a:r>
              <a:rPr lang="en-US" sz="1400" dirty="0">
                <a:solidFill>
                  <a:srgbClr val="F4FAFF"/>
                </a:solidFill>
              </a:rPr>
              <a:t>A javaslat legyen üzemeltetői nyelven is érthető.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18</a:t>
            </a:r>
            <a:endParaRPr lang="en-US" sz="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Tipikus hibák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Ezeket érdemes már előre megbeszélni.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17320"/>
            <a:ext cx="502920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F4FAFF"/>
                </a:solidFill>
              </a:rPr>
              <a:t>“Lefuttattam, de nem tudom mit jelent.”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Túl nagy vagy nem engedélyezett tartományt vizsgál.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Wiresharkban csak görget, nem szűr.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Nem ment bizonyítékot, csak szóban mesél.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A javaslat nem megoldható vagy túl általános.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508760"/>
            <a:ext cx="4206240" cy="2011680"/>
          </a:xfrm>
          <a:prstGeom prst="roundRect">
            <a:avLst>
              <a:gd name="adj" fmla="val 2273"/>
            </a:avLst>
          </a:prstGeom>
          <a:solidFill>
            <a:srgbClr val="0E344D"/>
          </a:solidFill>
          <a:ln w="12700">
            <a:solidFill>
              <a:srgbClr val="1A5878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61848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</a:rPr>
              <a:t>Jó javító kérdés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1968" y="1938528"/>
            <a:ext cx="3986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C2D1"/>
                </a:solidFill>
              </a:rPr>
              <a:t>Melyik bizonyíték alapján mondod ezt, és mit javasolnál rendszergazdaként?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19</a:t>
            </a:r>
            <a:endParaRPr lang="en-US" sz="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A"/>
          </a:solidFill>
          <a:ln w="12700">
            <a:solidFill>
              <a:srgbClr val="07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viszünk tovább?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20624" y="713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2D1"/>
                </a:solidFill>
              </a:rPr>
              <a:t>A következő modulokban erre épül a felderítés és elemzés.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247120" cy="0"/>
          </a:xfrm>
          <a:prstGeom prst="line">
            <a:avLst/>
          </a:prstGeom>
          <a:noFill/>
          <a:ln w="12700">
            <a:solidFill>
              <a:srgbClr val="00A7D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484632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F4FAFF"/>
                </a:solidFill>
              </a:rPr>
              <a:t>Biztonsági scope fegyelmezett kezelése.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Host- és szolgáltatásleltár készítése.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Wireshark alapfilterek tudatos használata.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PCAP, parancskimenet és hash mentése.</a:t>
            </a:r>
            <a:endParaRPr lang="en-US" sz="1600" dirty="0"/>
          </a:p>
          <a:p>
            <a:r>
              <a:rPr lang="en-US" sz="1600" dirty="0">
                <a:solidFill>
                  <a:srgbClr val="F4FAFF"/>
                </a:solidFill>
              </a:rPr>
              <a:t>Rövid, szakmai finding írása.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D9"/>
                </a:solidFill>
              </a:rPr>
              <a:t>Következő logikus irány: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</a:rPr>
              <a:t>Felderítés és információgyűjtés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4FAFF"/>
                </a:solidFill>
              </a:rPr>
              <a:t>kontrollált környezetben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E8795"/>
                </a:solidFill>
              </a:rPr>
              <a:t>04. modul – Hálózatbiztonsági felderítés / 20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Oktatási célú tananyag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 modul – Hálózatbiztonsági felderítés és forgalomelemzés</dc:title>
  <dc:subject>Etikus hackelés tananyag 04. modul</dc:subject>
  <dc:creator>OpenAI</dc:creator>
  <cp:lastModifiedBy>OpenAI</cp:lastModifiedBy>
  <cp:revision>1</cp:revision>
  <dcterms:created xsi:type="dcterms:W3CDTF">2026-08-03T20:23:29Z</dcterms:created>
  <dcterms:modified xsi:type="dcterms:W3CDTF">2026-08-03T20:23:29Z</dcterms:modified>
</cp:coreProperties>
</file>