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731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CD5FF"/>
                </a:solidFill>
                <a:latin typeface="Aptos"/>
              </a:rPr>
              <a:t>13. modul – Tanulói tananyag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6949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5F9FF"/>
                </a:solidFill>
                <a:latin typeface="Aptos"/>
              </a:rPr>
              <a:t>Digitális forensics és
incidenskezelés (DFIR)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560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8C7D9"/>
                </a:solidFill>
                <a:latin typeface="Aptos"/>
              </a:rPr>
              <a:t>Önálló tanuláshoz • összefoglalók • példák • vizsgafelkészülés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D5FF"/>
                </a:solidFill>
                <a:latin typeface="Aptos"/>
              </a:rPr>
              <a:t>HOGYAN HASZNÁLD?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Tanulási térkép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8C7D9"/>
                </a:solidFill>
                <a:latin typeface="Aptos"/>
              </a:rPr>
              <a:t>A diákslides több magyarázatot tartalmaz, mint az órai vetítés.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75688"/>
            <a:ext cx="1097280" cy="54864"/>
          </a:xfrm>
          <a:prstGeom prst="rect">
            <a:avLst/>
          </a:prstGeom>
          <a:solidFill>
            <a:srgbClr val="2C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3246120" cy="22860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523744"/>
            <a:ext cx="29169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D5FF"/>
                </a:solidFill>
                <a:latin typeface="Aptos"/>
              </a:rPr>
              <a:t>1. ÉRTSD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017520"/>
            <a:ext cx="2916936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DFIR, evidence, hash, incident lifecycle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377440"/>
            <a:ext cx="3246120" cy="22860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2523744"/>
            <a:ext cx="29169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D4B7"/>
                </a:solidFill>
                <a:latin typeface="Aptos"/>
              </a:rPr>
              <a:t>2. LÁSD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3017520"/>
            <a:ext cx="2916936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Windows, Linux, hálózati és Cisco nyomok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377440"/>
            <a:ext cx="3246120" cy="22860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2523744"/>
            <a:ext cx="29169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F43"/>
                </a:solidFill>
                <a:latin typeface="Aptos"/>
              </a:rPr>
              <a:t>3. BIZONYÍTSD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3017520"/>
            <a:ext cx="2916936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timeline + evidence reference +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D5FF"/>
                </a:solidFill>
                <a:latin typeface="Aptos"/>
              </a:rPr>
              <a:t>TANULÓI JEGYZET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1. Mi az a DFIR?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8C7D9"/>
                </a:solidFill>
                <a:latin typeface="Aptos"/>
              </a:rPr>
              <a:t>A DOCX fejezetének vizuális, önállóan tanulható összefoglalója.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75688"/>
            <a:ext cx="1097280" cy="54864"/>
          </a:xfrm>
          <a:prstGeom prst="rect">
            <a:avLst/>
          </a:prstGeom>
          <a:solidFill>
            <a:srgbClr val="2C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331720"/>
            <a:ext cx="3429000" cy="27432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478024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D5FF"/>
                </a:solidFill>
                <a:latin typeface="Aptos"/>
              </a:rPr>
              <a:t>Kulcspont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971800"/>
            <a:ext cx="3099816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DFIR = Digital Forensics and Incident Response. A cél nem pusztán annak megállapítása, hogy „valami történt”, hanem annak bizonyítható rekonstruálása, hogy mi történt, mikor, mely rendszereken és milyen hatással.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331720"/>
            <a:ext cx="3429000" cy="27432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2478024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D4B7"/>
                </a:solidFill>
                <a:latin typeface="Aptos"/>
              </a:rPr>
              <a:t>Miért fontos?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971800"/>
            <a:ext cx="3099816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A forensics az adatok és digitális nyomok megőrzésére, vizsgálatára és összekapcsolására fókuszál; az incident response az észlelésre, triage-ra, containmentre, helyreállításra és a tanulságok beépítésére.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2331720"/>
            <a:ext cx="3429000" cy="27432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9912" y="2478024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F43"/>
                </a:solidFill>
                <a:latin typeface="Aptos"/>
              </a:rPr>
              <a:t>Gyakorlati jelentés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9912" y="2971800"/>
            <a:ext cx="3099816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A modul minden gyakorlata zárt, engedélyezett iskolai laborban történik.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tanulói PPT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D5FF"/>
                </a:solidFill>
                <a:latin typeface="Aptos"/>
              </a:rPr>
              <a:t>TANULÓI JEGYZET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2. Esemény, riasztás és incidens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8C7D9"/>
                </a:solidFill>
                <a:latin typeface="Aptos"/>
              </a:rPr>
              <a:t>A DOCX fejezetének vizuális, önállóan tanulható összefoglalója.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75688"/>
            <a:ext cx="1097280" cy="54864"/>
          </a:xfrm>
          <a:prstGeom prst="rect">
            <a:avLst/>
          </a:prstGeom>
          <a:solidFill>
            <a:srgbClr val="2C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331720"/>
            <a:ext cx="3429000" cy="27432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478024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D5FF"/>
                </a:solidFill>
                <a:latin typeface="Aptos"/>
              </a:rPr>
              <a:t>Kulcspont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971800"/>
            <a:ext cx="3099816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Esemény: bármilyen naplózható rendszeraktivitás (pl. bejelentkezés, folyamatindítás, HTTP-kérés).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331720"/>
            <a:ext cx="3429000" cy="27432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2478024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D4B7"/>
                </a:solidFill>
                <a:latin typeface="Aptos"/>
              </a:rPr>
              <a:t>Miért fontos?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971800"/>
            <a:ext cx="3099816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Riasztás: olyan esemény vagy eseménysor, amely szabály, anomália vagy eszköz alapján figyelmet igényel.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2331720"/>
            <a:ext cx="3429000" cy="27432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9912" y="2478024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F43"/>
                </a:solidFill>
                <a:latin typeface="Aptos"/>
              </a:rPr>
              <a:t>Gyakorlati jelentés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9912" y="2971800"/>
            <a:ext cx="3099816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Incidens: olyan biztonsági esemény, amely tényleges vagy valószínűsíthető hatással van bizalmasságra, sértetlenségre vagy rendelkezésre állásra.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tanulói PPT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D5FF"/>
                </a:solidFill>
                <a:latin typeface="Aptos"/>
              </a:rPr>
              <a:t>TANULÓI JEGYZET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3. Digitális bizonyíték és integritás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8C7D9"/>
                </a:solidFill>
                <a:latin typeface="Aptos"/>
              </a:rPr>
              <a:t>A DOCX fejezetének vizuális, önállóan tanulható összefoglalója.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75688"/>
            <a:ext cx="1097280" cy="54864"/>
          </a:xfrm>
          <a:prstGeom prst="rect">
            <a:avLst/>
          </a:prstGeom>
          <a:solidFill>
            <a:srgbClr val="2C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331720"/>
            <a:ext cx="3429000" cy="27432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478024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D5FF"/>
                </a:solidFill>
                <a:latin typeface="Aptos"/>
              </a:rPr>
              <a:t>Kulcspont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971800"/>
            <a:ext cx="3099816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A digitális bizonyíték lehet fájl, napló, hálózati capture, konfiguráció, időbélyeg, felhasználói aktivitás vagy rendszerállapot.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331720"/>
            <a:ext cx="3429000" cy="27432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2478024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D4B7"/>
                </a:solidFill>
                <a:latin typeface="Aptos"/>
              </a:rPr>
              <a:t>Miért fontos?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971800"/>
            <a:ext cx="3099816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A bizonyíték értékét a reprodukálhatóság és a sértetlenség adja. Ezért fontos a hash (pl. SHA-256), a forrás, a gyűjtés ideje, a gyűjtő személy és a kezelési lépések dokumentálása.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2331720"/>
            <a:ext cx="3429000" cy="27432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9912" y="2478024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F43"/>
                </a:solidFill>
                <a:latin typeface="Aptos"/>
              </a:rPr>
              <a:t>Gyakorlati jelentés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9912" y="2971800"/>
            <a:ext cx="3099816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Az eredeti bizonyítékot lehetőség szerint nem módosítjuk; elemzéshez másolatot használunk.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tanulói PPT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D5FF"/>
                </a:solidFill>
                <a:latin typeface="Aptos"/>
              </a:rPr>
              <a:t>TANULÓI JEGYZET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4. Chain of custody – bizonyítékkezelési lánc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8C7D9"/>
                </a:solidFill>
                <a:latin typeface="Aptos"/>
              </a:rPr>
              <a:t>A DOCX fejezetének vizuális, önállóan tanulható összefoglalója.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75688"/>
            <a:ext cx="1097280" cy="54864"/>
          </a:xfrm>
          <a:prstGeom prst="rect">
            <a:avLst/>
          </a:prstGeom>
          <a:solidFill>
            <a:srgbClr val="2C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5257800" cy="288036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478024"/>
            <a:ext cx="4928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D5FF"/>
                </a:solidFill>
                <a:latin typeface="Aptos"/>
              </a:rPr>
              <a:t>Kulcspont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971800"/>
            <a:ext cx="4928616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A chain of custody azt dokumentálja, hogy a bizonyíték kihez, mikor és milyen művelet során került. Iskolai laborban is érdemes gyakorolni, mert ugyanazt a fegyelmet tanítja, amely szakmai környezetben szükséges.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331720"/>
            <a:ext cx="5257800" cy="288036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2478024"/>
            <a:ext cx="4928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D4B7"/>
                </a:solidFill>
                <a:latin typeface="Aptos"/>
              </a:rPr>
              <a:t>Mit jelent a gyakorlatban?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971800"/>
            <a:ext cx="4928616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Minimum adatok: azonosító, forrás, gyűjtés időpontja, SHA-256, kezelő neve/csoportja, másolat helye, minden átadás vagy módosítás.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tanulói PPT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D5FF"/>
                </a:solidFill>
                <a:latin typeface="Aptos"/>
              </a:rPr>
              <a:t>TANULÓI JEGYZET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5. Volatile és non-volatile adatok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8C7D9"/>
                </a:solidFill>
                <a:latin typeface="Aptos"/>
              </a:rPr>
              <a:t>A DOCX fejezetének vizuális, önállóan tanulható összefoglalója.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75688"/>
            <a:ext cx="1097280" cy="54864"/>
          </a:xfrm>
          <a:prstGeom prst="rect">
            <a:avLst/>
          </a:prstGeom>
          <a:solidFill>
            <a:srgbClr val="2C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331720"/>
            <a:ext cx="3429000" cy="27432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478024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D5FF"/>
                </a:solidFill>
                <a:latin typeface="Aptos"/>
              </a:rPr>
              <a:t>Kulcspont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971800"/>
            <a:ext cx="3099816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Volatile: gyorsan változó vagy kikapcsoláskor elvesző adatok – futó folyamatok, hálózati kapcsolatok, bejelentkezett felhasználók, memória.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331720"/>
            <a:ext cx="3429000" cy="27432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2478024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D4B7"/>
                </a:solidFill>
                <a:latin typeface="Aptos"/>
              </a:rPr>
              <a:t>Miért fontos?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971800"/>
            <a:ext cx="3099816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Non-volatile: tartós adatok – lemezen lévő fájlok, Event Log, journal, Apache log, konfigurációk, PCAP fájlok.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2331720"/>
            <a:ext cx="3429000" cy="27432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9912" y="2478024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F43"/>
                </a:solidFill>
                <a:latin typeface="Aptos"/>
              </a:rPr>
              <a:t>Gyakorlati jelentés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9912" y="2971800"/>
            <a:ext cx="3099816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A gyűjtési sorrendet a bizonyíték várható élettartama, értéke és a rendszer állapota alapján kell megtervezni.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tanulói PPT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D5FF"/>
                </a:solidFill>
                <a:latin typeface="Aptos"/>
              </a:rPr>
              <a:t>TANULÓI JEGYZET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6. Incidenskezelési életciklus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8C7D9"/>
                </a:solidFill>
                <a:latin typeface="Aptos"/>
              </a:rPr>
              <a:t>A DOCX fejezetének vizuális, önállóan tanulható összefoglalója.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75688"/>
            <a:ext cx="1097280" cy="54864"/>
          </a:xfrm>
          <a:prstGeom prst="rect">
            <a:avLst/>
          </a:prstGeom>
          <a:solidFill>
            <a:srgbClr val="2C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5257800" cy="288036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478024"/>
            <a:ext cx="4928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D5FF"/>
                </a:solidFill>
                <a:latin typeface="Aptos"/>
              </a:rPr>
              <a:t>Kulcspont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971800"/>
            <a:ext cx="4928616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A modern incident response a kockázatkezelés része. Gyakorlatban a felkészülés, észlelés/triage, containment, eradication/remediation, recovery és utólagos tanulságok egymásba kapcsolódnak.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331720"/>
            <a:ext cx="5257800" cy="288036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2478024"/>
            <a:ext cx="4928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D4B7"/>
                </a:solidFill>
                <a:latin typeface="Aptos"/>
              </a:rPr>
              <a:t>Mit jelent a gyakorlatban?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971800"/>
            <a:ext cx="4928616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A dokumentáció végig jelen van: döntések, bizonyítékok, változtatások és eredmények rögzítése nélkül az incidens nem reprodukálható.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tanulói PPT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D5FF"/>
                </a:solidFill>
                <a:latin typeface="Aptos"/>
              </a:rPr>
              <a:t>TANULÓI JEGYZET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7. Triage – mihez nyúlunk először?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8C7D9"/>
                </a:solidFill>
                <a:latin typeface="Aptos"/>
              </a:rPr>
              <a:t>A DOCX fejezetének vizuális, önállóan tanulható összefoglalója.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75688"/>
            <a:ext cx="1097280" cy="54864"/>
          </a:xfrm>
          <a:prstGeom prst="rect">
            <a:avLst/>
          </a:prstGeom>
          <a:solidFill>
            <a:srgbClr val="2C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5257800" cy="288036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478024"/>
            <a:ext cx="4928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D5FF"/>
                </a:solidFill>
                <a:latin typeface="Aptos"/>
              </a:rPr>
              <a:t>Kulcspont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971800"/>
            <a:ext cx="4928616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Első kérdések: mi az érintett eszköz, ki használta, mikor kezdődött a jelenség, van-e aktív kapcsolat, fut-e gyanús folyamat, mely naplók állnak rendelkezésre?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331720"/>
            <a:ext cx="5257800" cy="288036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2478024"/>
            <a:ext cx="4928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D4B7"/>
                </a:solidFill>
                <a:latin typeface="Aptos"/>
              </a:rPr>
              <a:t>Mit jelent a gyakorlatban?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971800"/>
            <a:ext cx="4928616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A triage célja a prioritás és a következő legjobb vizsgálati lépés kijelölése, nem a teljes bizonyítás az első öt percben.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tanulói PPT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D5FF"/>
                </a:solidFill>
                <a:latin typeface="Aptos"/>
              </a:rPr>
              <a:t>TANULÓI JEGYZET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8. Windows bizonyítékforrások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8C7D9"/>
                </a:solidFill>
                <a:latin typeface="Aptos"/>
              </a:rPr>
              <a:t>A DOCX fejezetének vizuális, önállóan tanulható összefoglalója.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75688"/>
            <a:ext cx="1097280" cy="54864"/>
          </a:xfrm>
          <a:prstGeom prst="rect">
            <a:avLst/>
          </a:prstGeom>
          <a:solidFill>
            <a:srgbClr val="2C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5257800" cy="288036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478024"/>
            <a:ext cx="4928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D5FF"/>
                </a:solidFill>
                <a:latin typeface="Aptos"/>
              </a:rPr>
              <a:t>Kulcspont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971800"/>
            <a:ext cx="4928616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Windows Security, System és Application Event Log; folyamatindítási események; felhasználói bejelentkezések; szolgáltatások; hálózati kapcsolatok; fájlok és hash-ek.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331720"/>
            <a:ext cx="5257800" cy="288036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2478024"/>
            <a:ext cx="4928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D4B7"/>
                </a:solidFill>
                <a:latin typeface="Aptos"/>
              </a:rPr>
              <a:t>Mit jelent a gyakorlatban?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971800"/>
            <a:ext cx="4928616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Haladó kiegészítésként a Sysmon részletes rendszeraktivitást rögzíthet a Windows eseménynaplóba. A laborban ez opcionális, a natív Event Viewer is elegendő.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tanulói PPT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D5FF"/>
                </a:solidFill>
                <a:latin typeface="Aptos"/>
              </a:rPr>
              <a:t>TANULÓI JEGYZET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9. Linux bizonyítékforrások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8C7D9"/>
                </a:solidFill>
                <a:latin typeface="Aptos"/>
              </a:rPr>
              <a:t>A DOCX fejezetének vizuális, önállóan tanulható összefoglalója.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75688"/>
            <a:ext cx="1097280" cy="54864"/>
          </a:xfrm>
          <a:prstGeom prst="rect">
            <a:avLst/>
          </a:prstGeom>
          <a:solidFill>
            <a:srgbClr val="2C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5257800" cy="288036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478024"/>
            <a:ext cx="4928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D5FF"/>
                </a:solidFill>
                <a:latin typeface="Aptos"/>
              </a:rPr>
              <a:t>Kulcspont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971800"/>
            <a:ext cx="4928616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journalctl, /var/log/auth.log vagy disztribúciófüggő hitelesítési napló, Apache access/error log, shell history, systemd szolgáltatások, fájlidőbélyegek, processzek és hálózati socketek.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331720"/>
            <a:ext cx="5257800" cy="288036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2478024"/>
            <a:ext cx="4928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D4B7"/>
                </a:solidFill>
                <a:latin typeface="Aptos"/>
              </a:rPr>
              <a:t>Mit jelent a gyakorlatban?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971800"/>
            <a:ext cx="4928616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A napló helye disztribúciófüggő lehet, ezért mindig a tényleges környezetet ellenőrizzük.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tanulói PPT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D5FF"/>
                </a:solidFill>
                <a:latin typeface="Aptos"/>
              </a:rPr>
              <a:t>TANULÓI JEGYZET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10. Hálózati bizonyíték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8C7D9"/>
                </a:solidFill>
                <a:latin typeface="Aptos"/>
              </a:rPr>
              <a:t>A DOCX fejezetének vizuális, önállóan tanulható összefoglalója.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75688"/>
            <a:ext cx="1097280" cy="54864"/>
          </a:xfrm>
          <a:prstGeom prst="rect">
            <a:avLst/>
          </a:prstGeom>
          <a:solidFill>
            <a:srgbClr val="2C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5257800" cy="288036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478024"/>
            <a:ext cx="4928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D5FF"/>
                </a:solidFill>
                <a:latin typeface="Aptos"/>
              </a:rPr>
              <a:t>Kulcspont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971800"/>
            <a:ext cx="4928616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PCAP, DNS-kérések, TCP kapcsolatok, HTTP-kérések, ICMP, router/switch syslog és SPAN segítségével készített forgalmi minták.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331720"/>
            <a:ext cx="5257800" cy="288036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2478024"/>
            <a:ext cx="4928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D4B7"/>
                </a:solidFill>
                <a:latin typeface="Aptos"/>
              </a:rPr>
              <a:t>Mit jelent a gyakorlatban?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971800"/>
            <a:ext cx="4928616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A hálózati bizonyíték erőssége, hogy több végpont aktivitását ugyanazon idővonalon lehet összevetni.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tanulói PPT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D5FF"/>
                </a:solidFill>
                <a:latin typeface="Aptos"/>
              </a:rPr>
              <a:t>TANULÓI JEGYZET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11. Idővonal és korreláció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8C7D9"/>
                </a:solidFill>
                <a:latin typeface="Aptos"/>
              </a:rPr>
              <a:t>A DOCX fejezetének vizuális, önállóan tanulható összefoglalója.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75688"/>
            <a:ext cx="1097280" cy="54864"/>
          </a:xfrm>
          <a:prstGeom prst="rect">
            <a:avLst/>
          </a:prstGeom>
          <a:solidFill>
            <a:srgbClr val="2C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5257800" cy="288036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478024"/>
            <a:ext cx="4928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D5FF"/>
                </a:solidFill>
                <a:latin typeface="Aptos"/>
              </a:rPr>
              <a:t>Kulcspont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971800"/>
            <a:ext cx="4928616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Egyetlen log ritkán mond el mindent. A cél különböző források időbélyegeinek összekapcsolása: Windows esemény → DNS → HTTP → Apache log → fájl létrehozás → folyamatindítás.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331720"/>
            <a:ext cx="5257800" cy="288036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2478024"/>
            <a:ext cx="4928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D4B7"/>
                </a:solidFill>
                <a:latin typeface="Aptos"/>
              </a:rPr>
              <a:t>Mit jelent a gyakorlatban?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971800"/>
            <a:ext cx="4928616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Óraeltérés és időzóna hibás következtetéshez vezethet, ezért a labor előtt az időszinkront ellenőrizzük.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tanulói PPT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D5FF"/>
                </a:solidFill>
                <a:latin typeface="Aptos"/>
              </a:rPr>
              <a:t>TANULÓI JEGYZET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12. Autopsy – vizuális digitális forensics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8C7D9"/>
                </a:solidFill>
                <a:latin typeface="Aptos"/>
              </a:rPr>
              <a:t>A DOCX fejezetének vizuális, önállóan tanulható összefoglalója.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75688"/>
            <a:ext cx="1097280" cy="54864"/>
          </a:xfrm>
          <a:prstGeom prst="rect">
            <a:avLst/>
          </a:prstGeom>
          <a:solidFill>
            <a:srgbClr val="2C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5257800" cy="288036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478024"/>
            <a:ext cx="4928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D5FF"/>
                </a:solidFill>
                <a:latin typeface="Aptos"/>
              </a:rPr>
              <a:t>Kulcspont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971800"/>
            <a:ext cx="4928616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Az Autopsy nyílt forrású digitális forensics platform. Képes ügyek (cases) kezelésére, disk image, local disk és logical files/folders adatforrások elemzésére.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331720"/>
            <a:ext cx="5257800" cy="288036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2478024"/>
            <a:ext cx="4928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D4B7"/>
                </a:solidFill>
                <a:latin typeface="Aptos"/>
              </a:rPr>
              <a:t>Mit jelent a gyakorlatban?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971800"/>
            <a:ext cx="4928616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A modulban „Logical Files” adatforrással dolgozunk, így kis méretű, biztonságos oktatási bizonyítékcsomaggal lehet gyakorolni a hash, kulcsszókeresés, metaadat, fájltípus és jelentéskészítés folyamatát.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tanulói PPT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D5FF"/>
                </a:solidFill>
                <a:latin typeface="Aptos"/>
              </a:rPr>
              <a:t>TANULÓI JEGYZET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13. Incident report – mit kell bizonyítani?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8C7D9"/>
                </a:solidFill>
                <a:latin typeface="Aptos"/>
              </a:rPr>
              <a:t>A DOCX fejezetének vizuális, önállóan tanulható összefoglalója.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75688"/>
            <a:ext cx="1097280" cy="54864"/>
          </a:xfrm>
          <a:prstGeom prst="rect">
            <a:avLst/>
          </a:prstGeom>
          <a:solidFill>
            <a:srgbClr val="2C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5257800" cy="288036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478024"/>
            <a:ext cx="4928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D5FF"/>
                </a:solidFill>
                <a:latin typeface="Aptos"/>
              </a:rPr>
              <a:t>Kulcspont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971800"/>
            <a:ext cx="4928616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Egy jó jelentés válaszol: Mi történt? Mikor? Mely eszközök/fiókok érintettek? Milyen bizonyíték támasztja alá? Mi a kockázat? Mit tettünk? Mi lett az újrateszt eredménye?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331720"/>
            <a:ext cx="5257800" cy="288036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2478024"/>
            <a:ext cx="4928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D4B7"/>
                </a:solidFill>
                <a:latin typeface="Aptos"/>
              </a:rPr>
              <a:t>Mit jelent a gyakorlatban?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971800"/>
            <a:ext cx="4928616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A jelentésben a megfigyelt tényt külön kell választani a feltételezéstől. A bizonyítékra hivatkozás legyen konkrét: fájlnév, hash, log sor, Event ID, frame szám vagy időbélyeg.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tanulói PPT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D5FF"/>
                </a:solidFill>
                <a:latin typeface="Aptos"/>
              </a:rPr>
              <a:t>TANULÓI JEGYZET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14. Gyakori hibák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8C7D9"/>
                </a:solidFill>
                <a:latin typeface="Aptos"/>
              </a:rPr>
              <a:t>A DOCX fejezetének vizuális, önállóan tanulható összefoglalója.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75688"/>
            <a:ext cx="1097280" cy="54864"/>
          </a:xfrm>
          <a:prstGeom prst="rect">
            <a:avLst/>
          </a:prstGeom>
          <a:solidFill>
            <a:srgbClr val="2C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377440"/>
            <a:ext cx="10561320" cy="27432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523744"/>
            <a:ext cx="10232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D5FF"/>
                </a:solidFill>
                <a:latin typeface="Aptos"/>
              </a:rPr>
              <a:t>Lényeg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017520"/>
            <a:ext cx="10232136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Túl korán módosítani az érintett rendszert; bizonyítékot gyűjteni hash és jegyzőkönyv nélkül; időzónákat keverni; feltételezést tényként leírni; az események sorrendjét nem ellenőrizni; javítás után retestet kihagyni.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tanulói PPT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D5FF"/>
                </a:solidFill>
                <a:latin typeface="Aptos"/>
              </a:rPr>
              <a:t>GYAKORLATI SEGÉDLET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Gyors parancspuska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8C7D9"/>
                </a:solidFill>
                <a:latin typeface="Aptos"/>
              </a:rPr>
              <a:t>Nem bemagolni kell – azt jegyezd meg, milyen kérdésre ad választ.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75688"/>
            <a:ext cx="1097280" cy="54864"/>
          </a:xfrm>
          <a:prstGeom prst="rect">
            <a:avLst/>
          </a:prstGeom>
          <a:solidFill>
            <a:srgbClr val="2C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240280"/>
            <a:ext cx="3566160" cy="32004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2386584"/>
            <a:ext cx="32369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D5FF"/>
                </a:solidFill>
                <a:latin typeface="Aptos"/>
              </a:rPr>
              <a:t>WINDOWS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880360"/>
            <a:ext cx="3236976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Get-FileHash &lt;file&gt; -Algorithm SHA256
Get-WinEvent -LogName Security
Get-Process
Get-NetTCPConnection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2240280"/>
            <a:ext cx="3566160" cy="32004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2386584"/>
            <a:ext cx="32369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D4B7"/>
                </a:solidFill>
                <a:latin typeface="Aptos"/>
              </a:rPr>
              <a:t>LINUX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880360"/>
            <a:ext cx="3236976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sha256sum &lt;file&gt;
journalctl --since "10 min ago"
ps aux
ss -tulpn
tail -n 50 access.log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2240280"/>
            <a:ext cx="3566160" cy="32004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6448" y="2386584"/>
            <a:ext cx="32369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F43"/>
                </a:solidFill>
                <a:latin typeface="Aptos"/>
              </a:rPr>
              <a:t>WIRESHARK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2880360"/>
            <a:ext cx="3236976" cy="2450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dns
http
ip.addr == 10.13.12.20
tcp.stream eq 0
Follow TCP Stream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943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9FF"/>
                </a:solidFill>
                <a:latin typeface="Aptos"/>
              </a:rPr>
              <a:t>Labor topológia – 3 pod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D5FF"/>
                </a:solidFill>
                <a:latin typeface="Aptos"/>
              </a:rPr>
              <a:t>A saját pododban ugyanazt a DFIR folyamatot gyakorlod, mint a másik két csapat.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4709160"/>
            <a:ext cx="3337560" cy="128016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4855464"/>
            <a:ext cx="3008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D5FF"/>
                </a:solidFill>
                <a:latin typeface="Aptos"/>
              </a:rPr>
              <a:t>USER ZONE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5349240"/>
            <a:ext cx="300837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Windows kliens + Kali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4709160"/>
            <a:ext cx="3337560" cy="128016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4855464"/>
            <a:ext cx="3008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D4B7"/>
                </a:solidFill>
                <a:latin typeface="Aptos"/>
              </a:rPr>
              <a:t>SERVER ZONE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5349240"/>
            <a:ext cx="300837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Debian Apache + Syslog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3568" y="4709160"/>
            <a:ext cx="3337560" cy="128016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4855464"/>
            <a:ext cx="3008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F43"/>
                </a:solidFill>
                <a:latin typeface="Aptos"/>
              </a:rPr>
              <a:t>DFIR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5349240"/>
            <a:ext cx="300837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Autopsy + Wireshark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D5FF"/>
                </a:solidFill>
                <a:latin typeface="Aptos"/>
              </a:rPr>
              <a:t>GYAKORLATOK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A 9 labor röviden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8C7D9"/>
                </a:solidFill>
                <a:latin typeface="Aptos"/>
              </a:rPr>
              <a:t>Kezdetben vezetett, a végén önálló nyomozás.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75688"/>
            <a:ext cx="1097280" cy="54864"/>
          </a:xfrm>
          <a:prstGeom prst="rect">
            <a:avLst/>
          </a:prstGeom>
          <a:solidFill>
            <a:srgbClr val="2C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3429000" cy="9144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2203704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D5FF"/>
                </a:solidFill>
                <a:latin typeface="Aptos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697480"/>
            <a:ext cx="30998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Bizonyítékátvétel és SHA-256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057400"/>
            <a:ext cx="3429000" cy="9144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2203704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D4B7"/>
                </a:solidFill>
                <a:latin typeface="Aptos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697480"/>
            <a:ext cx="30998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Windows Event Log triage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057400"/>
            <a:ext cx="3429000" cy="9144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2203704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F43"/>
                </a:solidFill>
                <a:latin typeface="Aptos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2697480"/>
            <a:ext cx="30998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Linux és Apache log nyomozás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246120"/>
            <a:ext cx="3429000" cy="9144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3392424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D5FF"/>
                </a:solidFill>
                <a:latin typeface="Aptos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3886200"/>
            <a:ext cx="30998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Cisco syslog mint bizonyíték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3246120"/>
            <a:ext cx="3429000" cy="9144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9432" y="3392424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D4B7"/>
                </a:solidFill>
                <a:latin typeface="Aptos"/>
              </a:rPr>
              <a:t>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3886200"/>
            <a:ext cx="30998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SPAN + Wireshark forensics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246120"/>
            <a:ext cx="3429000" cy="9144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3392424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F43"/>
                </a:solidFill>
                <a:latin typeface="Aptos"/>
              </a:rPr>
              <a:t>6.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3886200"/>
            <a:ext cx="30998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Autopsy: Logical Files vizsgálat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434840"/>
            <a:ext cx="3429000" cy="9144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1" y="4581144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D5FF"/>
                </a:solidFill>
                <a:latin typeface="Aptos"/>
              </a:rPr>
              <a:t>7.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1" y="5074920"/>
            <a:ext cx="30998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Triage élő gépen: folyamatok és kapcsolatok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4434840"/>
            <a:ext cx="3429000" cy="9144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9432" y="4581144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D4B7"/>
                </a:solidFill>
                <a:latin typeface="Aptos"/>
              </a:rPr>
              <a:t>8.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2" y="5074920"/>
            <a:ext cx="30998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BLUE LANTERN: teljes incidensrekonstrukció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4434840"/>
            <a:ext cx="3429000" cy="9144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94192" y="4581144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F43"/>
                </a:solidFill>
                <a:latin typeface="Aptos"/>
              </a:rPr>
              <a:t>9.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5074920"/>
            <a:ext cx="309981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Mini CTF: „Éjféli műszak”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D5FF"/>
                </a:solidFill>
                <a:latin typeface="Aptos"/>
              </a:rPr>
              <a:t>ESZKÖZHASZNÁLAT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Autopsy workflow – 5 lépés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8C7D9"/>
                </a:solidFill>
                <a:latin typeface="Aptos"/>
              </a:rPr>
              <a:t>Logical Files eset a BLUE LANTERN bizonyítékcsomaggal.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75688"/>
            <a:ext cx="1097280" cy="54864"/>
          </a:xfrm>
          <a:prstGeom prst="rect">
            <a:avLst/>
          </a:prstGeom>
          <a:solidFill>
            <a:srgbClr val="2C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743200"/>
            <a:ext cx="1874519" cy="13716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889504"/>
            <a:ext cx="1545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D5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383280"/>
            <a:ext cx="154533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Create Case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2743200"/>
            <a:ext cx="1874519" cy="13716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2889504"/>
            <a:ext cx="1545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D4B7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4952" y="3383280"/>
            <a:ext cx="154533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Logical Files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60" y="2743200"/>
            <a:ext cx="1874519" cy="13716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0952" y="2889504"/>
            <a:ext cx="1545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F43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0952" y="3383280"/>
            <a:ext cx="154533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Ingest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2743200"/>
            <a:ext cx="1874519" cy="13716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16952" y="2889504"/>
            <a:ext cx="1545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77DDC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6952" y="3383280"/>
            <a:ext cx="154533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Search + Tag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38360" y="2743200"/>
            <a:ext cx="1874519" cy="13716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02952" y="2889504"/>
            <a:ext cx="1545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5D187"/>
                </a:solidFill>
                <a:latin typeface="Aptos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2952" y="3383280"/>
            <a:ext cx="154533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Report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D5FF"/>
                </a:solidFill>
                <a:latin typeface="Aptos"/>
              </a:rPr>
              <a:t>ÖNELLENŐRZÉS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Gyakorló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8C7D9"/>
                </a:solidFill>
                <a:latin typeface="Aptos"/>
              </a:rPr>
              <a:t>Próbáld meg előbb saját magad sorrendbe rakni, majd ellenőrizd a bizonyítékforrást.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75688"/>
            <a:ext cx="1097280" cy="54864"/>
          </a:xfrm>
          <a:prstGeom prst="rect">
            <a:avLst/>
          </a:prstGeom>
          <a:solidFill>
            <a:srgbClr val="2C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5166360" cy="9144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295144"/>
            <a:ext cx="48371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D5FF"/>
                </a:solidFill>
                <a:latin typeface="Aptos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788920"/>
            <a:ext cx="48371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HTTP GET /packages/agent_update.ps1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148840"/>
            <a:ext cx="5166360" cy="9144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1" y="2295144"/>
            <a:ext cx="48371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F43"/>
                </a:solidFill>
                <a:latin typeface="Aptos"/>
              </a:rP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1" y="2788920"/>
            <a:ext cx="48371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Windows 4688 / curl.exe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91840"/>
            <a:ext cx="5166360" cy="9144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438144"/>
            <a:ext cx="48371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D5FF"/>
                </a:solidFill>
                <a:latin typeface="Aptos"/>
              </a:rP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931920"/>
            <a:ext cx="48371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DNS query update-lab.local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291840"/>
            <a:ext cx="5166360" cy="9144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1" y="3438144"/>
            <a:ext cx="48371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F43"/>
                </a:solidFill>
                <a:latin typeface="Aptos"/>
              </a:rP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1" y="3931920"/>
            <a:ext cx="48371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Cisco marker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434840"/>
            <a:ext cx="5166360" cy="9144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581144"/>
            <a:ext cx="48371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D5FF"/>
                </a:solidFill>
                <a:latin typeface="Aptos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5074920"/>
            <a:ext cx="48371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Linux IRLAB marker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5321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B8C7D9"/>
                </a:solidFill>
                <a:latin typeface="Aptos"/>
              </a:rPr>
              <a:t>Helyes sorrendhez ne csak az esemény nevét, hanem az időbélyeget is keresd meg.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D5FF"/>
                </a:solidFill>
                <a:latin typeface="Aptos"/>
              </a:rPr>
              <a:t>ÖNELLENŐRZÉS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Vizsga előtti 10 kérdés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8C7D9"/>
                </a:solidFill>
                <a:latin typeface="Aptos"/>
              </a:rPr>
              <a:t>Ha ezekre saját szavaiddal válaszolsz, az elméleti rész rendben van.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75688"/>
            <a:ext cx="1097280" cy="54864"/>
          </a:xfrm>
          <a:prstGeom prst="rect">
            <a:avLst/>
          </a:prstGeom>
          <a:solidFill>
            <a:srgbClr val="2C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2194560"/>
            <a:ext cx="2057400" cy="132588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340864"/>
            <a:ext cx="17282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D5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834639"/>
            <a:ext cx="172821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DFIR jelentése?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2194560"/>
            <a:ext cx="2057400" cy="132588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9232" y="2340864"/>
            <a:ext cx="17282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D4B7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2" y="2834639"/>
            <a:ext cx="172821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Event vs incident?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59" y="2194560"/>
            <a:ext cx="2057400" cy="132588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0951" y="2340864"/>
            <a:ext cx="17282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F43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0951" y="2834639"/>
            <a:ext cx="172821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Hash szerepe?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194560"/>
            <a:ext cx="2057400" cy="132588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62671" y="2340864"/>
            <a:ext cx="17282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77DDC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62671" y="2834639"/>
            <a:ext cx="172821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Chain of custody?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29800" y="2194560"/>
            <a:ext cx="2057400" cy="132588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94392" y="2340864"/>
            <a:ext cx="17282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5D187"/>
                </a:solidFill>
                <a:latin typeface="Aptos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94392" y="2834639"/>
            <a:ext cx="172821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Volatile adat?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840480"/>
            <a:ext cx="2057400" cy="132588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986784"/>
            <a:ext cx="17282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D5FF"/>
                </a:solidFill>
                <a:latin typeface="Aptos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4480560"/>
            <a:ext cx="172821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4688 mire utal?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34639" y="3840480"/>
            <a:ext cx="2057400" cy="132588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99232" y="3986784"/>
            <a:ext cx="17282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D4B7"/>
                </a:solidFill>
                <a:latin typeface="Aptos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99232" y="4480560"/>
            <a:ext cx="172821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journalctl mire jó?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66359" y="3840480"/>
            <a:ext cx="2057400" cy="132588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30951" y="3986784"/>
            <a:ext cx="17282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F43"/>
                </a:solidFill>
                <a:latin typeface="Aptos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0951" y="4480560"/>
            <a:ext cx="172821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SPAN miért kell?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79" y="3840480"/>
            <a:ext cx="2057400" cy="132588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62671" y="3986784"/>
            <a:ext cx="17282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77DDC"/>
                </a:solidFill>
                <a:latin typeface="Aptos"/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62671" y="4480560"/>
            <a:ext cx="172821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Autopsy Logical Files?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29800" y="3840480"/>
            <a:ext cx="2057400" cy="132588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94392" y="3986784"/>
            <a:ext cx="17282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5D187"/>
                </a:solidFill>
                <a:latin typeface="Aptos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94392" y="4480560"/>
            <a:ext cx="172821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Miért retest?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73736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9FF"/>
                </a:solidFill>
                <a:latin typeface="Aptos"/>
              </a:rPr>
              <a:t>DFIR = bizonyítható történet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CD5FF"/>
                </a:solidFill>
                <a:latin typeface="Aptos"/>
              </a:rPr>
              <a:t>Gyűjtés → integritás → korreláció → döntés → remediation → retest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8C7D9"/>
                </a:solidFill>
                <a:latin typeface="Aptos"/>
              </a:rPr>
              <a:t>A részletesebb magyarázatokat a DOCX-ben találod; ezt a PPT-t gyors ismétléshez használd.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