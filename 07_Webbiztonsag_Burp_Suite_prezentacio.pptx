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B7E8"/>
          </a:solidFill>
          <a:ln w="12700">
            <a:solidFill>
              <a:srgbClr val="21B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F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modul • Webalkalmazás-biztonság és Burp Suite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tikus_hackeles_07_webbiztonsag_burp_suite_csomag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81B2B">
              <a:alpha val="90000"/>
            </a:srgbClr>
          </a:solidFill>
          <a:ln w="12700">
            <a:solidFill>
              <a:srgbClr val="081B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9601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Webalkalmazás-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biztonság és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Burp Suite alapok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85800" y="34015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DECF4"/>
                </a:solidFill>
              </a:rPr>
              <a:t>HTTP • Proxy • Repeater • hozzáférés-vezérlés • hardening • retest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4251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674B5">
              <a:alpha val="92000"/>
            </a:srgbClr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433425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07. MODUL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59152" y="42519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BA76C">
              <a:alpha val="92000"/>
            </a:srgbClr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32304" y="433425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ÉLŐ CISCO LABOR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425196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89326">
              <a:alpha val="92000"/>
            </a:srgbClr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2312" y="433425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KALI + BURP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C2"/>
                </a:solidFill>
              </a:rPr>
              <a:t>13. évfolyam • Informatikai rendszer- és alkalmazás-üzemeltető technikus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Mitől lesz ez több egy „webhack” bemutatónál?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cél a módszertan: scope → bizonyíték → hatás → javítás → retest.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411480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81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Értsd a forgalmat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3108960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böngésző, a proxy és a webkiszolgáló között ugyanaz a HTTP-kérés és -válasz halad. A Burp ezt teszi láthatóvá.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64008" cy="411480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81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Bizonyíts, ne találgass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039112"/>
            <a:ext cx="3108960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paraméter átírhatósága még nem finding. A válasznak tényleges, jogosulatlan hatást kell mutatnia.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64008" cy="41148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81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Javíts és tesztelj újra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3108960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szakmai munka nem ér véget a hibánál: konkrét kontrollt javaslunk, majd ugyanazzal a kéréssel retestet végzünk.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58978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4444"/>
                </a:solidFill>
              </a:rPr>
              <a:t>A modul csak zárt, engedélyezett MiniWebLab célponton fut.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webalkalmazás négy rétege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réteg külön biztonsági döntéseket hoz.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64008" cy="297180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Böngésző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21031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• JavaScript • űrlap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Módosítható kliensadat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880360"/>
            <a:ext cx="34747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63040"/>
            <a:ext cx="64008" cy="297180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276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Webkiszolgáló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084832"/>
            <a:ext cx="21031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• fejlécek • fájlok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Konfiguráció és kitettség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34747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46304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63040"/>
            <a:ext cx="64008" cy="297180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276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Alkalmazás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084832"/>
            <a:ext cx="21031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• API • üzleti logika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Jogosultság és bemenet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23960" y="2880360"/>
            <a:ext cx="34747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35440" y="1463040"/>
            <a:ext cx="2423160" cy="2971800"/>
          </a:xfrm>
          <a:prstGeom prst="roundRect">
            <a:avLst>
              <a:gd name="adj" fmla="val 3019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463040"/>
            <a:ext cx="64008" cy="29718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6276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2084832"/>
            <a:ext cx="21031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fájl • JSON • adatbázis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Adatminimalizálás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Kulcskérdés: melyik réteg bízik meg olyan adatban, amelyet a kliens szabadon megváltoztathat?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ugyanaz az adat három nézetben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Böngésző • Burp Proxy • Webalkalmazás</a:t>
            </a:r>
            <a:endParaRPr lang="en-US" sz="1050" dirty="0"/>
          </a:p>
        </p:txBody>
      </p:sp>
      <p:pic>
        <p:nvPicPr>
          <p:cNvPr id="4" name="Image 0" descr="/mnt/data/Etikus_hackeles_07_webbiztonsag_burp_suite_csomag/assets/http_anato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11274552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HTTP-kérés: mit olvassunk ki belőle?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kérés nem „szövegfal”: minden sora döntési pont.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6446520" cy="4480560"/>
          </a:xfrm>
          <a:prstGeom prst="roundRect">
            <a:avLst/>
          </a:prstGeom>
          <a:solidFill>
            <a:srgbClr val="E9EEF2"/>
          </a:solidFill>
          <a:ln w="19050">
            <a:solidFill>
              <a:srgbClr val="B8C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/minilab/profile.php?id=2 HTTP/1.1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10.7.20.10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Burp Browser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Cookie: lab_session=demo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text/html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60920" y="1325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325880"/>
            <a:ext cx="64008" cy="96012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4904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Metódus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1947672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POST / PUT: milyen műveletet kér a kliens?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2468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2468880"/>
            <a:ext cx="64008" cy="96012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6334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Útvonal és paraméter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3090672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Melyik erőforrás? Melyik adat módosítható?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3611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3611880"/>
            <a:ext cx="64008" cy="96012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37764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Fejlécek és cookie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4233672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Milyen állapotot és munkamenetet küldünk?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4754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4754880"/>
            <a:ext cx="64008" cy="96012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49194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ellenőrzés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43800" y="5376672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minden esetben 10.7.20.10 legyen.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HTTP-válasz: a szerver döntésének bizonyítéka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önmagában csak hipotézis; a response mutatja a hatást.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674B5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417320"/>
            <a:ext cx="64008" cy="86868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58191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Státuszkód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39112"/>
            <a:ext cx="96926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/ 302 / 403 / 404 / 500  →  Mi történt?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79192"/>
            <a:ext cx="502920" cy="502920"/>
          </a:xfrm>
          <a:prstGeom prst="ellipse">
            <a:avLst/>
          </a:prstGeom>
          <a:solidFill>
            <a:srgbClr val="31C3FF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17320" y="260604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606040"/>
            <a:ext cx="64008" cy="86868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7706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Fejlécek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227832"/>
            <a:ext cx="96926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Content-Type • CSP • X-Frame-Options  →  Hogyan kezelje a böngésző?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867912"/>
            <a:ext cx="502920" cy="502920"/>
          </a:xfrm>
          <a:prstGeom prst="ellipse">
            <a:avLst/>
          </a:prstGeom>
          <a:solidFill>
            <a:srgbClr val="E89326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17320" y="379476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794760"/>
            <a:ext cx="64008" cy="86868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95935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Munkamenet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416552"/>
            <a:ext cx="96926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Set-Cookie • HttpOnly • SameSite  →  Milyen állapotot ad a szerver?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56632"/>
            <a:ext cx="502920" cy="502920"/>
          </a:xfrm>
          <a:prstGeom prst="ellipse">
            <a:avLst/>
          </a:prstGeom>
          <a:solidFill>
            <a:srgbClr val="2BA76C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17320" y="498348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4983480"/>
            <a:ext cx="64008" cy="86868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514807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Választörzs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605272"/>
            <a:ext cx="96926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• JSON • hibaüzenet  →  Milyen adat került vissza?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és munkamenet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cookie gyakran maga a hozzáférés kulcsa.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425196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361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31546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böngészőben futó JavaScript nem olvashatja közvetlenül.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helyettesíti a szerveroldali hozzáférés-vezérlést.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371600"/>
            <a:ext cx="64008" cy="425196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361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SameSite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993392"/>
            <a:ext cx="31546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Csökkenti a más webhelyről indított kéretlen kérések kockázatát.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alkalmazás működéséhez illeszkedő érték kell.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371600"/>
            <a:ext cx="64008" cy="425196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5361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1993392"/>
            <a:ext cx="315468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cookie csak HTTPS-kapcsolaton továbbítható.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HTTP-s oktatólaborban a működést külön kell értelmezni.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10:2025 - megfigyelési térkép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tíz exploit, hanem tíz kockázati terület.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057400" cy="160020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C5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81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4444"/>
                </a:solidFill>
              </a:rPr>
              <a:t>A01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Broken Access Control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2057400" cy="160020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E89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581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326"/>
                </a:solidFill>
              </a:rPr>
              <a:t>A02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 Misconfiguration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66360" y="1417320"/>
            <a:ext cx="2057400" cy="160020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FFD6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581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6B"/>
                </a:solidFill>
              </a:rPr>
              <a:t>A03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20116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Software Supply Chain Failures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2057400" cy="160020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2BA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581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A76C"/>
                </a:solidFill>
              </a:rPr>
              <a:t>A04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0116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Cryptographic Failures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29800" y="1417320"/>
            <a:ext cx="2057400" cy="160020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31C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581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C3FF"/>
                </a:solidFill>
              </a:rPr>
              <a:t>A05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66960" y="20116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Injection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2057400" cy="1600200"/>
          </a:xfrm>
          <a:prstGeom prst="roundRect">
            <a:avLst/>
          </a:prstGeom>
          <a:solidFill>
            <a:srgbClr val="10293A"/>
          </a:solidFill>
          <a:ln w="25400">
            <a:solidFill>
              <a:srgbClr val="C5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4444"/>
                </a:solidFill>
              </a:rPr>
              <a:t>A06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Insecure Design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34640" y="3474720"/>
            <a:ext cx="2057400" cy="1600200"/>
          </a:xfrm>
          <a:prstGeom prst="roundRect">
            <a:avLst/>
          </a:prstGeom>
          <a:solidFill>
            <a:srgbClr val="10293A"/>
          </a:solidFill>
          <a:ln w="25400">
            <a:solidFill>
              <a:srgbClr val="E893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326"/>
                </a:solidFill>
              </a:rPr>
              <a:t>A07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71800" y="40690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Authentication Failures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66360" y="3474720"/>
            <a:ext cx="2057400" cy="1600200"/>
          </a:xfrm>
          <a:prstGeom prst="roundRect">
            <a:avLst/>
          </a:prstGeom>
          <a:solidFill>
            <a:srgbClr val="10293A"/>
          </a:solidFill>
          <a:ln w="25400">
            <a:solidFill>
              <a:srgbClr val="FFD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6B"/>
                </a:solidFill>
              </a:rPr>
              <a:t>A08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40690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Software/Data Integrity Failures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0" y="3474720"/>
            <a:ext cx="2057400" cy="1600200"/>
          </a:xfrm>
          <a:prstGeom prst="roundRect">
            <a:avLst/>
          </a:prstGeom>
          <a:solidFill>
            <a:srgbClr val="10293A"/>
          </a:solidFill>
          <a:ln w="25400">
            <a:solidFill>
              <a:srgbClr val="2BA7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A76C"/>
                </a:solidFill>
              </a:rPr>
              <a:t>A09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35240" y="40690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Logging &amp; Alerting Failures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829800" y="3474720"/>
            <a:ext cx="2057400" cy="1600200"/>
          </a:xfrm>
          <a:prstGeom prst="roundRect">
            <a:avLst/>
          </a:prstGeom>
          <a:solidFill>
            <a:srgbClr val="10293A"/>
          </a:solidFill>
          <a:ln w="25400">
            <a:solidFill>
              <a:srgbClr val="31C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3639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C3FF"/>
                </a:solidFill>
              </a:rPr>
              <a:t>A10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66960" y="4069080"/>
            <a:ext cx="1783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Exceptional Conditions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" y="5806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ECF4"/>
                </a:solidFill>
              </a:rPr>
              <a:t>A modul kiemelten: A01 hozzáférés-vezérlés • A02 félrekonfigurálás • A05 injekció/kimenetkezelés • A07 hitelesítés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Vizsgálati munkafolyamat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lépésnek van döntése és leadandó bizonyítéka.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8408" y="1508760"/>
            <a:ext cx="731520" cy="731520"/>
          </a:xfrm>
          <a:prstGeom prst="ellipse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83080" y="1874520"/>
            <a:ext cx="50292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64008" cy="228600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IP, port, útvonal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1508760"/>
            <a:ext cx="731520" cy="731520"/>
          </a:xfrm>
          <a:prstGeom prst="ellipse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864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03320" y="1874520"/>
            <a:ext cx="50292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514600"/>
            <a:ext cx="64008" cy="228600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Alapvonal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032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+ normál böngészés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8888" y="1508760"/>
            <a:ext cx="731520" cy="731520"/>
          </a:xfrm>
          <a:prstGeom prst="ellipse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23560" y="1874520"/>
            <a:ext cx="50292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9768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514600"/>
            <a:ext cx="64008" cy="228600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 megfigyelés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8056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+ Site map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39128" y="1508760"/>
            <a:ext cx="731520" cy="731520"/>
          </a:xfrm>
          <a:prstGeom prst="ellipse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43800" y="1874520"/>
            <a:ext cx="50292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514600"/>
            <a:ext cx="64008" cy="228600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Kézi teszt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Repeater, egy hipotézis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59368" y="1508760"/>
            <a:ext cx="731520" cy="731520"/>
          </a:xfrm>
          <a:prstGeom prst="ellipse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936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464040" y="1874520"/>
            <a:ext cx="50292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3816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2514600"/>
            <a:ext cx="64008" cy="22860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Javítás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2104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Szerveroldali kontroll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579608" y="1508760"/>
            <a:ext cx="731520" cy="731520"/>
          </a:xfrm>
          <a:prstGeom prst="ellipse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9608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058400" y="251460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0" y="2514600"/>
            <a:ext cx="64008" cy="22860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0" y="26791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241280" y="3136392"/>
            <a:ext cx="14630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Ugyanaz a kérés újra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286000" y="5349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4444"/>
                </a:solidFill>
              </a:rPr>
              <a:t>Stop-feltétel: scope-sértés, éles adat, instabil célgép vagy tanári leállítás.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 Suite: a böngésző és a szerver között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Kézi vizsgálat Community Editionnel.</a:t>
            </a:r>
            <a:endParaRPr lang="en-US" sz="1050" dirty="0"/>
          </a:p>
        </p:txBody>
      </p:sp>
      <p:pic>
        <p:nvPicPr>
          <p:cNvPr id="4" name="Image 0" descr="/mnt/data/Etikus_hackeles_07_webbiztonsag_burp_suite_csomag/assets/prox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1136599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257800"/>
            <a:ext cx="11365992" cy="1051560"/>
          </a:xfrm>
          <a:prstGeom prst="rect">
            <a:avLst/>
          </a:prstGeom>
          <a:solidFill>
            <a:srgbClr val="081B2B">
              <a:alpha val="82000"/>
            </a:srgbClr>
          </a:solidFill>
          <a:ln w="12700">
            <a:solidFill>
              <a:srgbClr val="081B2B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532120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Proxy: elfog és naplóz  •  Target: scope és site map  •  Repeater: ellenőrzött újraküldés  •  Inspector: paraméterek és fejlécek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 gyorsútvonal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programhasználat külön dokumentumban részletesen szerepel.</a:t>
            </a:r>
            <a:endParaRPr lang="en-US" sz="1050" dirty="0"/>
          </a:p>
        </p:txBody>
      </p:sp>
      <p:pic>
        <p:nvPicPr>
          <p:cNvPr id="4" name="Image 0" descr="/mnt/data/Etikus_hackeles_07_webbiztonsag_burp_suite_csomag/assets/burp_ui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183112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a legfontosabb technikai és etikai kontroll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jó scope gépileg szűrhető és emberileg egyértelmű.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64008" cy="347472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ENGEDÉLYEZETT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892040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http://10.7.20.10/minilab/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TCP/80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MiniWebLab útvonalak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Tanári utasítás szerinti laborkérések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64008" cy="347472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84832"/>
            <a:ext cx="4892040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és külső domainek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Iskolai éles weboldal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Másik tanuló személyes szolgáltatása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Engedély nélküli port vagy IP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5349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C3FF"/>
                </a:solidFill>
              </a:rPr>
              <a:t>Burp: Target &gt; Site map &gt; Add to scope  |  Proxy &gt; HTTP history &gt; Show only in-scope items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Élő eszközös labor: 3 zóna, 3 router, 3 switch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webbiztonsági vizsgálat valódi routingon és fizikai eszközökön halad át.</a:t>
            </a:r>
            <a:endParaRPr lang="en-US" sz="1050" dirty="0"/>
          </a:p>
        </p:txBody>
      </p:sp>
      <p:pic>
        <p:nvPicPr>
          <p:cNvPr id="4" name="Image 0" descr="/mnt/data/Etikus_hackeles_07_webbiztonsag_burp_suite_csomag/assets/top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07008"/>
            <a:ext cx="11365992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Tanári előkészítés - mi legyen kész az óra előtt?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külön checklist minden lépést kipipálhatóan tartalmaz.</a:t>
            </a:r>
            <a:endParaRPr lang="en-US" sz="1050" dirty="0"/>
          </a:p>
        </p:txBody>
      </p:sp>
      <p:pic>
        <p:nvPicPr>
          <p:cNvPr id="4" name="Image 0" descr="/mnt/data/Etikus_hackeles_07_webbiztonsag_burp_suite_csomag/assets/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34440"/>
            <a:ext cx="516636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234440"/>
            <a:ext cx="5166360" cy="5166360"/>
          </a:xfrm>
          <a:prstGeom prst="rect">
            <a:avLst/>
          </a:prstGeom>
          <a:solidFill>
            <a:srgbClr val="081B2B">
              <a:alpha val="65000"/>
            </a:srgbClr>
          </a:solidFill>
          <a:ln w="12700">
            <a:solidFill>
              <a:srgbClr val="081B2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25880"/>
            <a:ext cx="64008" cy="100584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49047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Hálózat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947672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Útvonalak, ACL-ek, internetes uplink hiánya, ping hoponként.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560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560320"/>
            <a:ext cx="64008" cy="100584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7249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Debian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3182112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10.7.20.10 • Apache • PHP • MiniWebLab • snapshot.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" y="37947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794760"/>
            <a:ext cx="64008" cy="100584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95935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Kali / Burp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4416552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project • Open browser • scope • snapshot.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" y="5029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5029200"/>
            <a:ext cx="64008" cy="100584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19379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Monitoring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7240" y="5650992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célport • Wireshark interfész • access.log követés.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MiniWebLab: offline, reprodukálható, visszaállítható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Nincs adatbázis és nincs internetfüggőség.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" cy="118872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profile.php?id=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Objektumazonosító és hozzáférés-vezérlés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64008" cy="118872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90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api/order.php?id=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4767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API és IDOR-bizonyíték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FFD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64008" cy="1188720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92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coupon.php?level=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45643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Kliens által vezérelt jogosultság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834640"/>
            <a:ext cx="64008" cy="118872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9992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search.php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45643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Reflektált bemenet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343400"/>
            <a:ext cx="64008" cy="118872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07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search_fixed.php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96519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Kimenetkódolás és retest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343400"/>
            <a:ext cx="64008" cy="118872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507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headers.php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496519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Válaszfejlécek és hardening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ECF4"/>
                </a:solidFill>
              </a:rPr>
              <a:t>Telepítés: sudo ./telepites_minilab.sh  •  Hardening: sudo ./aktivalt_biztonsagi_fejlecek.sh  •  Reset: sudo ./visszaallitas.sh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egymásra épülő labor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feladatban külön szerepel a tanári előkészítés és a leadandó bizonyíték.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1674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4B5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Topológia +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31C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C3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curl alapvonal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132588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E89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26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Burp Proxy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16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4B5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Repeater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31C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C3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Jogosultság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75320" y="2834640"/>
            <a:ext cx="3383280" cy="1097280"/>
          </a:xfrm>
          <a:prstGeom prst="roundRect">
            <a:avLst/>
          </a:prstGeom>
          <a:solidFill>
            <a:srgbClr val="102F45"/>
          </a:solidFill>
          <a:ln w="25400">
            <a:solidFill>
              <a:srgbClr val="E893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26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Kimenetkódolás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3383280" cy="109728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1674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74B5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5902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Fejlécek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4343400"/>
            <a:ext cx="3383280" cy="109728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31C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C3FF"/>
                </a:solidFill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45902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SPAN + Wireshark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75320" y="4343400"/>
            <a:ext cx="3383280" cy="1097280"/>
          </a:xfrm>
          <a:prstGeom prst="roundRect">
            <a:avLst/>
          </a:prstGeom>
          <a:solidFill>
            <a:srgbClr val="0E2E45"/>
          </a:solidFill>
          <a:ln w="25400">
            <a:solidFill>
              <a:srgbClr val="E893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326"/>
                </a:solidFill>
              </a:rPr>
              <a:t>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69680" y="45902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Mini CTF + riport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Hibás hozzáférés-vezérlés: IDOR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szerver objektumot ad vissza, de nem ellenőrzi, ki kérte.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Normál kérés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06324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/profile.php?id=1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Válasz: a saját / engedélyezett mintaobjektum.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24528" y="3200400"/>
            <a:ext cx="57607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417320"/>
            <a:ext cx="64008" cy="356616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81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Paraméterváltozás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39112"/>
            <a:ext cx="242316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id=1 → id=2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Repeater ugyanazt a kérést küldi újra.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18120" y="3200400"/>
            <a:ext cx="54864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58200" y="141732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417320"/>
            <a:ext cx="64008" cy="356616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1581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Bizonyíték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41080" y="2039112"/>
            <a:ext cx="274320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más felhasználó adata érkezik vissza 403 helyett, a hozzáférés-vezérlés hibás.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5440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A76C"/>
                </a:solidFill>
              </a:rPr>
              <a:t>Javítás: szerveroldali tulajdon- és szerepkör-ellenőrzés minden objektumlekérésnél.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Reflektált bemenet: a kimenetkezelés a kulcs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tanuló a sérülékeny és a javított változatot hasonlítja össze.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" cy="434340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Sérülékeny search.php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484632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 paraméter közvetlenül bekerül a HTML-be.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böngésző a speciális karaktereket jelölésként értelmezheti.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Tanári demonstráció: a hatás megfigyelése kizárólag a MiniWebLabban.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6792" y="132588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325880"/>
            <a:ext cx="64008" cy="43434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490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Javított search_fixed.php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947672"/>
            <a:ext cx="484632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kimenet kontextushoz illeszkedő HTML-kódolást kap.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Ugyanaz a bemenet szövegként jelenik meg.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Retest: ugyanaz a kérés, eltérő biztonsági eredmény.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Biztonsági fejlécek: hardening és retest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fejléc fontos védelmi réteg - de nem javítja meg az üzleti logikát.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160020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X-Content-Type-Options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sniffing csökkentése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17320"/>
            <a:ext cx="64008" cy="160020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819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X-Frame-Options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039112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Beágyazás / clickjacking korlátozása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74720"/>
            <a:ext cx="64008" cy="160020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39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Referrer-Policy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096512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Hivatkozási adatok kontrollja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474720"/>
            <a:ext cx="64008" cy="16002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6393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Content-Security-Policy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096512"/>
            <a:ext cx="47548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Erőforrások és script végrehajtás korlátozása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71500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Előtte: curl -I / Burp Response  →  tanári hardening script  →  ugyanaz a kérés újra  →  bizonyított retest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Ugyanaz a kérés három bizonyítékforrásban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hálózati és alkalmazásüzemeltető tudás összeér.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388620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2971800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Teljes HTTP request/response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• paraméter • fejléc • választest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64008" cy="388620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819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2971800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SW2 SPAN portra tükrözött TCP/HTTP forgalom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• port • időpont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64008" cy="38862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819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039112"/>
            <a:ext cx="2971800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Szerveroldali access.log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Kliens IP • URI • státuszkód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023360" y="3383280"/>
            <a:ext cx="32004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3383280"/>
            <a:ext cx="320040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965960" y="5715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C3FF"/>
                </a:solidFill>
              </a:rPr>
              <a:t>Korreláció = ugyanaz az időpont + kliens IP + URI + státuszkód.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vagy csak megfigyelés?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technikai részlet csak akkor érték, ha reprodukálható hatást bizonyít.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0E2E45"/>
          </a:solidFill>
          <a:ln w="16510">
            <a:solidFill>
              <a:srgbClr val="FFD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64008" cy="3611880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MEGFIGYELÉS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30552"/>
            <a:ext cx="17373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„Az id paraméter átírható.”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3246120"/>
            <a:ext cx="21031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24912" y="150876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508760"/>
            <a:ext cx="64008" cy="361188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ELLENŐRZÉS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07792" y="2130552"/>
            <a:ext cx="17373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id=2 más profiladatot 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28032" y="3246120"/>
            <a:ext cx="21031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50876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508760"/>
            <a:ext cx="64008" cy="361188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66944" y="2130552"/>
            <a:ext cx="17373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Jogosulatlan adathozzáférés + bizonyíték + hatás.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87184" y="3246120"/>
            <a:ext cx="21031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43216" y="150876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1508760"/>
            <a:ext cx="64008" cy="361188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JAVÍTÁS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26096" y="2130552"/>
            <a:ext cx="17373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Tulajdonellenőrzés + 403.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46336" y="3246120"/>
            <a:ext cx="210312" cy="0"/>
          </a:xfrm>
          <a:prstGeom prst="line">
            <a:avLst/>
          </a:prstGeom>
          <a:noFill/>
          <a:ln w="38100">
            <a:solidFill>
              <a:srgbClr val="31C3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02368" y="150876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02368" y="1508760"/>
            <a:ext cx="64008" cy="361188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85248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85248" y="2130552"/>
            <a:ext cx="17373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Ugyanaz a kérés már nem működik.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CTF: öt flag, öt külön bizonyíték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 csak akkor ér pontot, ha reprodukálható a megtalálása.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115568" y="1417320"/>
            <a:ext cx="777240" cy="777240"/>
          </a:xfrm>
          <a:prstGeom prst="ellipse">
            <a:avLst/>
          </a:prstGeom>
          <a:solidFill>
            <a:srgbClr val="1674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E2E45"/>
          </a:solidFill>
          <a:ln w="16510">
            <a:solidFill>
              <a:srgbClr val="1674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64008" cy="2377440"/>
          </a:xfrm>
          <a:prstGeom prst="rect">
            <a:avLst/>
          </a:prstGeom>
          <a:solidFill>
            <a:srgbClr val="1674B5"/>
          </a:solidFill>
          <a:ln w="12700">
            <a:solidFill>
              <a:srgbClr val="16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334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16002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1417320"/>
            <a:ext cx="777240" cy="777240"/>
          </a:xfrm>
          <a:prstGeom prst="ellipse">
            <a:avLst/>
          </a:prstGeom>
          <a:solidFill>
            <a:srgbClr val="31C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880360" y="24688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E2E45"/>
          </a:solidFill>
          <a:ln w="16510">
            <a:solidFill>
              <a:srgbClr val="31C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468880"/>
            <a:ext cx="64008" cy="2377440"/>
          </a:xfrm>
          <a:prstGeom prst="rect">
            <a:avLst/>
          </a:prstGeom>
          <a:solidFill>
            <a:srgbClr val="31C3FF"/>
          </a:solidFill>
          <a:ln w="12700">
            <a:solidFill>
              <a:srgbClr val="31C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6334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Válaszfejléc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3090672"/>
            <a:ext cx="16002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X-Lab-Hint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79008" y="1417320"/>
            <a:ext cx="777240" cy="777240"/>
          </a:xfrm>
          <a:prstGeom prst="ellipse">
            <a:avLst/>
          </a:prstGeom>
          <a:solidFill>
            <a:srgbClr val="E893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3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212080" y="24688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E2E45"/>
          </a:solidFill>
          <a:ln w="16510">
            <a:solidFill>
              <a:srgbClr val="E893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468880"/>
            <a:ext cx="64008" cy="2377440"/>
          </a:xfrm>
          <a:prstGeom prst="rect">
            <a:avLst/>
          </a:prstGeom>
          <a:solidFill>
            <a:srgbClr val="E89326"/>
          </a:solidFill>
          <a:ln w="12700">
            <a:solidFill>
              <a:srgbClr val="E893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6334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3090672"/>
            <a:ext cx="16002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elrejtett útvonal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10728" y="1417320"/>
            <a:ext cx="777240" cy="777240"/>
          </a:xfrm>
          <a:prstGeom prst="ellipse">
            <a:avLst/>
          </a:prstGeom>
          <a:solidFill>
            <a:srgbClr val="C5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543800" y="24688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E2E45"/>
          </a:solidFill>
          <a:ln w="16510">
            <a:solidFill>
              <a:srgbClr val="C5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468880"/>
            <a:ext cx="64008" cy="2377440"/>
          </a:xfrm>
          <a:prstGeom prst="rect">
            <a:avLst/>
          </a:prstGeom>
          <a:solidFill>
            <a:srgbClr val="C54444"/>
          </a:solidFill>
          <a:ln w="12700">
            <a:solidFill>
              <a:srgbClr val="C5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6334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azonosító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3090672"/>
            <a:ext cx="16002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id=3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42448" y="1417320"/>
            <a:ext cx="777240" cy="777240"/>
          </a:xfrm>
          <a:prstGeom prst="ellipse">
            <a:avLst/>
          </a:prstGeom>
          <a:solidFill>
            <a:srgbClr val="2BA7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4244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9875520" y="24688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E2E45"/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0" y="2468880"/>
            <a:ext cx="64008" cy="237744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263347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Jogosultsági paraméter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0" y="3090672"/>
            <a:ext cx="16002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level=teacher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53949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Leadandó: URL + módszer + kérés/válasz vagy forrás + legalább két javítási javaslat.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rövid webbiztonsági jelentés szerkezete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oktató is reprodukálni tudja belőle a vizsgálatot.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1674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4B5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Vezetői összefoglaló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32588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2BA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A76C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86600" y="1600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Scope és korlátozások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167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4B5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017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Topológia és környezet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274320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2BA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A76C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3017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Findings: bizonyíték + hatás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16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4B5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Javítás és prioritás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4160520"/>
            <a:ext cx="5166360" cy="1024128"/>
          </a:xfrm>
          <a:prstGeom prst="roundRect">
            <a:avLst/>
          </a:prstGeom>
          <a:solidFill>
            <a:srgbClr val="0E2E45"/>
          </a:solidFill>
          <a:ln w="22860">
            <a:solidFill>
              <a:srgbClr val="2BA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A76C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Retest és mellékletek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5806440"/>
            <a:ext cx="8915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C3FF"/>
                </a:solidFill>
              </a:rPr>
              <a:t>Jó riport = nem ijesztget, nem túloz, és világos javítási útvonalat 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tikus_hackeles_07_webbiztonsag_burp_suite_csomag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B">
              <a:alpha val="68000"/>
            </a:srgbClr>
          </a:solidFill>
          <a:ln w="12700">
            <a:solidFill>
              <a:srgbClr val="081B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40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Modulzárás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" y="1554480"/>
            <a:ext cx="59436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HTTP-kérést és választ értelmezünk.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Burpben scope-ot, Proxy-t és Repeater-t használunk.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Hozzáférés-vezérlési és kimenetkezelési problémát bizonyítunk.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Élő Cisco topológián SPAN-nal és naplóval korrelálunk.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Javítást javaslunk és retestet végzünk.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0A2436">
              <a:alpha val="92000"/>
            </a:srgbClr>
          </a:solidFill>
          <a:ln w="16510">
            <a:solidFill>
              <a:srgbClr val="2BA76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0" y="1554480"/>
            <a:ext cx="64008" cy="3200400"/>
          </a:xfrm>
          <a:prstGeom prst="rect">
            <a:avLst/>
          </a:prstGeom>
          <a:solidFill>
            <a:srgbClr val="2BA76C"/>
          </a:solidFill>
          <a:ln w="12700">
            <a:solidFill>
              <a:srgbClr val="2BA7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719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2176272"/>
            <a:ext cx="3657600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finding címe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bizonyíték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javítás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retest-lépés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D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Scope: melyik IP/útvonal volt engedélyezett?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43000" y="55321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C3FF"/>
                </a:solidFill>
              </a:rPr>
              <a:t>Következő lépés: webes sérülékenységek mélyebb, kontrollált gyakorlása és szakmai riportálása.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7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Etikus hackelés tananyag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Webalkalmazás-biztonság és Burp Suite alapok</dc:title>
  <dc:subject>07. modul - Webalkalmazás-biztonság és Burp Suite alapok</dc:subject>
  <dc:creator>OpenAI</dc:creator>
  <cp:lastModifiedBy>OpenAI</cp:lastModifiedBy>
  <cp:revision>1</cp:revision>
  <dcterms:created xsi:type="dcterms:W3CDTF">2026-08-08T16:31:29Z</dcterms:created>
  <dcterms:modified xsi:type="dcterms:W3CDTF">2026-08-08T16:31:29Z</dcterms:modified>
</cp:coreProperties>
</file>