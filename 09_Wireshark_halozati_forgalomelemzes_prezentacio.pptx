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2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Etikus_hackeles_09_wireshark_csomag/assets/cover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111D">
              <a:alpha val="72000"/>
            </a:srgbClr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40080" y="5029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8D9"/>
                </a:solidFill>
              </a:rPr>
              <a:t>09. MODUL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640080" y="914400"/>
            <a:ext cx="54864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F5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Wireshark és</a:t>
            </a:r>
            <a:endParaRPr lang="en-US" sz="3100" dirty="0"/>
          </a:p>
          <a:p>
            <a:pPr indent="0" marL="0">
              <a:buNone/>
            </a:pPr>
            <a:r>
              <a:rPr lang="en-US" sz="3100" b="1" dirty="0">
                <a:solidFill>
                  <a:srgbClr val="F5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hálózati forgalomelemzés</a:t>
            </a:r>
            <a:endParaRPr lang="en-US" sz="3100" dirty="0"/>
          </a:p>
        </p:txBody>
      </p:sp>
      <p:sp>
        <p:nvSpPr>
          <p:cNvPr id="6" name="Text 3"/>
          <p:cNvSpPr/>
          <p:nvPr/>
        </p:nvSpPr>
        <p:spPr>
          <a:xfrm>
            <a:off x="658368" y="2331720"/>
            <a:ext cx="6035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DCE4"/>
                </a:solidFill>
              </a:rPr>
              <a:t>Csomagszintű bizonyíték • Cisco SPAN • TShark • PCAP incidenselemzés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58368" y="3246120"/>
            <a:ext cx="1234440" cy="310896"/>
          </a:xfrm>
          <a:prstGeom prst="roundRect">
            <a:avLst/>
          </a:prstGeom>
          <a:solidFill>
            <a:srgbClr val="0D2837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04088" y="3310128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B8D9"/>
                </a:solidFill>
              </a:rPr>
              <a:t>CAPTURE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1993392" y="3246120"/>
            <a:ext cx="1234440" cy="310896"/>
          </a:xfrm>
          <a:prstGeom prst="roundRect">
            <a:avLst/>
          </a:prstGeom>
          <a:solidFill>
            <a:srgbClr val="0D2837"/>
          </a:solidFill>
          <a:ln w="12700">
            <a:solidFill>
              <a:srgbClr val="26C28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039112" y="3310128"/>
            <a:ext cx="1143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6C281"/>
                </a:solidFill>
              </a:rPr>
              <a:t>FILTER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3328416" y="3246120"/>
            <a:ext cx="1097280" cy="310896"/>
          </a:xfrm>
          <a:prstGeom prst="roundRect">
            <a:avLst/>
          </a:prstGeom>
          <a:solidFill>
            <a:srgbClr val="0D2837"/>
          </a:solidFill>
          <a:ln w="12700">
            <a:solidFill>
              <a:srgbClr val="F2B13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374136" y="3310128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2B134"/>
                </a:solidFill>
              </a:rPr>
              <a:t>SPAN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4526280" y="3246120"/>
            <a:ext cx="1417320" cy="310896"/>
          </a:xfrm>
          <a:prstGeom prst="roundRect">
            <a:avLst/>
          </a:prstGeom>
          <a:solidFill>
            <a:srgbClr val="0D2837"/>
          </a:solidFill>
          <a:ln w="12700">
            <a:solidFill>
              <a:srgbClr val="E85B5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72000" y="3310128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85B5B"/>
                </a:solidFill>
              </a:rPr>
              <a:t>EVIDENCE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658368" y="6172200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EB2BE"/>
                </a:solidFill>
              </a:rPr>
              <a:t>13. évfolyam • Informatikai rendszer- és alkalmazás-üzemeltető technikus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2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B8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09. MODUL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438912"/>
            <a:ext cx="11247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5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Mit viszünk tovább a hálózati alapismeretekből?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320040" y="6537960"/>
            <a:ext cx="3200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88494"/>
                </a:solidFill>
              </a:rPr>
              <a:t>ETIKUS HACKELÉS • 13. évfolyam</a:t>
            </a:r>
            <a:endParaRPr lang="en-US" sz="65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2743200" cy="1828800"/>
          </a:xfrm>
          <a:prstGeom prst="roundRect">
            <a:avLst>
              <a:gd name="adj" fmla="val 4000"/>
            </a:avLst>
          </a:prstGeom>
          <a:solidFill>
            <a:srgbClr val="0D2837">
              <a:alpha val="97000"/>
            </a:srgbClr>
          </a:solidFill>
          <a:ln w="13970">
            <a:solidFill>
              <a:srgbClr val="00B8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57784" y="1280160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0B8D9"/>
                </a:solidFill>
              </a:rPr>
              <a:t>Nem újra tanuljuk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57784" y="1645920"/>
            <a:ext cx="2450592" cy="1207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B9C7D1"/>
                </a:solidFill>
              </a:rPr>
              <a:t>IP, port, TCP/UDP, DNS és routing már ismerős. Most ezeket a vezetéken megjelenő csomagokban azonosítjuk.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383280" y="1143000"/>
            <a:ext cx="2743200" cy="1828800"/>
          </a:xfrm>
          <a:prstGeom prst="roundRect">
            <a:avLst>
              <a:gd name="adj" fmla="val 4000"/>
            </a:avLst>
          </a:prstGeom>
          <a:solidFill>
            <a:srgbClr val="0D2837">
              <a:alpha val="97000"/>
            </a:srgbClr>
          </a:solidFill>
          <a:ln w="13970">
            <a:solidFill>
              <a:srgbClr val="26C2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29584" y="1280160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26C281"/>
                </a:solidFill>
              </a:rPr>
              <a:t>Megfigyelési pont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529584" y="1645920"/>
            <a:ext cx="2450592" cy="1207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B9C7D1"/>
                </a:solidFill>
              </a:rPr>
              <a:t>Ugyanaz a hálózat mást mutat kliensről, szerverről vagy SPAN monitorportról.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355080" y="1143000"/>
            <a:ext cx="2743200" cy="1828800"/>
          </a:xfrm>
          <a:prstGeom prst="roundRect">
            <a:avLst>
              <a:gd name="adj" fmla="val 4000"/>
            </a:avLst>
          </a:prstGeom>
          <a:solidFill>
            <a:srgbClr val="0D2837">
              <a:alpha val="97000"/>
            </a:srgbClr>
          </a:solidFill>
          <a:ln w="13970">
            <a:solidFill>
              <a:srgbClr val="F2B13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01384" y="1280160"/>
            <a:ext cx="2450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2B134"/>
                </a:solidFill>
              </a:rPr>
              <a:t>Bizonyíték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501384" y="1645920"/>
            <a:ext cx="2450592" cy="1207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B9C7D1"/>
                </a:solidFill>
              </a:rPr>
              <a:t>Nem azt mondjuk: „szerintem”. Frame számot, mezőt, filtert és időrendet mutatunk.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9326880" y="1143000"/>
            <a:ext cx="2423160" cy="1828800"/>
          </a:xfrm>
          <a:prstGeom prst="roundRect">
            <a:avLst>
              <a:gd name="adj" fmla="val 4000"/>
            </a:avLst>
          </a:prstGeom>
          <a:solidFill>
            <a:srgbClr val="0D2837">
              <a:alpha val="97000"/>
            </a:srgbClr>
          </a:solidFill>
          <a:ln w="13970">
            <a:solidFill>
              <a:srgbClr val="E85B5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473184" y="1280160"/>
            <a:ext cx="2130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E85B5B"/>
                </a:solidFill>
              </a:rPr>
              <a:t>Incidens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9473184" y="1645920"/>
            <a:ext cx="2130552" cy="1207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B9C7D1"/>
                </a:solidFill>
              </a:rPr>
              <a:t>Egy PCAP-ból rekonstruáljuk a kommunikáció történetét.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11480" y="3429000"/>
            <a:ext cx="11338560" cy="2057400"/>
          </a:xfrm>
          <a:prstGeom prst="roundRect">
            <a:avLst/>
          </a:prstGeom>
          <a:solidFill>
            <a:srgbClr val="0D2837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37490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8D9"/>
                </a:solidFill>
              </a:rPr>
              <a:t>A modul kulcskérdése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31520" y="4224528"/>
            <a:ext cx="10424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500" b="1" dirty="0">
                <a:solidFill>
                  <a:srgbClr val="F5F8FA"/>
                </a:solidFill>
              </a:rPr>
              <a:t>„Milyen hálózati bizonyíték alapján állítod ezt?”</a:t>
            </a:r>
            <a:endParaRPr lang="en-US" sz="2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2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B8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09. MODUL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438912"/>
            <a:ext cx="11247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5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Capture filter ≠ Display filter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320040" y="6537960"/>
            <a:ext cx="3200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88494"/>
                </a:solidFill>
              </a:rPr>
              <a:t>ETIKUS HACKELÉS • 13. évfolyam</a:t>
            </a:r>
            <a:endParaRPr lang="en-US" sz="650" dirty="0"/>
          </a:p>
        </p:txBody>
      </p:sp>
      <p:sp>
        <p:nvSpPr>
          <p:cNvPr id="6" name="Shape 4"/>
          <p:cNvSpPr/>
          <p:nvPr/>
        </p:nvSpPr>
        <p:spPr>
          <a:xfrm>
            <a:off x="548640" y="1188720"/>
            <a:ext cx="5303520" cy="2743200"/>
          </a:xfrm>
          <a:prstGeom prst="roundRect">
            <a:avLst>
              <a:gd name="adj" fmla="val 2667"/>
            </a:avLst>
          </a:prstGeom>
          <a:solidFill>
            <a:srgbClr val="0D2837">
              <a:alpha val="97000"/>
            </a:srgbClr>
          </a:solidFill>
          <a:ln w="13970">
            <a:solidFill>
              <a:srgbClr val="F2B13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4944" y="1325880"/>
            <a:ext cx="5010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2B134"/>
                </a:solidFill>
              </a:rPr>
              <a:t>CAPTURE FILTER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94944" y="1691640"/>
            <a:ext cx="5010912" cy="21214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B9C7D1"/>
                </a:solidFill>
              </a:rPr>
              <a:t>• rögzítés előtt működik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9C7D1"/>
                </a:solidFill>
              </a:rPr>
              <a:t>• kevesebb csomag kerül a fájlba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9C7D1"/>
                </a:solidFill>
              </a:rPr>
              <a:t>• libpcap/BPF szintaxis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9C7D1"/>
                </a:solidFill>
              </a:rPr>
              <a:t>• példa: host 10.9.30.10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6309360" y="1188720"/>
            <a:ext cx="5303520" cy="2743200"/>
          </a:xfrm>
          <a:prstGeom prst="roundRect">
            <a:avLst>
              <a:gd name="adj" fmla="val 2667"/>
            </a:avLst>
          </a:prstGeom>
          <a:solidFill>
            <a:srgbClr val="0D2837">
              <a:alpha val="97000"/>
            </a:srgbClr>
          </a:solidFill>
          <a:ln w="13970">
            <a:solidFill>
              <a:srgbClr val="26C2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55664" y="1325880"/>
            <a:ext cx="5010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26C281"/>
                </a:solidFill>
              </a:rPr>
              <a:t>DISPLAY FILTER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455664" y="1691640"/>
            <a:ext cx="5010912" cy="21214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B9C7D1"/>
                </a:solidFill>
              </a:rPr>
              <a:t>• a már rögzített csomagokat szűri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9C7D1"/>
                </a:solidFill>
              </a:rPr>
              <a:t>• a capture tartalma nem változik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9C7D1"/>
                </a:solidFill>
              </a:rPr>
              <a:t>• Wireshark mezőalapú nyelv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9C7D1"/>
                </a:solidFill>
              </a:rPr>
              <a:t>• példa: ip.addr == 10.9.30.10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097280" y="457200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5F8FA"/>
                </a:solidFill>
              </a:rPr>
              <a:t>A két nyelv hasonlít egymásra, de nem felcserélhető.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2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B8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09. MODUL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438912"/>
            <a:ext cx="11247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5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Csomagboncolás – rétegek és mezők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320040" y="6537960"/>
            <a:ext cx="3200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88494"/>
                </a:solidFill>
              </a:rPr>
              <a:t>ETIKUS HACKELÉS • 13. évfolyam</a:t>
            </a:r>
            <a:endParaRPr lang="en-US" sz="650" dirty="0"/>
          </a:p>
        </p:txBody>
      </p:sp>
      <p:pic>
        <p:nvPicPr>
          <p:cNvPr id="6" name="Image 0" descr="/mnt/data/Etikus_hackeles_09_wireshark_csomag/assets/packet_anatomy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024128"/>
            <a:ext cx="11356848" cy="50749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2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B8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09. MODUL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438912"/>
            <a:ext cx="11247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5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Mit keresünk az alap protokollokban?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320040" y="6537960"/>
            <a:ext cx="3200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88494"/>
                </a:solidFill>
              </a:rPr>
              <a:t>ETIKUS HACKELÉS • 13. évfolyam</a:t>
            </a:r>
            <a:endParaRPr lang="en-US" sz="650" dirty="0"/>
          </a:p>
        </p:txBody>
      </p:sp>
      <p:sp>
        <p:nvSpPr>
          <p:cNvPr id="6" name="Shape 4"/>
          <p:cNvSpPr/>
          <p:nvPr/>
        </p:nvSpPr>
        <p:spPr>
          <a:xfrm>
            <a:off x="411480" y="1097280"/>
            <a:ext cx="2697480" cy="2011680"/>
          </a:xfrm>
          <a:prstGeom prst="roundRect">
            <a:avLst>
              <a:gd name="adj" fmla="val 3636"/>
            </a:avLst>
          </a:prstGeom>
          <a:solidFill>
            <a:srgbClr val="0D2837">
              <a:alpha val="97000"/>
            </a:srgbClr>
          </a:solidFill>
          <a:ln w="13970">
            <a:solidFill>
              <a:srgbClr val="00B8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57784" y="1234440"/>
            <a:ext cx="2404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0B8D9"/>
                </a:solidFill>
              </a:rPr>
              <a:t>ARP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57784" y="1600200"/>
            <a:ext cx="2404872" cy="13898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B9C7D1"/>
                </a:solidFill>
              </a:rPr>
              <a:t>Kihez tartozik ez az IPv4 cím?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9C7D1"/>
                </a:solidFill>
              </a:rPr>
              <a:t>MAC-címek, request/reply.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91840" y="1097280"/>
            <a:ext cx="2697480" cy="2011680"/>
          </a:xfrm>
          <a:prstGeom prst="roundRect">
            <a:avLst>
              <a:gd name="adj" fmla="val 3636"/>
            </a:avLst>
          </a:prstGeom>
          <a:solidFill>
            <a:srgbClr val="0D2837">
              <a:alpha val="97000"/>
            </a:srgbClr>
          </a:solidFill>
          <a:ln w="13970">
            <a:solidFill>
              <a:srgbClr val="26C2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438144" y="1234440"/>
            <a:ext cx="2404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26C281"/>
                </a:solidFill>
              </a:rPr>
              <a:t>ICMP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438144" y="1600200"/>
            <a:ext cx="2404872" cy="13898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B9C7D1"/>
                </a:solidFill>
              </a:rPr>
              <a:t>Ping, unreachable, TTL exceeded.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9C7D1"/>
                </a:solidFill>
              </a:rPr>
              <a:t>Diagnosztika és traceroute.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172200" y="1097280"/>
            <a:ext cx="2697480" cy="2011680"/>
          </a:xfrm>
          <a:prstGeom prst="roundRect">
            <a:avLst>
              <a:gd name="adj" fmla="val 3636"/>
            </a:avLst>
          </a:prstGeom>
          <a:solidFill>
            <a:srgbClr val="0D2837">
              <a:alpha val="97000"/>
            </a:srgbClr>
          </a:solidFill>
          <a:ln w="13970">
            <a:solidFill>
              <a:srgbClr val="F2B13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18504" y="1234440"/>
            <a:ext cx="2404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2B134"/>
                </a:solidFill>
              </a:rPr>
              <a:t>DNS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318504" y="1600200"/>
            <a:ext cx="2404872" cy="13898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B9C7D1"/>
                </a:solidFill>
              </a:rPr>
              <a:t>Kérdezett név, válasz rekord, tranzakció.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9052560" y="1097280"/>
            <a:ext cx="2697480" cy="2011680"/>
          </a:xfrm>
          <a:prstGeom prst="roundRect">
            <a:avLst>
              <a:gd name="adj" fmla="val 3636"/>
            </a:avLst>
          </a:prstGeom>
          <a:solidFill>
            <a:srgbClr val="0D2837">
              <a:alpha val="97000"/>
            </a:srgbClr>
          </a:solidFill>
          <a:ln w="13970">
            <a:solidFill>
              <a:srgbClr val="E85B5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98864" y="1234440"/>
            <a:ext cx="2404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E85B5B"/>
                </a:solidFill>
              </a:rPr>
              <a:t>HTTP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9198864" y="1600200"/>
            <a:ext cx="2404872" cy="13898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B9C7D1"/>
                </a:solidFill>
              </a:rPr>
              <a:t>Metódus, Host, URI, státuszkód.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9C7D1"/>
                </a:solidFill>
              </a:rPr>
              <a:t>Csak ha nincs titkosítva.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11480" y="3474720"/>
            <a:ext cx="11338560" cy="2057400"/>
          </a:xfrm>
          <a:prstGeom prst="roundRect">
            <a:avLst/>
          </a:prstGeom>
          <a:solidFill>
            <a:srgbClr val="051019"/>
          </a:solidFill>
          <a:ln w="12700">
            <a:solidFill>
              <a:srgbClr val="294C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76072" y="3611880"/>
            <a:ext cx="11009376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A6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6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icmp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6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dns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6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6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ip.addr == 10.9.30.10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6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dns.qry.name contains "lab9"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2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B8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09. MODUL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438912"/>
            <a:ext cx="11247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5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TCP: a kapcsolat története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320040" y="6537960"/>
            <a:ext cx="3200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88494"/>
                </a:solidFill>
              </a:rPr>
              <a:t>ETIKUS HACKELÉS • 13. évfolyam</a:t>
            </a:r>
            <a:endParaRPr lang="en-US" sz="650" dirty="0"/>
          </a:p>
        </p:txBody>
      </p:sp>
      <p:pic>
        <p:nvPicPr>
          <p:cNvPr id="6" name="Image 0" descr="/mnt/data/Etikus_hackeles_09_wireshark_csomag/assets/tcp_handshak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051560"/>
            <a:ext cx="11109960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12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B8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09. MODUL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438912"/>
            <a:ext cx="11247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5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DNS → TCP → HTTP: egy oldalbetöltés története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320040" y="6537960"/>
            <a:ext cx="3200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88494"/>
                </a:solidFill>
              </a:rPr>
              <a:t>ETIKUS HACKELÉS • 13. évfolyam</a:t>
            </a:r>
            <a:endParaRPr lang="en-US" sz="650" dirty="0"/>
          </a:p>
        </p:txBody>
      </p:sp>
      <p:sp>
        <p:nvSpPr>
          <p:cNvPr id="6" name="Shape 4"/>
          <p:cNvSpPr/>
          <p:nvPr/>
        </p:nvSpPr>
        <p:spPr>
          <a:xfrm>
            <a:off x="640080" y="2011680"/>
            <a:ext cx="1097280" cy="1097280"/>
          </a:xfrm>
          <a:prstGeom prst="ellipse">
            <a:avLst/>
          </a:prstGeom>
          <a:solidFill>
            <a:srgbClr val="102F40"/>
          </a:solidFill>
          <a:ln w="25400">
            <a:solidFill>
              <a:srgbClr val="00B8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26771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5F8FA"/>
                </a:solidFill>
              </a:rPr>
              <a:t>1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320040" y="32461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9C7D1"/>
                </a:solidFill>
              </a:rPr>
              <a:t>DNS query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874520" y="2331720"/>
            <a:ext cx="868680" cy="411480"/>
          </a:xfrm>
          <a:prstGeom prst="chevron">
            <a:avLst/>
          </a:prstGeom>
          <a:solidFill>
            <a:srgbClr val="24576A"/>
          </a:solidFill>
          <a:ln w="12700">
            <a:solidFill>
              <a:srgbClr val="24576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926080" y="2011680"/>
            <a:ext cx="1097280" cy="1097280"/>
          </a:xfrm>
          <a:prstGeom prst="ellipse">
            <a:avLst/>
          </a:prstGeom>
          <a:solidFill>
            <a:srgbClr val="102F40"/>
          </a:solidFill>
          <a:ln w="25400">
            <a:solidFill>
              <a:srgbClr val="26C2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26080" y="226771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5F8FA"/>
                </a:solidFill>
              </a:rPr>
              <a:t>2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2606040" y="32461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9C7D1"/>
                </a:solidFill>
              </a:rPr>
              <a:t>DNS answer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160520" y="2331720"/>
            <a:ext cx="868680" cy="411480"/>
          </a:xfrm>
          <a:prstGeom prst="chevron">
            <a:avLst/>
          </a:prstGeom>
          <a:solidFill>
            <a:srgbClr val="24576A"/>
          </a:solidFill>
          <a:ln w="12700">
            <a:solidFill>
              <a:srgbClr val="24576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212080" y="2011680"/>
            <a:ext cx="1097280" cy="1097280"/>
          </a:xfrm>
          <a:prstGeom prst="ellipse">
            <a:avLst/>
          </a:prstGeom>
          <a:solidFill>
            <a:srgbClr val="102F40"/>
          </a:solidFill>
          <a:ln w="25400">
            <a:solidFill>
              <a:srgbClr val="F2B13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12080" y="226771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5F8FA"/>
                </a:solidFill>
              </a:rPr>
              <a:t>3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4892040" y="32461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9C7D1"/>
                </a:solidFill>
              </a:rPr>
              <a:t>TCP handshake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46520" y="2331720"/>
            <a:ext cx="868680" cy="411480"/>
          </a:xfrm>
          <a:prstGeom prst="chevron">
            <a:avLst/>
          </a:prstGeom>
          <a:solidFill>
            <a:srgbClr val="24576A"/>
          </a:solidFill>
          <a:ln w="12700">
            <a:solidFill>
              <a:srgbClr val="24576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498080" y="2011680"/>
            <a:ext cx="1097280" cy="1097280"/>
          </a:xfrm>
          <a:prstGeom prst="ellipse">
            <a:avLst/>
          </a:prstGeom>
          <a:solidFill>
            <a:srgbClr val="102F40"/>
          </a:solidFill>
          <a:ln w="25400">
            <a:solidFill>
              <a:srgbClr val="E85B5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0" y="226771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5F8FA"/>
                </a:solidFill>
              </a:rPr>
              <a:t>4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7178040" y="32461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9C7D1"/>
                </a:solidFill>
              </a:rPr>
              <a:t>HTTP GET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732520" y="2331720"/>
            <a:ext cx="868680" cy="411480"/>
          </a:xfrm>
          <a:prstGeom prst="chevron">
            <a:avLst/>
          </a:prstGeom>
          <a:solidFill>
            <a:srgbClr val="24576A"/>
          </a:solidFill>
          <a:ln w="12700">
            <a:solidFill>
              <a:srgbClr val="24576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784080" y="2011680"/>
            <a:ext cx="1097280" cy="1097280"/>
          </a:xfrm>
          <a:prstGeom prst="ellipse">
            <a:avLst/>
          </a:prstGeom>
          <a:solidFill>
            <a:srgbClr val="102F40"/>
          </a:solidFill>
          <a:ln w="25400">
            <a:solidFill>
              <a:srgbClr val="26C2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784080" y="226771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5F8FA"/>
                </a:solidFill>
              </a:rPr>
              <a:t>5</a:t>
            </a:r>
            <a:endParaRPr lang="en-US" sz="1900" dirty="0"/>
          </a:p>
        </p:txBody>
      </p:sp>
      <p:sp>
        <p:nvSpPr>
          <p:cNvPr id="24" name="Text 22"/>
          <p:cNvSpPr/>
          <p:nvPr/>
        </p:nvSpPr>
        <p:spPr>
          <a:xfrm>
            <a:off x="9464040" y="32461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9C7D1"/>
                </a:solidFill>
              </a:rPr>
              <a:t>HTTP 200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14400" y="4754880"/>
            <a:ext cx="10241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5F8FA"/>
                </a:solidFill>
              </a:rPr>
              <a:t>Ha az alkalmazás titkosított, a forgalmi metaadatok akkor is értékesek lehetnek.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2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B8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09. MODUL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438912"/>
            <a:ext cx="11247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5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Display filterek – a zajból bizonyíték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320040" y="6537960"/>
            <a:ext cx="3200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88494"/>
                </a:solidFill>
              </a:rPr>
              <a:t>ETIKUS HACKELÉS • 13. évfolyam</a:t>
            </a:r>
            <a:endParaRPr lang="en-US" sz="650" dirty="0"/>
          </a:p>
        </p:txBody>
      </p:sp>
      <p:sp>
        <p:nvSpPr>
          <p:cNvPr id="6" name="Shape 4"/>
          <p:cNvSpPr/>
          <p:nvPr/>
        </p:nvSpPr>
        <p:spPr>
          <a:xfrm>
            <a:off x="502920" y="1143000"/>
            <a:ext cx="5532120" cy="4480560"/>
          </a:xfrm>
          <a:prstGeom prst="roundRect">
            <a:avLst/>
          </a:prstGeom>
          <a:solidFill>
            <a:srgbClr val="051019"/>
          </a:solidFill>
          <a:ln w="12700">
            <a:solidFill>
              <a:srgbClr val="294C5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67512" y="1280160"/>
            <a:ext cx="5202936" cy="4206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A6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6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icmp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6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dns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6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6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tcp.port == 80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6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ip.src == 10.9.10.20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6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ip.dst == 10.9.30.10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6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tcp.flags.syn == 1 &amp;&amp; tcp.flags.ack == 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6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http.request.method == "GET"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6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tcp.analysis.retransmission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309360" y="1143000"/>
            <a:ext cx="5349240" cy="2011680"/>
          </a:xfrm>
          <a:prstGeom prst="roundRect">
            <a:avLst>
              <a:gd name="adj" fmla="val 3636"/>
            </a:avLst>
          </a:prstGeom>
          <a:solidFill>
            <a:srgbClr val="0D2837">
              <a:alpha val="97000"/>
            </a:srgbClr>
          </a:solidFill>
          <a:ln w="13970">
            <a:solidFill>
              <a:srgbClr val="00B8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55664" y="1280160"/>
            <a:ext cx="5056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0B8D9"/>
                </a:solidFill>
              </a:rPr>
              <a:t>Filter-stratégia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455664" y="1645920"/>
            <a:ext cx="5056632" cy="13898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B9C7D1"/>
                </a:solidFill>
              </a:rPr>
              <a:t>1. indulj szélesen (ip.addr)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9C7D1"/>
                </a:solidFill>
              </a:rPr>
              <a:t>2. szűkíts protokollra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9C7D1"/>
                </a:solidFill>
              </a:rPr>
              <a:t>3. keress konkrét mezőt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9C7D1"/>
                </a:solidFill>
              </a:rPr>
              <a:t>4. rögzíts frame számot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309360" y="3429000"/>
            <a:ext cx="5349240" cy="2194560"/>
          </a:xfrm>
          <a:prstGeom prst="roundRect">
            <a:avLst>
              <a:gd name="adj" fmla="val 3333"/>
            </a:avLst>
          </a:prstGeom>
          <a:solidFill>
            <a:srgbClr val="0D2837">
              <a:alpha val="97000"/>
            </a:srgbClr>
          </a:solidFill>
          <a:ln w="13970">
            <a:solidFill>
              <a:srgbClr val="F2B13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55664" y="3566160"/>
            <a:ext cx="5056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2B134"/>
                </a:solidFill>
              </a:rPr>
              <a:t>Ne csak „zöld legyen”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455664" y="3931920"/>
            <a:ext cx="5056632" cy="15727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B9C7D1"/>
                </a:solidFill>
              </a:rPr>
              <a:t>A helyes filter nem cél önmagában. A tanuló mindig írja le, mit bizonyít a találat és mit nem.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12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B8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09. MODUL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438912"/>
            <a:ext cx="11247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5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Follow TCP Stream – egy kapcsolat egyben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320040" y="6537960"/>
            <a:ext cx="3200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88494"/>
                </a:solidFill>
              </a:rPr>
              <a:t>ETIKUS HACKELÉS • 13. évfolyam</a:t>
            </a:r>
            <a:endParaRPr lang="en-US" sz="650" dirty="0"/>
          </a:p>
        </p:txBody>
      </p:sp>
      <p:pic>
        <p:nvPicPr>
          <p:cNvPr id="6" name="Image 0" descr="/mnt/data/Etikus_hackeles_09_wireshark_csomag/assets/workspac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97280"/>
            <a:ext cx="5029200" cy="44805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806440" y="1097280"/>
            <a:ext cx="5852160" cy="1828800"/>
          </a:xfrm>
          <a:prstGeom prst="roundRect">
            <a:avLst>
              <a:gd name="adj" fmla="val 4000"/>
            </a:avLst>
          </a:prstGeom>
          <a:solidFill>
            <a:srgbClr val="0D2837">
              <a:alpha val="97000"/>
            </a:srgbClr>
          </a:solidFill>
          <a:ln w="13970">
            <a:solidFill>
              <a:srgbClr val="26C28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952744" y="1234440"/>
            <a:ext cx="5559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26C281"/>
                </a:solidFill>
              </a:rPr>
              <a:t>Mi történik?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952744" y="1600200"/>
            <a:ext cx="5559552" cy="1207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B9C7D1"/>
                </a:solidFill>
              </a:rPr>
              <a:t>A Wireshark kiválaszt egy TCP streamet és összerakja a két irány alkalmazási adatát. HTTP-nél jól látható a kérés és a válasz.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5806440" y="3246120"/>
            <a:ext cx="5852160" cy="1828800"/>
          </a:xfrm>
          <a:prstGeom prst="roundRect">
            <a:avLst>
              <a:gd name="adj" fmla="val 4000"/>
            </a:avLst>
          </a:prstGeom>
          <a:solidFill>
            <a:srgbClr val="0D2837">
              <a:alpha val="97000"/>
            </a:srgbClr>
          </a:solidFill>
          <a:ln w="13970">
            <a:solidFill>
              <a:srgbClr val="E85B5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952744" y="3383280"/>
            <a:ext cx="5559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E85B5B"/>
                </a:solidFill>
              </a:rPr>
              <a:t>Mit tanulunk belőle?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5952744" y="3749040"/>
            <a:ext cx="5559552" cy="1207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B9C7D1"/>
                </a:solidFill>
              </a:rPr>
              <a:t>Host, URI, státuszkód, kliens/szerver irányok. HTTPS esetén nem várunk automatikusan olvasható alkalmazási tartalmat.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12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B8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09. MODUL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438912"/>
            <a:ext cx="11247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5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Statistics – előbb térképezz, utána mélyíts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320040" y="6537960"/>
            <a:ext cx="3200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88494"/>
                </a:solidFill>
              </a:rPr>
              <a:t>ETIKUS HACKELÉS • 13. évfolyam</a:t>
            </a:r>
            <a:endParaRPr lang="en-US" sz="65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2651760" cy="1965960"/>
          </a:xfrm>
          <a:prstGeom prst="roundRect">
            <a:avLst>
              <a:gd name="adj" fmla="val 3721"/>
            </a:avLst>
          </a:prstGeom>
          <a:solidFill>
            <a:srgbClr val="0D2837">
              <a:alpha val="97000"/>
            </a:srgbClr>
          </a:solidFill>
          <a:ln w="13970">
            <a:solidFill>
              <a:srgbClr val="00B8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57784" y="1280160"/>
            <a:ext cx="2359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0B8D9"/>
                </a:solidFill>
              </a:rPr>
              <a:t>Protocol Hierarchy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57784" y="1645920"/>
            <a:ext cx="2359152" cy="1344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B9C7D1"/>
                </a:solidFill>
              </a:rPr>
              <a:t>Milyen protokollok vannak a capture-ben?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46120" y="1143000"/>
            <a:ext cx="2651760" cy="1965960"/>
          </a:xfrm>
          <a:prstGeom prst="roundRect">
            <a:avLst>
              <a:gd name="adj" fmla="val 3721"/>
            </a:avLst>
          </a:prstGeom>
          <a:solidFill>
            <a:srgbClr val="0D2837">
              <a:alpha val="97000"/>
            </a:srgbClr>
          </a:solidFill>
          <a:ln w="13970">
            <a:solidFill>
              <a:srgbClr val="26C2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92424" y="1280160"/>
            <a:ext cx="2359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26C281"/>
                </a:solidFill>
              </a:rPr>
              <a:t>Endpoints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392424" y="1645920"/>
            <a:ext cx="2359152" cy="1344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B9C7D1"/>
                </a:solidFill>
              </a:rPr>
              <a:t>Mely IP/MAC végpontok láthatók?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080760" y="1143000"/>
            <a:ext cx="2651760" cy="1965960"/>
          </a:xfrm>
          <a:prstGeom prst="roundRect">
            <a:avLst>
              <a:gd name="adj" fmla="val 3721"/>
            </a:avLst>
          </a:prstGeom>
          <a:solidFill>
            <a:srgbClr val="0D2837">
              <a:alpha val="97000"/>
            </a:srgbClr>
          </a:solidFill>
          <a:ln w="13970">
            <a:solidFill>
              <a:srgbClr val="F2B13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27064" y="1280160"/>
            <a:ext cx="23591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2B134"/>
                </a:solidFill>
              </a:rPr>
              <a:t>Conversations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227064" y="1645920"/>
            <a:ext cx="2359152" cy="1344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B9C7D1"/>
                </a:solidFill>
              </a:rPr>
              <a:t>Mely párok beszélnek egymással?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15400" y="1143000"/>
            <a:ext cx="2788920" cy="1965960"/>
          </a:xfrm>
          <a:prstGeom prst="roundRect">
            <a:avLst>
              <a:gd name="adj" fmla="val 3721"/>
            </a:avLst>
          </a:prstGeom>
          <a:solidFill>
            <a:srgbClr val="0D2837">
              <a:alpha val="97000"/>
            </a:srgbClr>
          </a:solidFill>
          <a:ln w="13970">
            <a:solidFill>
              <a:srgbClr val="E85B5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061704" y="1280160"/>
            <a:ext cx="24963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E85B5B"/>
                </a:solidFill>
              </a:rPr>
              <a:t>I/O Graphs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9061704" y="1645920"/>
            <a:ext cx="2496312" cy="1344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B9C7D1"/>
                </a:solidFill>
              </a:rPr>
              <a:t>Mikor nő vagy változik a forgalom?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31520" y="425196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F8FA"/>
                </a:solidFill>
              </a:rPr>
              <a:t>Incident workflow: összkép → gyanús végpont → konkrét stream → frame-szintű bizonyíték</a:t>
            </a:r>
            <a:endParaRPr lang="en-US" sz="2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712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B8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09. MODUL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438912"/>
            <a:ext cx="11247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5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Cisco SPAN – amikor az analyzernek többet kell látnia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320040" y="6537960"/>
            <a:ext cx="3200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88494"/>
                </a:solidFill>
              </a:rPr>
              <a:t>ETIKUS HACKELÉS • 13. évfolyam</a:t>
            </a:r>
            <a:endParaRPr lang="en-US" sz="650" dirty="0"/>
          </a:p>
        </p:txBody>
      </p:sp>
      <p:pic>
        <p:nvPicPr>
          <p:cNvPr id="6" name="Image 0" descr="/mnt/data/Etikus_hackeles_09_wireshark_csomag/assets/span_topology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24128"/>
            <a:ext cx="11155680" cy="51663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712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B8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09. MODUL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438912"/>
            <a:ext cx="11247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5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Élő eszközös labor – 6 router + 6 switch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320040" y="6537960"/>
            <a:ext cx="3200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88494"/>
                </a:solidFill>
              </a:rPr>
              <a:t>ETIKUS HACKELÉS • 13. évfolyam</a:t>
            </a:r>
            <a:endParaRPr lang="en-US" sz="650" dirty="0"/>
          </a:p>
        </p:txBody>
      </p:sp>
      <p:pic>
        <p:nvPicPr>
          <p:cNvPr id="6" name="Image 0" descr="/mnt/data/Etikus_hackeles_09_wireshark_csomag/assets/lab_phot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1051560"/>
            <a:ext cx="6126480" cy="50749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812280" y="1097280"/>
            <a:ext cx="4892040" cy="1143000"/>
          </a:xfrm>
          <a:prstGeom prst="roundRect">
            <a:avLst>
              <a:gd name="adj" fmla="val 6400"/>
            </a:avLst>
          </a:prstGeom>
          <a:solidFill>
            <a:srgbClr val="0D2837">
              <a:alpha val="97000"/>
            </a:srgbClr>
          </a:solidFill>
          <a:ln w="13970">
            <a:solidFill>
              <a:srgbClr val="00B8D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958584" y="1234440"/>
            <a:ext cx="4599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0B8D9"/>
                </a:solidFill>
              </a:rPr>
              <a:t>Üzemmód A – 6 SPAN pod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958584" y="1600200"/>
            <a:ext cx="4599432" cy="5212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B9C7D1"/>
                </a:solidFill>
              </a:rPr>
              <a:t>R1–SW1…R6–SW6: kliens + analyzer párok párhuzamosan dolgoznak.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6812280" y="2514600"/>
            <a:ext cx="4892040" cy="1143000"/>
          </a:xfrm>
          <a:prstGeom prst="roundRect">
            <a:avLst>
              <a:gd name="adj" fmla="val 6400"/>
            </a:avLst>
          </a:prstGeom>
          <a:solidFill>
            <a:srgbClr val="0D2837">
              <a:alpha val="97000"/>
            </a:srgbClr>
          </a:solidFill>
          <a:ln w="13970">
            <a:solidFill>
              <a:srgbClr val="26C28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958584" y="2651760"/>
            <a:ext cx="4599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26C281"/>
                </a:solidFill>
              </a:rPr>
              <a:t>Üzemmód B – 2×3 router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6958584" y="3017520"/>
            <a:ext cx="4599432" cy="5212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B9C7D1"/>
                </a:solidFill>
              </a:rPr>
              <a:t>Két lánc: kliens → 3 router → Debian szerver. Traceroute és TTL-elemzés.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6812280" y="3931920"/>
            <a:ext cx="4892040" cy="1143000"/>
          </a:xfrm>
          <a:prstGeom prst="roundRect">
            <a:avLst>
              <a:gd name="adj" fmla="val 6400"/>
            </a:avLst>
          </a:prstGeom>
          <a:solidFill>
            <a:srgbClr val="0D2837">
              <a:alpha val="97000"/>
            </a:srgbClr>
          </a:solidFill>
          <a:ln w="13970">
            <a:solidFill>
              <a:srgbClr val="F2B13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958584" y="4069080"/>
            <a:ext cx="4599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2B134"/>
                </a:solidFill>
              </a:rPr>
              <a:t>Közös szabály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6958584" y="4434840"/>
            <a:ext cx="4599432" cy="5212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B9C7D1"/>
                </a:solidFill>
              </a:rPr>
              <a:t>Routingot a tanár előre elkészítheti: ezen az órán a capture elemzése a cél.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712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B8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09. MODUL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438912"/>
            <a:ext cx="11247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5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Tanári előkészítés – mi legyen kész óra előtt?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320040" y="6537960"/>
            <a:ext cx="3200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88494"/>
                </a:solidFill>
              </a:rPr>
              <a:t>ETIKUS HACKELÉS • 13. évfolyam</a:t>
            </a:r>
            <a:endParaRPr lang="en-US" sz="650" dirty="0"/>
          </a:p>
        </p:txBody>
      </p:sp>
      <p:sp>
        <p:nvSpPr>
          <p:cNvPr id="6" name="Shape 4"/>
          <p:cNvSpPr/>
          <p:nvPr/>
        </p:nvSpPr>
        <p:spPr>
          <a:xfrm>
            <a:off x="411480" y="1097280"/>
            <a:ext cx="3520440" cy="1325880"/>
          </a:xfrm>
          <a:prstGeom prst="roundRect">
            <a:avLst>
              <a:gd name="adj" fmla="val 5517"/>
            </a:avLst>
          </a:prstGeom>
          <a:solidFill>
            <a:srgbClr val="0D2837">
              <a:alpha val="97000"/>
            </a:srgbClr>
          </a:solidFill>
          <a:ln w="13970">
            <a:solidFill>
              <a:srgbClr val="00B8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57784" y="1234440"/>
            <a:ext cx="3227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0B8D9"/>
                </a:solidFill>
              </a:rPr>
              <a:t>1 • MENTÉS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57784" y="1600200"/>
            <a:ext cx="3227832" cy="7040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B9C7D1"/>
                </a:solidFill>
              </a:rPr>
              <a:t>6 router + 6 switch running-config mentve.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160520" y="1097280"/>
            <a:ext cx="3520440" cy="1325880"/>
          </a:xfrm>
          <a:prstGeom prst="roundRect">
            <a:avLst>
              <a:gd name="adj" fmla="val 5517"/>
            </a:avLst>
          </a:prstGeom>
          <a:solidFill>
            <a:srgbClr val="0D2837">
              <a:alpha val="97000"/>
            </a:srgbClr>
          </a:solidFill>
          <a:ln w="13970">
            <a:solidFill>
              <a:srgbClr val="26C2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06824" y="1234440"/>
            <a:ext cx="3227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26C281"/>
                </a:solidFill>
              </a:rPr>
              <a:t>2 • WIRESHARK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306824" y="1600200"/>
            <a:ext cx="3227832" cy="7040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B9C7D1"/>
                </a:solidFill>
              </a:rPr>
              <a:t>Capture jogosultság, megfelelő interfész, mintafájlok.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909560" y="1097280"/>
            <a:ext cx="3520440" cy="1325880"/>
          </a:xfrm>
          <a:prstGeom prst="roundRect">
            <a:avLst>
              <a:gd name="adj" fmla="val 5517"/>
            </a:avLst>
          </a:prstGeom>
          <a:solidFill>
            <a:srgbClr val="0D2837">
              <a:alpha val="97000"/>
            </a:srgbClr>
          </a:solidFill>
          <a:ln w="13970">
            <a:solidFill>
              <a:srgbClr val="F2B13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55864" y="1234440"/>
            <a:ext cx="3227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2B134"/>
                </a:solidFill>
              </a:rPr>
              <a:t>3 • SPAN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055864" y="1600200"/>
            <a:ext cx="3227832" cy="7040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B9C7D1"/>
                </a:solidFill>
              </a:rPr>
              <a:t>Egy teszt switchen a monitor session ténylegesen működik.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11480" y="2788920"/>
            <a:ext cx="3520440" cy="1325880"/>
          </a:xfrm>
          <a:prstGeom prst="roundRect">
            <a:avLst>
              <a:gd name="adj" fmla="val 5517"/>
            </a:avLst>
          </a:prstGeom>
          <a:solidFill>
            <a:srgbClr val="0D2837">
              <a:alpha val="97000"/>
            </a:srgbClr>
          </a:solidFill>
          <a:ln w="13970">
            <a:solidFill>
              <a:srgbClr val="E85B5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7784" y="2926080"/>
            <a:ext cx="3227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E85B5B"/>
                </a:solidFill>
              </a:rPr>
              <a:t>4 • DEBIAN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57784" y="3291840"/>
            <a:ext cx="3227832" cy="7040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B9C7D1"/>
                </a:solidFill>
              </a:rPr>
              <a:t>Apache + opcionális dnsmasq, status.txt elérhető.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160520" y="2788920"/>
            <a:ext cx="3520440" cy="1325880"/>
          </a:xfrm>
          <a:prstGeom prst="roundRect">
            <a:avLst>
              <a:gd name="adj" fmla="val 5517"/>
            </a:avLst>
          </a:prstGeom>
          <a:solidFill>
            <a:srgbClr val="0D2837">
              <a:alpha val="97000"/>
            </a:srgbClr>
          </a:solidFill>
          <a:ln w="13970">
            <a:solidFill>
              <a:srgbClr val="00B8D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306824" y="2926080"/>
            <a:ext cx="3227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0B8D9"/>
                </a:solidFill>
              </a:rPr>
              <a:t>5 • TOPOLOGIA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4306824" y="3291840"/>
            <a:ext cx="3227832" cy="7040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B9C7D1"/>
                </a:solidFill>
              </a:rPr>
              <a:t>Pod vagy 3-routeres lánc kábelezve, routing ellenőrizve.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909560" y="2788920"/>
            <a:ext cx="3520440" cy="1325880"/>
          </a:xfrm>
          <a:prstGeom prst="roundRect">
            <a:avLst>
              <a:gd name="adj" fmla="val 5517"/>
            </a:avLst>
          </a:prstGeom>
          <a:solidFill>
            <a:srgbClr val="0D2837">
              <a:alpha val="97000"/>
            </a:srgbClr>
          </a:solidFill>
          <a:ln w="13970">
            <a:solidFill>
              <a:srgbClr val="26C2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055864" y="2926080"/>
            <a:ext cx="32278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26C281"/>
                </a:solidFill>
              </a:rPr>
              <a:t>6 • RESET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055864" y="3291840"/>
            <a:ext cx="3227832" cy="7040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B9C7D1"/>
                </a:solidFill>
              </a:rPr>
              <a:t>Konzol és visszaállítási terv kéznél.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97280" y="4892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5F8FA"/>
                </a:solidFill>
              </a:rPr>
              <a:t>A részletes, pipálható lista külön tanári dokumentumban található.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712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B8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09. MODUL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438912"/>
            <a:ext cx="11247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5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Labor 1 – Első capture: ICMP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320040" y="6537960"/>
            <a:ext cx="3200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88494"/>
                </a:solidFill>
              </a:rPr>
              <a:t>ETIKUS HACKELÉS • 13. évfolyam</a:t>
            </a:r>
            <a:endParaRPr lang="en-US" sz="65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3657600" cy="1965960"/>
          </a:xfrm>
          <a:prstGeom prst="roundRect">
            <a:avLst>
              <a:gd name="adj" fmla="val 3721"/>
            </a:avLst>
          </a:prstGeom>
          <a:solidFill>
            <a:srgbClr val="0D2837">
              <a:alpha val="97000"/>
            </a:srgbClr>
          </a:solidFill>
          <a:ln w="13970">
            <a:solidFill>
              <a:srgbClr val="F2B13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57784" y="1280160"/>
            <a:ext cx="3364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2B134"/>
                </a:solidFill>
              </a:rPr>
              <a:t>Tanári előkészítés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57784" y="1645920"/>
            <a:ext cx="3364992" cy="1344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B9C7D1"/>
                </a:solidFill>
              </a:rPr>
              <a:t>Kali/Wireshark működik; router LAN-cím elérhető.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251960" y="1143000"/>
            <a:ext cx="3657600" cy="1965960"/>
          </a:xfrm>
          <a:prstGeom prst="roundRect">
            <a:avLst>
              <a:gd name="adj" fmla="val 3721"/>
            </a:avLst>
          </a:prstGeom>
          <a:solidFill>
            <a:srgbClr val="0D2837">
              <a:alpha val="97000"/>
            </a:srgbClr>
          </a:solidFill>
          <a:ln w="13970">
            <a:solidFill>
              <a:srgbClr val="26C2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98264" y="1280160"/>
            <a:ext cx="3364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26C281"/>
                </a:solidFill>
              </a:rPr>
              <a:t>Tanulói feladat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398264" y="1645920"/>
            <a:ext cx="3364992" cy="1344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B9C7D1"/>
                </a:solidFill>
              </a:rPr>
              <a:t>Ping 4× a routerre, majd `icmp` filterrel request/reply párok keresése.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8092440" y="1143000"/>
            <a:ext cx="3657600" cy="1965960"/>
          </a:xfrm>
          <a:prstGeom prst="roundRect">
            <a:avLst>
              <a:gd name="adj" fmla="val 3721"/>
            </a:avLst>
          </a:prstGeom>
          <a:solidFill>
            <a:srgbClr val="0D2837">
              <a:alpha val="97000"/>
            </a:srgbClr>
          </a:solidFill>
          <a:ln w="13970">
            <a:solidFill>
              <a:srgbClr val="E85B5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38744" y="1280160"/>
            <a:ext cx="3364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E85B5B"/>
                </a:solidFill>
              </a:rPr>
              <a:t>Bizonyíték / leadandó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238744" y="1645920"/>
            <a:ext cx="3364992" cy="1344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B9C7D1"/>
                </a:solidFill>
              </a:rPr>
              <a:t>Frame szám, IP-k, ICMP típus és rövid értelmezés.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11480" y="3429000"/>
            <a:ext cx="11338560" cy="2331720"/>
          </a:xfrm>
          <a:prstGeom prst="roundRect">
            <a:avLst/>
          </a:prstGeom>
          <a:solidFill>
            <a:srgbClr val="051019"/>
          </a:solidFill>
          <a:ln w="12700">
            <a:solidFill>
              <a:srgbClr val="294C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6072" y="3566160"/>
            <a:ext cx="11009376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A6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ping -c 4 10.9.N.1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6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Display filter: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6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icmp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712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B8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09. MODUL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438912"/>
            <a:ext cx="11247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5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Labor 2 – DNS + HTTP történet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320040" y="6537960"/>
            <a:ext cx="3200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88494"/>
                </a:solidFill>
              </a:rPr>
              <a:t>ETIKUS HACKELÉS • 13. évfolyam</a:t>
            </a:r>
            <a:endParaRPr lang="en-US" sz="65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3657600" cy="1965960"/>
          </a:xfrm>
          <a:prstGeom prst="roundRect">
            <a:avLst>
              <a:gd name="adj" fmla="val 3721"/>
            </a:avLst>
          </a:prstGeom>
          <a:solidFill>
            <a:srgbClr val="0D2837">
              <a:alpha val="97000"/>
            </a:srgbClr>
          </a:solidFill>
          <a:ln w="13970">
            <a:solidFill>
              <a:srgbClr val="F2B13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57784" y="1280160"/>
            <a:ext cx="3364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2B134"/>
                </a:solidFill>
              </a:rPr>
              <a:t>Tanári előkészítés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57784" y="1645920"/>
            <a:ext cx="3364992" cy="1344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B9C7D1"/>
                </a:solidFill>
              </a:rPr>
              <a:t>Debian Apache + dnsmasq; lab9.local működik.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251960" y="1143000"/>
            <a:ext cx="3657600" cy="1965960"/>
          </a:xfrm>
          <a:prstGeom prst="roundRect">
            <a:avLst>
              <a:gd name="adj" fmla="val 3721"/>
            </a:avLst>
          </a:prstGeom>
          <a:solidFill>
            <a:srgbClr val="0D2837">
              <a:alpha val="97000"/>
            </a:srgbClr>
          </a:solidFill>
          <a:ln w="13970">
            <a:solidFill>
              <a:srgbClr val="26C2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98264" y="1280160"/>
            <a:ext cx="3364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26C281"/>
                </a:solidFill>
              </a:rPr>
              <a:t>Tanulói feladat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398264" y="1645920"/>
            <a:ext cx="3364992" cy="1344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B9C7D1"/>
                </a:solidFill>
              </a:rPr>
              <a:t>Nyisd meg a status.txt-t, majd keresd meg DNS → TCP → HTTP lépéseket.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8092440" y="1143000"/>
            <a:ext cx="3657600" cy="1965960"/>
          </a:xfrm>
          <a:prstGeom prst="roundRect">
            <a:avLst>
              <a:gd name="adj" fmla="val 3721"/>
            </a:avLst>
          </a:prstGeom>
          <a:solidFill>
            <a:srgbClr val="0D2837">
              <a:alpha val="97000"/>
            </a:srgbClr>
          </a:solidFill>
          <a:ln w="13970">
            <a:solidFill>
              <a:srgbClr val="E85B5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38744" y="1280160"/>
            <a:ext cx="3364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E85B5B"/>
                </a:solidFill>
              </a:rPr>
              <a:t>Bizonyíték / leadandó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238744" y="1645920"/>
            <a:ext cx="3364992" cy="1344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B9C7D1"/>
                </a:solidFill>
              </a:rPr>
              <a:t>DNS név/válasz, SYN/SYN-ACK/ACK, GET URI, 200 OK.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11480" y="3429000"/>
            <a:ext cx="11338560" cy="2331720"/>
          </a:xfrm>
          <a:prstGeom prst="roundRect">
            <a:avLst/>
          </a:prstGeom>
          <a:solidFill>
            <a:srgbClr val="051019"/>
          </a:solidFill>
          <a:ln w="12700">
            <a:solidFill>
              <a:srgbClr val="294C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6072" y="3566160"/>
            <a:ext cx="11009376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A6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curl http://lab9.local/status.txt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6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Display: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6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dns || tcp.port == 80 || http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712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B8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09. MODUL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438912"/>
            <a:ext cx="11247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5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Labor 3 – Filter challenge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320040" y="6537960"/>
            <a:ext cx="3200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88494"/>
                </a:solidFill>
              </a:rPr>
              <a:t>ETIKUS HACKELÉS • 13. évfolyam</a:t>
            </a:r>
            <a:endParaRPr lang="en-US" sz="65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3657600" cy="1965960"/>
          </a:xfrm>
          <a:prstGeom prst="roundRect">
            <a:avLst>
              <a:gd name="adj" fmla="val 3721"/>
            </a:avLst>
          </a:prstGeom>
          <a:solidFill>
            <a:srgbClr val="0D2837">
              <a:alpha val="97000"/>
            </a:srgbClr>
          </a:solidFill>
          <a:ln w="13970">
            <a:solidFill>
              <a:srgbClr val="F2B13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57784" y="1280160"/>
            <a:ext cx="3364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2B134"/>
                </a:solidFill>
              </a:rPr>
              <a:t>Tanári előkészítés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57784" y="1645920"/>
            <a:ext cx="3364992" cy="1344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B9C7D1"/>
                </a:solidFill>
              </a:rPr>
              <a:t>09_alapforgalom.pcap kiosztva.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251960" y="1143000"/>
            <a:ext cx="3657600" cy="1965960"/>
          </a:xfrm>
          <a:prstGeom prst="roundRect">
            <a:avLst>
              <a:gd name="adj" fmla="val 3721"/>
            </a:avLst>
          </a:prstGeom>
          <a:solidFill>
            <a:srgbClr val="0D2837">
              <a:alpha val="97000"/>
            </a:srgbClr>
          </a:solidFill>
          <a:ln w="13970">
            <a:solidFill>
              <a:srgbClr val="26C2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98264" y="1280160"/>
            <a:ext cx="3364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26C281"/>
                </a:solidFill>
              </a:rPr>
              <a:t>Tanulói feladat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398264" y="1645920"/>
            <a:ext cx="3364992" cy="1344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B9C7D1"/>
                </a:solidFill>
              </a:rPr>
              <a:t>Írj 6 filtert: szerver, DNS, HTTP GET, SYN, ICMP, retransmission.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8092440" y="1143000"/>
            <a:ext cx="3657600" cy="1965960"/>
          </a:xfrm>
          <a:prstGeom prst="roundRect">
            <a:avLst>
              <a:gd name="adj" fmla="val 3721"/>
            </a:avLst>
          </a:prstGeom>
          <a:solidFill>
            <a:srgbClr val="0D2837">
              <a:alpha val="97000"/>
            </a:srgbClr>
          </a:solidFill>
          <a:ln w="13970">
            <a:solidFill>
              <a:srgbClr val="E85B5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38744" y="1280160"/>
            <a:ext cx="3364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E85B5B"/>
                </a:solidFill>
              </a:rPr>
              <a:t>Bizonyíték / leadandó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238744" y="1645920"/>
            <a:ext cx="3364992" cy="1344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B9C7D1"/>
                </a:solidFill>
              </a:rPr>
              <a:t>Filter + találati csomagszám + mit bizonyít?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11480" y="3429000"/>
            <a:ext cx="11338560" cy="2331720"/>
          </a:xfrm>
          <a:prstGeom prst="roundRect">
            <a:avLst/>
          </a:prstGeom>
          <a:solidFill>
            <a:srgbClr val="051019"/>
          </a:solidFill>
          <a:ln w="12700">
            <a:solidFill>
              <a:srgbClr val="294C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6072" y="3566160"/>
            <a:ext cx="11009376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A6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ip.addr == 10.9.30.10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6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dns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6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http.request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6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tcp.flags.syn == 1 &amp;&amp; tcp.flags.ack == 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6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icmp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6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tcp.analysis.retransmission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712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B8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09. MODUL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438912"/>
            <a:ext cx="11247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5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Labor 4 – Follow TCP Stream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320040" y="6537960"/>
            <a:ext cx="3200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88494"/>
                </a:solidFill>
              </a:rPr>
              <a:t>ETIKUS HACKELÉS • 13. évfolyam</a:t>
            </a:r>
            <a:endParaRPr lang="en-US" sz="65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3657600" cy="1965960"/>
          </a:xfrm>
          <a:prstGeom prst="roundRect">
            <a:avLst>
              <a:gd name="adj" fmla="val 3721"/>
            </a:avLst>
          </a:prstGeom>
          <a:solidFill>
            <a:srgbClr val="0D2837">
              <a:alpha val="97000"/>
            </a:srgbClr>
          </a:solidFill>
          <a:ln w="13970">
            <a:solidFill>
              <a:srgbClr val="F2B13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57784" y="1280160"/>
            <a:ext cx="3364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2B134"/>
                </a:solidFill>
              </a:rPr>
              <a:t>Tanári előkészítés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57784" y="1645920"/>
            <a:ext cx="3364992" cy="1344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B9C7D1"/>
                </a:solidFill>
              </a:rPr>
              <a:t>09_alapforgalom.pcap, Wireshark GUI.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251960" y="1143000"/>
            <a:ext cx="3657600" cy="1965960"/>
          </a:xfrm>
          <a:prstGeom prst="roundRect">
            <a:avLst>
              <a:gd name="adj" fmla="val 3721"/>
            </a:avLst>
          </a:prstGeom>
          <a:solidFill>
            <a:srgbClr val="0D2837">
              <a:alpha val="97000"/>
            </a:srgbClr>
          </a:solidFill>
          <a:ln w="13970">
            <a:solidFill>
              <a:srgbClr val="26C2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98264" y="1280160"/>
            <a:ext cx="3364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26C281"/>
                </a:solidFill>
              </a:rPr>
              <a:t>Tanulói feladat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398264" y="1645920"/>
            <a:ext cx="3364992" cy="1344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B9C7D1"/>
                </a:solidFill>
              </a:rPr>
              <a:t>HTTP GET csomagból Follow TCP Stream; olvasd ki a kérés és válasz elemeit.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8092440" y="1143000"/>
            <a:ext cx="3657600" cy="1965960"/>
          </a:xfrm>
          <a:prstGeom prst="roundRect">
            <a:avLst>
              <a:gd name="adj" fmla="val 3721"/>
            </a:avLst>
          </a:prstGeom>
          <a:solidFill>
            <a:srgbClr val="0D2837">
              <a:alpha val="97000"/>
            </a:srgbClr>
          </a:solidFill>
          <a:ln w="13970">
            <a:solidFill>
              <a:srgbClr val="E85B5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38744" y="1280160"/>
            <a:ext cx="3364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E85B5B"/>
                </a:solidFill>
              </a:rPr>
              <a:t>Bizonyíték / leadandó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238744" y="1645920"/>
            <a:ext cx="3364992" cy="1344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B9C7D1"/>
                </a:solidFill>
              </a:rPr>
              <a:t>Host, URI, státuszkód, válasz tartalma; HTTPS reflexió.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11480" y="3429000"/>
            <a:ext cx="11338560" cy="2331720"/>
          </a:xfrm>
          <a:prstGeom prst="roundRect">
            <a:avLst/>
          </a:prstGeom>
          <a:solidFill>
            <a:srgbClr val="051019"/>
          </a:solidFill>
          <a:ln w="12700">
            <a:solidFill>
              <a:srgbClr val="294C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6072" y="3566160"/>
            <a:ext cx="11009376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A6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Display: http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6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Right click packet → Follow → TCP Stream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712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B8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09. MODUL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438912"/>
            <a:ext cx="11247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5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Labor 5 – Cisco SPAN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320040" y="6537960"/>
            <a:ext cx="3200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88494"/>
                </a:solidFill>
              </a:rPr>
              <a:t>ETIKUS HACKELÉS • 13. évfolyam</a:t>
            </a:r>
            <a:endParaRPr lang="en-US" sz="65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3657600" cy="1965960"/>
          </a:xfrm>
          <a:prstGeom prst="roundRect">
            <a:avLst>
              <a:gd name="adj" fmla="val 3721"/>
            </a:avLst>
          </a:prstGeom>
          <a:solidFill>
            <a:srgbClr val="0D2837">
              <a:alpha val="97000"/>
            </a:srgbClr>
          </a:solidFill>
          <a:ln w="13970">
            <a:solidFill>
              <a:srgbClr val="F2B13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57784" y="1280160"/>
            <a:ext cx="3364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2B134"/>
                </a:solidFill>
              </a:rPr>
              <a:t>Tanári előkészítés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57784" y="1645920"/>
            <a:ext cx="3364992" cy="1344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B9C7D1"/>
                </a:solidFill>
              </a:rPr>
              <a:t>6 pod; kliens- és analyzer-port kijelölve; config mentve.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251960" y="1143000"/>
            <a:ext cx="3657600" cy="1965960"/>
          </a:xfrm>
          <a:prstGeom prst="roundRect">
            <a:avLst>
              <a:gd name="adj" fmla="val 3721"/>
            </a:avLst>
          </a:prstGeom>
          <a:solidFill>
            <a:srgbClr val="0D2837">
              <a:alpha val="97000"/>
            </a:srgbClr>
          </a:solidFill>
          <a:ln w="13970">
            <a:solidFill>
              <a:srgbClr val="26C2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98264" y="1280160"/>
            <a:ext cx="3364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26C281"/>
                </a:solidFill>
              </a:rPr>
              <a:t>Tanulói feladat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398264" y="1645920"/>
            <a:ext cx="3364992" cy="1344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B9C7D1"/>
                </a:solidFill>
              </a:rPr>
              <a:t>SPAN beállítás, analyzer capture, kliens ping + HTTP, majd SPAN törlése.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8092440" y="1143000"/>
            <a:ext cx="3657600" cy="1965960"/>
          </a:xfrm>
          <a:prstGeom prst="roundRect">
            <a:avLst>
              <a:gd name="adj" fmla="val 3721"/>
            </a:avLst>
          </a:prstGeom>
          <a:solidFill>
            <a:srgbClr val="0D2837">
              <a:alpha val="97000"/>
            </a:srgbClr>
          </a:solidFill>
          <a:ln w="13970">
            <a:solidFill>
              <a:srgbClr val="E85B5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38744" y="1280160"/>
            <a:ext cx="3364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E85B5B"/>
                </a:solidFill>
              </a:rPr>
              <a:t>Bizonyíték / leadandó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238744" y="1645920"/>
            <a:ext cx="3364992" cy="1344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B9C7D1"/>
                </a:solidFill>
              </a:rPr>
              <a:t>show monitor session + PCAP frame-ek + retest.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11480" y="3429000"/>
            <a:ext cx="11338560" cy="2331720"/>
          </a:xfrm>
          <a:prstGeom prst="roundRect">
            <a:avLst/>
          </a:prstGeom>
          <a:solidFill>
            <a:srgbClr val="051019"/>
          </a:solidFill>
          <a:ln w="12700">
            <a:solidFill>
              <a:srgbClr val="294C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6072" y="3566160"/>
            <a:ext cx="11009376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A6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monitor session 1 source interface &lt;SOURCE&gt; both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6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monitor session 1 destination interface &lt;DEST&gt;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6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 monitor session 1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6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Visszaállítás: no monitor session 1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712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B8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09. MODUL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438912"/>
            <a:ext cx="11247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5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Labor 6 – 3 routeres traceroute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320040" y="6537960"/>
            <a:ext cx="3200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88494"/>
                </a:solidFill>
              </a:rPr>
              <a:t>ETIKUS HACKELÉS • 13. évfolyam</a:t>
            </a:r>
            <a:endParaRPr lang="en-US" sz="65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3657600" cy="1965960"/>
          </a:xfrm>
          <a:prstGeom prst="roundRect">
            <a:avLst>
              <a:gd name="adj" fmla="val 3721"/>
            </a:avLst>
          </a:prstGeom>
          <a:solidFill>
            <a:srgbClr val="0D2837">
              <a:alpha val="97000"/>
            </a:srgbClr>
          </a:solidFill>
          <a:ln w="13970">
            <a:solidFill>
              <a:srgbClr val="F2B13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57784" y="1280160"/>
            <a:ext cx="3364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2B134"/>
                </a:solidFill>
              </a:rPr>
              <a:t>Tanári előkészítés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57784" y="1645920"/>
            <a:ext cx="3364992" cy="1344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B9C7D1"/>
                </a:solidFill>
              </a:rPr>
              <a:t>2×3 routeres lánc, routing kész, távoli Debian pingelhető.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251960" y="1143000"/>
            <a:ext cx="3657600" cy="1965960"/>
          </a:xfrm>
          <a:prstGeom prst="roundRect">
            <a:avLst>
              <a:gd name="adj" fmla="val 3721"/>
            </a:avLst>
          </a:prstGeom>
          <a:solidFill>
            <a:srgbClr val="0D2837">
              <a:alpha val="97000"/>
            </a:srgbClr>
          </a:solidFill>
          <a:ln w="13970">
            <a:solidFill>
              <a:srgbClr val="26C2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98264" y="1280160"/>
            <a:ext cx="3364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26C281"/>
                </a:solidFill>
              </a:rPr>
              <a:t>Tanulói feladat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398264" y="1645920"/>
            <a:ext cx="3364992" cy="1344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B9C7D1"/>
                </a:solidFill>
              </a:rPr>
              <a:t>Traceroute a szerverre; keresd az ICMP Time Exceeded csomagokat és TTL-t.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8092440" y="1143000"/>
            <a:ext cx="3657600" cy="1965960"/>
          </a:xfrm>
          <a:prstGeom prst="roundRect">
            <a:avLst>
              <a:gd name="adj" fmla="val 3721"/>
            </a:avLst>
          </a:prstGeom>
          <a:solidFill>
            <a:srgbClr val="0D2837">
              <a:alpha val="97000"/>
            </a:srgbClr>
          </a:solidFill>
          <a:ln w="13970">
            <a:solidFill>
              <a:srgbClr val="E85B5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38744" y="1280160"/>
            <a:ext cx="3364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E85B5B"/>
                </a:solidFill>
              </a:rPr>
              <a:t>Bizonyíték / leadandó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238744" y="1645920"/>
            <a:ext cx="3364992" cy="1344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B9C7D1"/>
                </a:solidFill>
              </a:rPr>
              <a:t>Hop IP-k, frame számok, TTL/ICMP magyarázat.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11480" y="3429000"/>
            <a:ext cx="11338560" cy="2331720"/>
          </a:xfrm>
          <a:prstGeom prst="roundRect">
            <a:avLst/>
          </a:prstGeom>
          <a:solidFill>
            <a:srgbClr val="051019"/>
          </a:solidFill>
          <a:ln w="12700">
            <a:solidFill>
              <a:srgbClr val="294C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6072" y="3566160"/>
            <a:ext cx="11009376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A6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traceroute 10.9.30.10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6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Display: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6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icmp || udp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712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B8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09. MODUL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438912"/>
            <a:ext cx="11247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5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Labor 7 – Statisztikai térkép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320040" y="6537960"/>
            <a:ext cx="3200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88494"/>
                </a:solidFill>
              </a:rPr>
              <a:t>ETIKUS HACKELÉS • 13. évfolyam</a:t>
            </a:r>
            <a:endParaRPr lang="en-US" sz="65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3657600" cy="1965960"/>
          </a:xfrm>
          <a:prstGeom prst="roundRect">
            <a:avLst>
              <a:gd name="adj" fmla="val 3721"/>
            </a:avLst>
          </a:prstGeom>
          <a:solidFill>
            <a:srgbClr val="0D2837">
              <a:alpha val="97000"/>
            </a:srgbClr>
          </a:solidFill>
          <a:ln w="13970">
            <a:solidFill>
              <a:srgbClr val="F2B13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57784" y="1280160"/>
            <a:ext cx="3364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2B134"/>
                </a:solidFill>
              </a:rPr>
              <a:t>Tanári előkészítés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57784" y="1645920"/>
            <a:ext cx="3364992" cy="1344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B9C7D1"/>
                </a:solidFill>
              </a:rPr>
              <a:t>09_incident_ctf.pcap kiosztva.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251960" y="1143000"/>
            <a:ext cx="3657600" cy="1965960"/>
          </a:xfrm>
          <a:prstGeom prst="roundRect">
            <a:avLst>
              <a:gd name="adj" fmla="val 3721"/>
            </a:avLst>
          </a:prstGeom>
          <a:solidFill>
            <a:srgbClr val="0D2837">
              <a:alpha val="97000"/>
            </a:srgbClr>
          </a:solidFill>
          <a:ln w="13970">
            <a:solidFill>
              <a:srgbClr val="26C2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98264" y="1280160"/>
            <a:ext cx="3364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26C281"/>
                </a:solidFill>
              </a:rPr>
              <a:t>Tanulói feladat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398264" y="1645920"/>
            <a:ext cx="3364992" cy="1344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B9C7D1"/>
                </a:solidFill>
              </a:rPr>
              <a:t>Protocol Hierarchy + Endpoints + Conversations; keresd a szokatlan portot.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8092440" y="1143000"/>
            <a:ext cx="3657600" cy="1965960"/>
          </a:xfrm>
          <a:prstGeom prst="roundRect">
            <a:avLst>
              <a:gd name="adj" fmla="val 3721"/>
            </a:avLst>
          </a:prstGeom>
          <a:solidFill>
            <a:srgbClr val="0D2837">
              <a:alpha val="97000"/>
            </a:srgbClr>
          </a:solidFill>
          <a:ln w="13970">
            <a:solidFill>
              <a:srgbClr val="E85B5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38744" y="1280160"/>
            <a:ext cx="3364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E85B5B"/>
                </a:solidFill>
              </a:rPr>
              <a:t>Bizonyíték / leadandó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238744" y="1645920"/>
            <a:ext cx="3364992" cy="1344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B9C7D1"/>
                </a:solidFill>
              </a:rPr>
              <a:t>Top végpontok, conversationök, protokollmegoszlás.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11480" y="3429000"/>
            <a:ext cx="11338560" cy="2331720"/>
          </a:xfrm>
          <a:prstGeom prst="roundRect">
            <a:avLst/>
          </a:prstGeom>
          <a:solidFill>
            <a:srgbClr val="051019"/>
          </a:solidFill>
          <a:ln w="12700">
            <a:solidFill>
              <a:srgbClr val="294C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6072" y="3566160"/>
            <a:ext cx="11009376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A6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Statistics → Protocol Hierarchy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6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Statistics → Endpoints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6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Statistics → Conversations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712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B8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09. MODUL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438912"/>
            <a:ext cx="11247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5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Labor 8 – TShark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320040" y="6537960"/>
            <a:ext cx="3200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88494"/>
                </a:solidFill>
              </a:rPr>
              <a:t>ETIKUS HACKELÉS • 13. évfolyam</a:t>
            </a:r>
            <a:endParaRPr lang="en-US" sz="65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3657600" cy="1965960"/>
          </a:xfrm>
          <a:prstGeom prst="roundRect">
            <a:avLst>
              <a:gd name="adj" fmla="val 3721"/>
            </a:avLst>
          </a:prstGeom>
          <a:solidFill>
            <a:srgbClr val="0D2837">
              <a:alpha val="97000"/>
            </a:srgbClr>
          </a:solidFill>
          <a:ln w="13970">
            <a:solidFill>
              <a:srgbClr val="F2B13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57784" y="1280160"/>
            <a:ext cx="3364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2B134"/>
                </a:solidFill>
              </a:rPr>
              <a:t>Tanári előkészítés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57784" y="1645920"/>
            <a:ext cx="3364992" cy="1344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B9C7D1"/>
                </a:solidFill>
              </a:rPr>
              <a:t>TShark telepítve; 09_alapforgalom.pcap.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251960" y="1143000"/>
            <a:ext cx="3657600" cy="1965960"/>
          </a:xfrm>
          <a:prstGeom prst="roundRect">
            <a:avLst>
              <a:gd name="adj" fmla="val 3721"/>
            </a:avLst>
          </a:prstGeom>
          <a:solidFill>
            <a:srgbClr val="0D2837">
              <a:alpha val="97000"/>
            </a:srgbClr>
          </a:solidFill>
          <a:ln w="13970">
            <a:solidFill>
              <a:srgbClr val="26C2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398264" y="1280160"/>
            <a:ext cx="3364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26C281"/>
                </a:solidFill>
              </a:rPr>
              <a:t>Tanulói feladat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398264" y="1645920"/>
            <a:ext cx="3364992" cy="1344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B9C7D1"/>
                </a:solidFill>
              </a:rPr>
              <a:t>Listázd DNS/HTTP forgalmat és exportáld a HTTP request mezőit.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8092440" y="1143000"/>
            <a:ext cx="3657600" cy="1965960"/>
          </a:xfrm>
          <a:prstGeom prst="roundRect">
            <a:avLst>
              <a:gd name="adj" fmla="val 3721"/>
            </a:avLst>
          </a:prstGeom>
          <a:solidFill>
            <a:srgbClr val="0D2837">
              <a:alpha val="97000"/>
            </a:srgbClr>
          </a:solidFill>
          <a:ln w="13970">
            <a:solidFill>
              <a:srgbClr val="E85B5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38744" y="1280160"/>
            <a:ext cx="33649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E85B5B"/>
                </a:solidFill>
              </a:rPr>
              <a:t>Bizonyíték / leadandó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238744" y="1645920"/>
            <a:ext cx="3364992" cy="134416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B9C7D1"/>
                </a:solidFill>
              </a:rPr>
              <a:t>Parancsok + CSV első sorai.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11480" y="3429000"/>
            <a:ext cx="11338560" cy="2331720"/>
          </a:xfrm>
          <a:prstGeom prst="roundRect">
            <a:avLst/>
          </a:prstGeom>
          <a:solidFill>
            <a:srgbClr val="051019"/>
          </a:solidFill>
          <a:ln w="12700">
            <a:solidFill>
              <a:srgbClr val="294C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6072" y="3566160"/>
            <a:ext cx="11009376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A6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tshark -r 09_alapforgalom.pcap -Y "http.request" -T fields \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6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-e frame.number -e ip.src -e http.host -e http.request.uri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712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B8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09. MODUL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438912"/>
            <a:ext cx="11247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5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Mini CTF – Packet Detective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320040" y="6537960"/>
            <a:ext cx="3200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88494"/>
                </a:solidFill>
              </a:rPr>
              <a:t>ETIKUS HACKELÉS • 13. évfolyam</a:t>
            </a:r>
            <a:endParaRPr lang="en-US" sz="650" dirty="0"/>
          </a:p>
        </p:txBody>
      </p:sp>
      <p:sp>
        <p:nvSpPr>
          <p:cNvPr id="6" name="Shape 4"/>
          <p:cNvSpPr/>
          <p:nvPr/>
        </p:nvSpPr>
        <p:spPr>
          <a:xfrm>
            <a:off x="457200" y="1097280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0D2837">
              <a:alpha val="97000"/>
            </a:srgbClr>
          </a:solidFill>
          <a:ln w="13970">
            <a:solidFill>
              <a:srgbClr val="00B8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03504" y="1234440"/>
            <a:ext cx="3273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0B8D9"/>
                </a:solidFill>
              </a:rPr>
              <a:t>1 • Ki?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03504" y="1600200"/>
            <a:ext cx="3273552" cy="1207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B9C7D1"/>
                </a:solidFill>
              </a:rPr>
              <a:t>Azonosítsd a gyanús forrás IP-t.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297680" y="1097280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0D2837">
              <a:alpha val="97000"/>
            </a:srgbClr>
          </a:solidFill>
          <a:ln w="13970">
            <a:solidFill>
              <a:srgbClr val="F2B13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43984" y="1234440"/>
            <a:ext cx="3273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2B134"/>
                </a:solidFill>
              </a:rPr>
              <a:t>2 • Hova?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443984" y="1600200"/>
            <a:ext cx="3273552" cy="1207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B9C7D1"/>
                </a:solidFill>
              </a:rPr>
              <a:t>DNS név + szokatlan TCP célport.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8138160" y="1097280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0D2837">
              <a:alpha val="97000"/>
            </a:srgbClr>
          </a:solidFill>
          <a:ln w="13970">
            <a:solidFill>
              <a:srgbClr val="E85B5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84464" y="1234440"/>
            <a:ext cx="3273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E85B5B"/>
                </a:solidFill>
              </a:rPr>
              <a:t>3 • Mit kért?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284464" y="1600200"/>
            <a:ext cx="3273552" cy="1207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B9C7D1"/>
                </a:solidFill>
              </a:rPr>
              <a:t>HTTP URI + FLAG a streamben.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3337560"/>
            <a:ext cx="11247120" cy="2011680"/>
          </a:xfrm>
          <a:prstGeom prst="roundRect">
            <a:avLst/>
          </a:prstGeom>
          <a:solidFill>
            <a:srgbClr val="051019"/>
          </a:solidFill>
          <a:ln w="12700">
            <a:solidFill>
              <a:srgbClr val="294C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1792" y="3474720"/>
            <a:ext cx="1091793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A6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Fájl: 09_incident_ctf.pcap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6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Javasolt út: Statistics → Endpoints → dns → tcp.port == 8080 → http → Follow TCP Stream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A6E9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Minden megállapításhoz: frame szám + filter + 1 mondat értelmezés.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712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B8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09. MODUL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438912"/>
            <a:ext cx="11247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5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packet capture nem jelentés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320040" y="6537960"/>
            <a:ext cx="3200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88494"/>
                </a:solidFill>
              </a:rPr>
              <a:t>ETIKUS HACKELÉS • 13. évfolyam</a:t>
            </a:r>
            <a:endParaRPr lang="en-US" sz="650" dirty="0"/>
          </a:p>
        </p:txBody>
      </p:sp>
      <p:sp>
        <p:nvSpPr>
          <p:cNvPr id="6" name="Shape 4"/>
          <p:cNvSpPr/>
          <p:nvPr/>
        </p:nvSpPr>
        <p:spPr>
          <a:xfrm>
            <a:off x="411480" y="1188720"/>
            <a:ext cx="2560320" cy="1828800"/>
          </a:xfrm>
          <a:prstGeom prst="roundRect">
            <a:avLst>
              <a:gd name="adj" fmla="val 4000"/>
            </a:avLst>
          </a:prstGeom>
          <a:solidFill>
            <a:srgbClr val="0D2837">
              <a:alpha val="97000"/>
            </a:srgbClr>
          </a:solidFill>
          <a:ln w="13970">
            <a:solidFill>
              <a:srgbClr val="00B8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57784" y="1325880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0B8D9"/>
                </a:solidFill>
              </a:rPr>
              <a:t>SCOPE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57784" y="1691640"/>
            <a:ext cx="2267712" cy="1207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B9C7D1"/>
                </a:solidFill>
              </a:rPr>
              <a:t>Mit és hol rögzítettünk?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154680" y="1188720"/>
            <a:ext cx="2560320" cy="1828800"/>
          </a:xfrm>
          <a:prstGeom prst="roundRect">
            <a:avLst>
              <a:gd name="adj" fmla="val 4000"/>
            </a:avLst>
          </a:prstGeom>
          <a:solidFill>
            <a:srgbClr val="0D2837">
              <a:alpha val="97000"/>
            </a:srgbClr>
          </a:solidFill>
          <a:ln w="13970">
            <a:solidFill>
              <a:srgbClr val="26C2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00984" y="1325880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26C281"/>
                </a:solidFill>
              </a:rPr>
              <a:t>EVIDENCE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300984" y="1691640"/>
            <a:ext cx="2267712" cy="1207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B9C7D1"/>
                </a:solidFill>
              </a:rPr>
              <a:t>Frame szám, filter, konkrét mező.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897880" y="1188720"/>
            <a:ext cx="2560320" cy="1828800"/>
          </a:xfrm>
          <a:prstGeom prst="roundRect">
            <a:avLst>
              <a:gd name="adj" fmla="val 4000"/>
            </a:avLst>
          </a:prstGeom>
          <a:solidFill>
            <a:srgbClr val="0D2837">
              <a:alpha val="97000"/>
            </a:srgbClr>
          </a:solidFill>
          <a:ln w="13970">
            <a:solidFill>
              <a:srgbClr val="F2B13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44184" y="1325880"/>
            <a:ext cx="22677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2B134"/>
                </a:solidFill>
              </a:rPr>
              <a:t>INTERPRETATION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044184" y="1691640"/>
            <a:ext cx="2267712" cy="1207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B9C7D1"/>
                </a:solidFill>
              </a:rPr>
              <a:t>Mit jelent a csomagok időrendje?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641080" y="1188720"/>
            <a:ext cx="3063240" cy="1828800"/>
          </a:xfrm>
          <a:prstGeom prst="roundRect">
            <a:avLst>
              <a:gd name="adj" fmla="val 4000"/>
            </a:avLst>
          </a:prstGeom>
          <a:solidFill>
            <a:srgbClr val="0D2837">
              <a:alpha val="97000"/>
            </a:srgbClr>
          </a:solidFill>
          <a:ln w="13970">
            <a:solidFill>
              <a:srgbClr val="E85B5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787384" y="1325880"/>
            <a:ext cx="27706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E85B5B"/>
                </a:solidFill>
              </a:rPr>
              <a:t>LIMITATIONS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787384" y="1691640"/>
            <a:ext cx="2770632" cy="120700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B9C7D1"/>
                </a:solidFill>
              </a:rPr>
              <a:t>Mit nem bizonyít ez a capture?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40080" y="416052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F8FA"/>
                </a:solidFill>
              </a:rPr>
              <a:t>Megfigyelés → bizonyíték → értelmezés → korlát → következtetés</a:t>
            </a:r>
            <a:endParaRPr lang="en-US" sz="2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712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00B8D9"/>
          </a:solidFill>
          <a:ln w="12700">
            <a:solidFill>
              <a:srgbClr val="00B8D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8288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00B8D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09. MODUL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20040" y="438912"/>
            <a:ext cx="11247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5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Modulzárás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320040" y="6537960"/>
            <a:ext cx="3200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88494"/>
                </a:solidFill>
              </a:rPr>
              <a:t>ETIKUS HACKELÉS • 13. évfolyam</a:t>
            </a:r>
            <a:endParaRPr lang="en-US" sz="650" dirty="0"/>
          </a:p>
        </p:txBody>
      </p:sp>
      <p:sp>
        <p:nvSpPr>
          <p:cNvPr id="6" name="Shape 4"/>
          <p:cNvSpPr/>
          <p:nvPr/>
        </p:nvSpPr>
        <p:spPr>
          <a:xfrm>
            <a:off x="502920" y="1051560"/>
            <a:ext cx="5669280" cy="4846320"/>
          </a:xfrm>
          <a:prstGeom prst="roundRect">
            <a:avLst/>
          </a:prstGeom>
          <a:solidFill>
            <a:srgbClr val="0D2837"/>
          </a:solidFill>
          <a:ln w="15240">
            <a:solidFill>
              <a:srgbClr val="00B8D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417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B8D9"/>
                </a:solidFill>
              </a:rPr>
              <a:t>A modul végére a tanuló: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1874520"/>
            <a:ext cx="4983480" cy="33832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F5F8FA"/>
                </a:solidFill>
              </a:rPr>
              <a:t>• élő forgalmat rögzít és szűr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5F8FA"/>
                </a:solidFill>
              </a:rPr>
              <a:t>• TCP/DNS/HTTP történetet rekonstruál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5F8FA"/>
                </a:solidFill>
              </a:rPr>
              <a:t>• Cisco SPAN-nal megfigyelési pontot épít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5F8FA"/>
                </a:solidFill>
              </a:rPr>
              <a:t>• több routeren át TTL/ICMP folyamatot elemez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5F8FA"/>
                </a:solidFill>
              </a:rPr>
              <a:t>• TSharkkal reprodukálható kivonatot készít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F5F8FA"/>
                </a:solidFill>
              </a:rPr>
              <a:t>• PCAP incidensből bizonyítékjelentést ír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492240" y="1051560"/>
            <a:ext cx="5166360" cy="1234440"/>
          </a:xfrm>
          <a:prstGeom prst="roundRect">
            <a:avLst>
              <a:gd name="adj" fmla="val 5926"/>
            </a:avLst>
          </a:prstGeom>
          <a:solidFill>
            <a:srgbClr val="0D2837">
              <a:alpha val="97000"/>
            </a:srgbClr>
          </a:solidFill>
          <a:ln w="13970">
            <a:solidFill>
              <a:srgbClr val="26C28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38544" y="1188720"/>
            <a:ext cx="4873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26C281"/>
                </a:solidFill>
              </a:rPr>
              <a:t>KÖVETKEZŐ SZINT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638544" y="1554480"/>
            <a:ext cx="4873752" cy="6126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B9C7D1"/>
                </a:solidFill>
              </a:rPr>
              <a:t>A capture már nem „rengeteg sor”, hanem események időrendi bizonyítéka.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492240" y="2606040"/>
            <a:ext cx="5166360" cy="1234440"/>
          </a:xfrm>
          <a:prstGeom prst="roundRect">
            <a:avLst>
              <a:gd name="adj" fmla="val 5926"/>
            </a:avLst>
          </a:prstGeom>
          <a:solidFill>
            <a:srgbClr val="0D2837">
              <a:alpha val="97000"/>
            </a:srgbClr>
          </a:solidFill>
          <a:ln w="13970">
            <a:solidFill>
              <a:srgbClr val="F2B13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38544" y="2743200"/>
            <a:ext cx="4873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2B134"/>
                </a:solidFill>
              </a:rPr>
              <a:t>MINI CTF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638544" y="3108960"/>
            <a:ext cx="4873752" cy="6126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B9C7D1"/>
                </a:solidFill>
              </a:rPr>
              <a:t>Packet Detective: stream, port, DNS és frame-szintű nyomok.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492240" y="4160520"/>
            <a:ext cx="5166360" cy="1234440"/>
          </a:xfrm>
          <a:prstGeom prst="roundRect">
            <a:avLst>
              <a:gd name="adj" fmla="val 5926"/>
            </a:avLst>
          </a:prstGeom>
          <a:solidFill>
            <a:srgbClr val="0D2837">
              <a:alpha val="97000"/>
            </a:srgbClr>
          </a:solidFill>
          <a:ln w="13970">
            <a:solidFill>
              <a:srgbClr val="E85B5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38544" y="4297680"/>
            <a:ext cx="4873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E85B5B"/>
                </a:solidFill>
              </a:rPr>
              <a:t>SZAKMAI SZEMLÉLET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638544" y="4663440"/>
            <a:ext cx="4873752" cy="6126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B9C7D1"/>
                </a:solidFill>
              </a:rPr>
              <a:t>Mindig kérdezd: hol készült a capture, mit látunk és mit nem látunk?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Oktatási tananyag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Wireshark és hálózati forgalomelemzés</dc:title>
  <dc:subject>09. modul – Wireshark és hálózati forgalomelemzés</dc:subject>
  <dc:creator>OpenAI</dc:creator>
  <cp:lastModifiedBy>OpenAI</cp:lastModifiedBy>
  <cp:revision>1</cp:revision>
  <dcterms:created xsi:type="dcterms:W3CDTF">2026-08-09T10:17:34Z</dcterms:created>
  <dcterms:modified xsi:type="dcterms:W3CDTF">2026-08-09T10:17:34Z</dcterms:modified>
</cp:coreProperties>
</file>