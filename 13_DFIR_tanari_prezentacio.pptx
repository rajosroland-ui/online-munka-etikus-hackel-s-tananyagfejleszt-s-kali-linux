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85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D5FF"/>
                </a:solidFill>
                <a:latin typeface="Aptos"/>
              </a:rPr>
              <a:t>13. MODUL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65836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9FF"/>
                </a:solidFill>
                <a:latin typeface="Aptos"/>
              </a:rPr>
              <a:t>Digitális forensics
és incidenskezelés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146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Bizonyíték • idővonal • logok • PCAP • Autopsy • incident response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074920"/>
            <a:ext cx="2331720" cy="10058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522122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3 POD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5715000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6 router + 6 switch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5074920"/>
            <a:ext cx="2331720" cy="10058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9272" y="522122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9 LAB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5715000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mindenhez teacher prep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50992" y="5074920"/>
            <a:ext cx="2331720" cy="10058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5583" y="5221224"/>
            <a:ext cx="2002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2 TANULÓI FORMÁTUM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5583" y="5715000"/>
            <a:ext cx="20025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DOCX + tanulói PPT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TANULÁSI CÉLOK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Mit kell tudni a modul végére?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Nem eszközlistát tanulunk – bizonyítékból építünk következtetést.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3429000" cy="12344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66090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01  Evidence integrity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154680"/>
            <a:ext cx="30998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SHA-256, chain of custody, másolat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14600"/>
            <a:ext cx="3429000" cy="12344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66090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02  Host forensics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154680"/>
            <a:ext cx="30998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Windows + Linux logok és folyamatok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514600"/>
            <a:ext cx="3429000" cy="12344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66090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03  Network forensics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154680"/>
            <a:ext cx="30998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PCAP, DNS/HTTP, Cisco syslog, SPAN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023360"/>
            <a:ext cx="3429000" cy="12344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416966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04  Timeline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663440"/>
            <a:ext cx="30998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több forrás időbeli korrelációja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023360"/>
            <a:ext cx="3429000" cy="12344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416966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05  Autopsy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4663440"/>
            <a:ext cx="30998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case, logical files, ingest, report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4023360"/>
            <a:ext cx="3429000" cy="12344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416966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06  IR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663440"/>
            <a:ext cx="309981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containment → remediation → retest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ALAPFOGALOM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Esemény ≠ riasztás ≠ incidens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triage első feladata a kategóriák szétválasztása.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3383280" cy="26517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23744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ESEMÉNY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17520"/>
            <a:ext cx="305409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Naplózható rendszeraktivitás.
Példa: 4688 process creation, DNS query, HTTP GET.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377440"/>
            <a:ext cx="3383280" cy="26517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523744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RIASZTÁS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3017520"/>
            <a:ext cx="305409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Szabály/anomália miatt figyelmet igénylő jel.
Még nem bizonyítja önmagában az incidenst.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377440"/>
            <a:ext cx="3383280" cy="26517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2523744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5B5B"/>
                </a:solidFill>
                <a:latin typeface="Aptos"/>
              </a:rPr>
              <a:t>INCIDENS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3017520"/>
            <a:ext cx="305409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Valós vagy valószínűsíthető biztonsági hatás.
Scope + bizonyíték + döntés szükséges.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BIZONYÍTÉKKEZELÉS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A bizonyíték értéke: integritás + kontextus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hash nem „bizonyítja a támadást” – azt bizonyítja, hogy ugyanazt a bájtsorozatot vizsgáljuk.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3108960" cy="25603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23744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SHA-256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17520"/>
            <a:ext cx="277977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Azonosítás és sértetlenség-ellenőrzés.
Original → analysis copy → hash újra.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377440"/>
            <a:ext cx="3108960" cy="25603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5112" y="2523744"/>
            <a:ext cx="2779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CHAIN OF CUSTODY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5112" y="3017520"/>
            <a:ext cx="277977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Ki? Mikor? Honnan? Mit tett vele?
Evidence ID + időpont + kezelő + átadás.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2377440"/>
            <a:ext cx="3794760" cy="25603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2523744"/>
            <a:ext cx="3465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EVIDENCE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3017520"/>
            <a:ext cx="346557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Konkrét hivatkozás: Event ID, log sor, frame szám, fájlhash, időbélyeg.
Tény ≠ hipotézis.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9FF"/>
                </a:solidFill>
                <a:latin typeface="Aptos"/>
              </a:rPr>
              <a:t>Incident response + forensics: egy ciklus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C7D9"/>
                </a:solidFill>
                <a:latin typeface="Aptos"/>
              </a:rPr>
              <a:t>Felkészülés → észlelés → containment → evidence → elemzés → recovery → tanulság</a:t>
            </a:r>
          </a:p>
        </p:txBody>
      </p:sp>
      <p:pic>
        <p:nvPicPr>
          <p:cNvPr id="5" name="Picture 4" descr="cyc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17320"/>
            <a:ext cx="1001268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ORDER OF VOLATILITY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Mit gyűjtsünk először?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gyorsan változó adat magasabb prioritást kaphat, de a gyűjtés mindig kockázat- és helyzetfüggő.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D5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148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9FF"/>
                </a:solidFill>
                <a:latin typeface="Aptos"/>
              </a:rPr>
              <a:t>Aktív hálózati kapcsolatok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2148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C7D9"/>
                </a:solidFill>
                <a:latin typeface="Aptos"/>
              </a:rPr>
              <a:t>ss / netstat / Get-NetTCPConnection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D5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9FF"/>
                </a:solidFill>
                <a:latin typeface="Aptos"/>
              </a:rPr>
              <a:t>Futó folyamatok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9260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C7D9"/>
                </a:solidFill>
                <a:latin typeface="Aptos"/>
              </a:rPr>
              <a:t>ps / Get-Process / process 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D5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03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9FF"/>
                </a:solidFill>
                <a:latin typeface="Aptos"/>
              </a:rPr>
              <a:t>Bejelentkezett felhasználók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37033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C7D9"/>
                </a:solidFill>
                <a:latin typeface="Aptos"/>
              </a:rPr>
              <a:t>who / query user / session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D5FF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480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9FF"/>
                </a:solidFill>
                <a:latin typeface="Aptos"/>
              </a:rPr>
              <a:t>Naplók és fájlok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4480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C7D9"/>
                </a:solidFill>
                <a:latin typeface="Aptos"/>
              </a:rPr>
              <a:t>Event Log / journal / Apache / PCAP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D5FF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5257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9FF"/>
                </a:solidFill>
                <a:latin typeface="Aptos"/>
              </a:rPr>
              <a:t>Konfigurációk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66360" y="52578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8C7D9"/>
                </a:solidFill>
                <a:latin typeface="Aptos"/>
              </a:rPr>
              <a:t>services, routes, ACL, scheduled tasks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HOST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Windows: mit nézzünk?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Natív Event Viewerrel is végigvihető; Sysmon csak opcionális bővítés.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212080" cy="987552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40864"/>
            <a:ext cx="4882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34639"/>
            <a:ext cx="4882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4624/4634 logon-logoff, 4688 process creation (ha audit engedélyezett)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194560"/>
            <a:ext cx="5212080" cy="987552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2340864"/>
            <a:ext cx="4882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1" y="2834639"/>
            <a:ext cx="4882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szolgáltatások, driver, rendszerállapot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29000"/>
            <a:ext cx="5212080" cy="987552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575304"/>
            <a:ext cx="4882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Application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4069080"/>
            <a:ext cx="4882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alkalmazás- és lab marker események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3429000"/>
            <a:ext cx="5212080" cy="987552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1" y="3575304"/>
            <a:ext cx="4882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Process / Network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1" y="4069080"/>
            <a:ext cx="4882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Get-Process, Get-NetTCPConnection, hash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5212080" cy="987552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809744"/>
            <a:ext cx="4882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Sysmon (opcionális)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303520"/>
            <a:ext cx="48828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részletes process/network/file telemetria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HOST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Linux: journal + szolgáltatáslog + rendszerállapot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Ne „grep-verseny” legyen: időablak + kérdés + bizonyíték.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383280" cy="24231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86584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journalctl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80360"/>
            <a:ext cx="3054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systemd események
--since / --until
unit / priority szűrés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240280"/>
            <a:ext cx="3383280" cy="24231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2386584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Apache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880360"/>
            <a:ext cx="3054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access.log + error.log
forrás IP + URI + status
időbélyeg korreláció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240280"/>
            <a:ext cx="3383280" cy="24231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2386584"/>
            <a:ext cx="30540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Live triage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2880360"/>
            <a:ext cx="3054096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ps / ss / lsof
service status
file hash + timestamps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NETWORK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Network evidence: ugyanaz a történet másik nézőpontból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DNS → TCP → HTTP → server log → endpoint event.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743200"/>
            <a:ext cx="1965960" cy="12344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889504"/>
            <a:ext cx="1636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383280"/>
            <a:ext cx="16367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DNS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C7D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8648" y="2743200"/>
            <a:ext cx="1965960" cy="12344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889504"/>
            <a:ext cx="1636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383280"/>
            <a:ext cx="16367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TCP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C7D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2936" y="2743200"/>
            <a:ext cx="1965960" cy="12344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67528" y="2889504"/>
            <a:ext cx="1636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3383280"/>
            <a:ext cx="16367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HTTP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C7D9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07224" y="2743200"/>
            <a:ext cx="1965960" cy="12344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2889504"/>
            <a:ext cx="1636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7DDC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6" y="3383280"/>
            <a:ext cx="16367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Server log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8C7D9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11512" y="2743200"/>
            <a:ext cx="1965960" cy="12344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76104" y="2889504"/>
            <a:ext cx="16367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D187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76104" y="3383280"/>
            <a:ext cx="1636776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Endpoint 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5488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5F9FF"/>
                </a:solidFill>
                <a:latin typeface="Aptos"/>
              </a:rPr>
              <a:t>Kérdés a diáknak: melyik forrás támasztja alá, és melyik csak kiegészíti az állítást?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594360"/>
            <a:ext cx="6217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5F9FF"/>
                </a:solidFill>
                <a:latin typeface="Aptos"/>
              </a:rPr>
              <a:t>3 párhuzamos DFIR pod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887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CD5FF"/>
                </a:solidFill>
                <a:latin typeface="Aptos"/>
              </a:rPr>
              <a:t>6 router • 6 switch • 15 diákgép + 1 tanári/tartalék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937760"/>
            <a:ext cx="3337560" cy="1143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5084064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POD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5577840"/>
            <a:ext cx="30083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R1 + R2 • SW1 + SW2
10.13.11.0/24 ↔ 10.13.12.0/24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4937760"/>
            <a:ext cx="3337560" cy="1143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16552" y="5084064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POD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5577840"/>
            <a:ext cx="30083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R3 + R4 • SW3 + SW4
10.13.21.0/24 ↔ 10.13.22.0/24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45552" y="4937760"/>
            <a:ext cx="3337560" cy="1143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0144" y="5084064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POD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0144" y="5577840"/>
            <a:ext cx="300837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R5 + R6 • SW5 + SW6
10.13.31.0/24 ↔ 10.13.32.0/24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LAB ARCHITEKTÚRA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Egy pod – öt szerep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hálózat nem cél, hanem bizonyítékforrás és kontrollált incident-színpad.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2057400" cy="1874519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5694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Windows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063239"/>
            <a:ext cx="17282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.25
Event Log /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2423160"/>
            <a:ext cx="2057400" cy="1874519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25694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Kali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3063239"/>
            <a:ext cx="17282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.10
tesztforgalom / diagnosztika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59" y="2423160"/>
            <a:ext cx="2057400" cy="1874519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1" y="25694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Debian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1" y="3063239"/>
            <a:ext cx="17282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.20
Apache + Linux 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423160"/>
            <a:ext cx="2057400" cy="1874519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25694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7DDC"/>
                </a:solidFill>
                <a:latin typeface="Aptos"/>
              </a:rPr>
              <a:t>Syslog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3063239"/>
            <a:ext cx="17282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.30
Cisco loggyűjtő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2423160"/>
            <a:ext cx="2057400" cy="1874519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94392" y="25694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D187"/>
                </a:solidFill>
                <a:latin typeface="Aptos"/>
              </a:rPr>
              <a:t>DFIR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3063239"/>
            <a:ext cx="1728216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.40
Autopsy + Wireshark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ÉLŐ ESZKÖZ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Cisco syslog = hálózati idővonal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Konfigurációváltozás, link state, protokoll esemény – központi loggyűjtőre.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4937760" cy="310896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40864"/>
            <a:ext cx="46085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Router / switch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34639"/>
            <a:ext cx="4608576" cy="2359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service timestamps log datetime msec
logging buffered 64000 informational
logging host 10.13.12.30
logging trap informational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94560"/>
            <a:ext cx="5212080" cy="13258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2340864"/>
            <a:ext cx="4882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Mit bizonyíthat?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834639"/>
            <a:ext cx="4882896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Eszköz + idő + interfész + esemény → összevethető a kliens és szerver logjaival.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3749039"/>
            <a:ext cx="5212080" cy="15544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5352" y="3895344"/>
            <a:ext cx="48828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Tanári trükk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4389120"/>
            <a:ext cx="4882896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Egy LAB interfész shutdown/no shutdown vagy mentés biztonságos, jól látható eseményt generál.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ÉLŐ ESZKÖZ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SPAN: passzív hálózati bizonyíték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DFIR gép a capture idejére monitorportként működik.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2971800" cy="23774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78024"/>
            <a:ext cx="2642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SOURCE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2642616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SW2 Fa0/2
Debian webserver port
forrás: both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B8C7D9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331720"/>
            <a:ext cx="2971800" cy="23774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2478024"/>
            <a:ext cx="2642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SWITCH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16552" y="2971800"/>
            <a:ext cx="2642616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SPAN / port mirror
modellfüggő parancs
2960 minta a csomagban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B8C7D9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2331720"/>
            <a:ext cx="3429000" cy="23774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3699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DESTINATION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2971800"/>
            <a:ext cx="3099816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SW2 Fa0/4
DFIR + Wireshark
PCAP + SHA-256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FORENSICS GUI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Autopsy: a vizsgálat „case” struktúrában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Logical Files adatforrással kis, fiktív bizonyítékcsomagból dolgozunk.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743200"/>
            <a:ext cx="1874519" cy="13716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88950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383280"/>
            <a:ext cx="15453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Create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743200"/>
            <a:ext cx="1874519" cy="13716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88950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3383280"/>
            <a:ext cx="15453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Add Logical Files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2743200"/>
            <a:ext cx="1874519" cy="13716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0952" y="288950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3383280"/>
            <a:ext cx="15453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Ingest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2743200"/>
            <a:ext cx="1874519" cy="13716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288950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7DDC"/>
                </a:solidFill>
                <a:latin typeface="Apto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3383280"/>
            <a:ext cx="15453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Search / Tag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2743200"/>
            <a:ext cx="1874519" cy="13716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02952" y="288950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D187"/>
                </a:solidFill>
                <a:latin typeface="Aptos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2952" y="3383280"/>
            <a:ext cx="1545336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548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B8C7D9"/>
                </a:solidFill>
                <a:latin typeface="Aptos"/>
              </a:rPr>
              <a:t>BLUE-LANTERN • Extension mismatch • keyword hits • metaadat •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AUTOPSY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Mit elemezhet az Autopsy?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hivatalos útmutató disk image, local disk és logical files/folders forrást is támogat.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3246120" cy="24688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478024"/>
            <a:ext cx="2916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DISK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291693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Raw/dd vagy E01 jellegű forrás
klasszikus forensics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331720"/>
            <a:ext cx="3246120" cy="24688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478024"/>
            <a:ext cx="2916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LOCAL DISK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971800"/>
            <a:ext cx="291693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élő helyi lemez
triage jellegű használat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331720"/>
            <a:ext cx="3246120" cy="246888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2478024"/>
            <a:ext cx="2916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LOGICAL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19871" y="2971800"/>
            <a:ext cx="291693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oktatáshoz ideális
fájlok/mappák biztonságosan
importálhatók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Idővonal: több forrás, egy történet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döntő készség a korreláció.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D5FF"/>
                </a:solidFill>
                <a:latin typeface="Aptos"/>
              </a:rPr>
              <a:t>09:14:03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97480"/>
            <a:ext cx="1920240" cy="1600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843784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DNS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337560"/>
            <a:ext cx="159105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update-lab.local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2888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C7D9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D5FF"/>
                </a:solidFill>
                <a:latin typeface="Aptos"/>
              </a:rPr>
              <a:t>09:14:05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98648" y="2697480"/>
            <a:ext cx="1920240" cy="1600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843784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PCAP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337560"/>
            <a:ext cx="159105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HTTP GET agent_update.ps1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37176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C7D9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2936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D5FF"/>
                </a:solidFill>
                <a:latin typeface="Aptos"/>
              </a:rPr>
              <a:t>09:14:07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02936" y="2697480"/>
            <a:ext cx="1920240" cy="1600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67528" y="2843784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Windows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3337560"/>
            <a:ext cx="159105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curl.exe / process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1464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C7D9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7224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D5FF"/>
                </a:solidFill>
                <a:latin typeface="Aptos"/>
              </a:rPr>
              <a:t>09:14:10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07224" y="2697480"/>
            <a:ext cx="1920240" cy="1600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1816" y="2843784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7DDC"/>
                </a:solidFill>
                <a:latin typeface="Aptos"/>
              </a:rPr>
              <a:t>Linux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816" y="3337560"/>
            <a:ext cx="159105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IRLAB marker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32461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C7D9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11512" y="2240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CD5FF"/>
                </a:solidFill>
                <a:latin typeface="Aptos"/>
              </a:rPr>
              <a:t>09:14:16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11512" y="2697480"/>
            <a:ext cx="1920240" cy="16002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76104" y="2843784"/>
            <a:ext cx="15910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D187"/>
                </a:solidFill>
                <a:latin typeface="Aptos"/>
              </a:rPr>
              <a:t>Cisco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76104" y="3337560"/>
            <a:ext cx="159105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switch/syslog marker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GYAKORLAT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9 labor – egyre kevesebb „kézen fogás”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Az első laborok technikát, a végén a BLUE LANTERN döntéshozatalt gyakorolja.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5F9FF"/>
                </a:solidFill>
                <a:latin typeface="Aptos"/>
              </a:rPr>
              <a:t>1. Bizonyítékátvétel és SHA-256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5F9FF"/>
                </a:solidFill>
                <a:latin typeface="Aptos"/>
              </a:rPr>
              <a:t>2. Windows Event Log triage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03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5F9FF"/>
                </a:solidFill>
                <a:latin typeface="Aptos"/>
              </a:rPr>
              <a:t>3. Linux és Apache log nyomozás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80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5F9FF"/>
                </a:solidFill>
                <a:latin typeface="Aptos"/>
              </a:rPr>
              <a:t>4. Cisco syslog mint bizonyíték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2578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5F9FF"/>
                </a:solidFill>
                <a:latin typeface="Aptos"/>
              </a:rPr>
              <a:t>5. SPAN + Wireshark forensics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48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5F9FF"/>
                </a:solidFill>
                <a:latin typeface="Aptos"/>
              </a:rPr>
              <a:t>6. Autopsy: Logical Files vizsgálat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9260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5F9FF"/>
                </a:solidFill>
                <a:latin typeface="Aptos"/>
              </a:rPr>
              <a:t>7. Triage élő gépen: folyamatok és kapcsolatok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703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5F9FF"/>
                </a:solidFill>
                <a:latin typeface="Aptos"/>
              </a:rPr>
              <a:t>8. BLUE LANTERN: teljes incidensrekonstrukció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44805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5F9FF"/>
                </a:solidFill>
                <a:latin typeface="Aptos"/>
              </a:rPr>
              <a:t>9. Mini CTF: „Éjféli műszak”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TANÁRI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Minden labhoz külön tanári előkészítés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sikeres óra kulcsa: előre létrejött evidence, ismert rollback és ellenőrzött idő.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651760"/>
            <a:ext cx="1874519" cy="18288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279806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1 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291839"/>
            <a:ext cx="154533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topológia / VM / szolgáltatás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2651760"/>
            <a:ext cx="1874519" cy="18288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279806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2  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291839"/>
            <a:ext cx="154533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benign incidensesemény generálása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60" y="2651760"/>
            <a:ext cx="1874519" cy="18288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2" y="279806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3  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3291839"/>
            <a:ext cx="154533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log, PCAP, hash tényleg létrejött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2651760"/>
            <a:ext cx="1874519" cy="18288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279806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7DDC"/>
                </a:solidFill>
                <a:latin typeface="Aptos"/>
              </a:rPr>
              <a:t>4  Freeze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3291839"/>
            <a:ext cx="154533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scope + evidence set kiosztása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18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38360" y="2651760"/>
            <a:ext cx="1874519" cy="18288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02952" y="2798064"/>
            <a:ext cx="15453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D187"/>
                </a:solidFill>
                <a:latin typeface="Aptos"/>
              </a:rPr>
              <a:t>5  Reset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3291839"/>
            <a:ext cx="154533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cleanup / snapshot /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o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640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CD5FF"/>
                </a:solidFill>
                <a:latin typeface="Aptos"/>
              </a:rPr>
              <a:t>BLUE LANTERN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5F9FF"/>
                </a:solidFill>
                <a:latin typeface="Aptos"/>
              </a:rPr>
              <a:t>Komplex incidensrekonstrukció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Windows CSV + Linux/Apache + Cisco syslog + PCAP + fájlok → egységes idővonal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617720"/>
            <a:ext cx="3291840" cy="1143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4764024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CÉL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5257800"/>
            <a:ext cx="29626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10–15 eseményes timeline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4617720"/>
            <a:ext cx="3291840" cy="1143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4764024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BIZONYÍTÁS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257800"/>
            <a:ext cx="29626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minden állításhoz evidence reference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90688" y="4617720"/>
            <a:ext cx="3291840" cy="1143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4764024"/>
            <a:ext cx="29626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DÖNTÉS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5257800"/>
            <a:ext cx="296265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containment + remediation + retest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LAB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Live triage: kérdezz, mielőtt leállítasz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containment is módosítja a rendszert – dokumentáld előtte az állapotot.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331720"/>
            <a:ext cx="3429000" cy="1143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971800"/>
            <a:ext cx="30998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Melyik port hallgat?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331720"/>
            <a:ext cx="3429000" cy="1143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971800"/>
            <a:ext cx="30998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Melyik PID?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331720"/>
            <a:ext cx="3429000" cy="1143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247802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971800"/>
            <a:ext cx="30998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Mi a process path / command line?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749039"/>
            <a:ext cx="3429000" cy="1143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89534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" y="4389120"/>
            <a:ext cx="30998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Mi a fájl SHA-256?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749039"/>
            <a:ext cx="3429000" cy="1143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2" y="389534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2" y="4389120"/>
            <a:ext cx="30998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Biztonságos leállítás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749039"/>
            <a:ext cx="3429000" cy="11430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94192" y="389534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94192" y="4389120"/>
            <a:ext cx="3099816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Retest: port eltűnt?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Jelentés = bizonyítékból döntés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Külön kezeld a tényt, a hipotézist és a javaslatot.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2331720"/>
            <a:ext cx="3246120" cy="25146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478024"/>
            <a:ext cx="2916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TÉNY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71800"/>
            <a:ext cx="2916936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„09:14:05-kor a PCAP-ban HTTP GET látható a /packages/agent_update.ps1 útvonalra.”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331720"/>
            <a:ext cx="3246120" cy="25146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478024"/>
            <a:ext cx="2916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HIPOTÉZIS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971800"/>
            <a:ext cx="2916936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„Lehetséges, hogy a letöltés kapcsolódik a későbbi process eventhez; további bizonyíték szükséges.”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331720"/>
            <a:ext cx="3246120" cy="251460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2478024"/>
            <a:ext cx="29169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D187"/>
                </a:solidFill>
                <a:latin typeface="Aptos"/>
              </a:rPr>
              <a:t>JAVASLAT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971800"/>
            <a:ext cx="2916936" cy="1764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„A szerver hozzáférési naplóját őrizzük meg, a forrást izoláljuk, majd retesteljük.”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MINI CTF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Mini CTF – Éjféli műszak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6 flag • 6 bizonyítékforrás • 35–45 perc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377440"/>
            <a:ext cx="3429000" cy="11887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52374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FLAG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3017520"/>
            <a:ext cx="30998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PCAP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377440"/>
            <a:ext cx="3429000" cy="11887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252374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FLAG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3017520"/>
            <a:ext cx="30998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Apache log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77440"/>
            <a:ext cx="3429000" cy="11887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252374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FLAG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3017520"/>
            <a:ext cx="30998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Windows CSV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40480"/>
            <a:ext cx="3429000" cy="11887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98678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FLAG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480560"/>
            <a:ext cx="30998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Cisco syslog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840480"/>
            <a:ext cx="3429000" cy="11887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2" y="398678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FLAG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4480560"/>
            <a:ext cx="30998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Linux journal export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3840480"/>
            <a:ext cx="3429000" cy="11887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4192" y="3986784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FLAG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4480560"/>
            <a:ext cx="309981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Logical file / mismatch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406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B8C7D9"/>
                </a:solidFill>
                <a:latin typeface="Aptos"/>
              </a:rPr>
              <a:t>Pontozás: flag + forrás + módszer. A puszta találat nem teljes bizonyítás.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ÉRTÉKELÉS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Értékelés – mire adjunk pontot?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„jó nyomozó” nem a legtöbb parancsot futtatja, hanem a legjobban bizonyít.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2057400" cy="19202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5694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3063239"/>
            <a:ext cx="17282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Evidence handling
hash + chain of custody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39" y="2423160"/>
            <a:ext cx="2057400" cy="19202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25694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99232" y="3063239"/>
            <a:ext cx="17282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Timeline
források korrelációja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66359" y="2423160"/>
            <a:ext cx="2057400" cy="19202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1" y="25694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1" y="3063239"/>
            <a:ext cx="17282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Analysis
technikai pontosság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2423160"/>
            <a:ext cx="2057400" cy="19202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62671" y="25694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77DDC"/>
                </a:solidFill>
                <a:latin typeface="Aptos"/>
              </a:rPr>
              <a:t>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1" y="3063239"/>
            <a:ext cx="17282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Report
tény + risk + remediation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29800" y="2423160"/>
            <a:ext cx="2057400" cy="192024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94392" y="2569464"/>
            <a:ext cx="17282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5D187"/>
                </a:solidFill>
                <a:latin typeface="Aptos"/>
              </a:rPr>
              <a:t>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94392" y="3063239"/>
            <a:ext cx="1728216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Debrief
csapatmunka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DOCX VS 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Új kísérlet: ugyanaz a tananyag két formátumban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A csomagban most először külön „tanulói PPT” is van a részletes DOCX mellett.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4800600" cy="25603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478024"/>
            <a:ext cx="4471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D5FF"/>
                </a:solidFill>
                <a:latin typeface="Aptos"/>
              </a:rPr>
              <a:t>DIÁK DOCX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971800"/>
            <a:ext cx="447141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Részletesebb olvasmány
kereshető, jegyzetelhető
nyomtatható
jobb hosszabb magyarázathoz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331720"/>
            <a:ext cx="4800600" cy="25603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478024"/>
            <a:ext cx="4471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AD4B7"/>
                </a:solidFill>
                <a:latin typeface="Aptos"/>
              </a:rPr>
              <a:t>TANULÓI PPT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971800"/>
            <a:ext cx="4471416" cy="1810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vizuálisabb
blokkokra bontott
ismétléshez gyorsabb
képernyőn könnyebb áttekinteni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CD5FF"/>
                </a:solidFill>
                <a:latin typeface="Aptos"/>
              </a:rPr>
              <a:t>ANTI-PATTERN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5 tipikus DFIR hiba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36192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8C7D9"/>
                </a:solidFill>
                <a:latin typeface="Aptos"/>
              </a:rPr>
              <a:t>Ezeket már a laborban is büntessük szakmailag.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075688"/>
            <a:ext cx="1097280" cy="54864"/>
          </a:xfrm>
          <a:prstGeom prst="rect">
            <a:avLst/>
          </a:prstGeom>
          <a:solidFill>
            <a:srgbClr val="2C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5166360" cy="9601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40864"/>
            <a:ext cx="4837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5B5B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34639"/>
            <a:ext cx="483717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Evidence módosítása dokumentálás nélkül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194560"/>
            <a:ext cx="5166360" cy="9601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2340864"/>
            <a:ext cx="4837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2834639"/>
            <a:ext cx="483717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Időzóna/óraeltérés figyelmen kívül hagyása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29000"/>
            <a:ext cx="5166360" cy="9601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575304"/>
            <a:ext cx="4837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5B5B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069080"/>
            <a:ext cx="483717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Hipotézis tényként leírása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29000"/>
            <a:ext cx="5166360" cy="9601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28231" y="3575304"/>
            <a:ext cx="4837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9F43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28231" y="4069080"/>
            <a:ext cx="483717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Containment előtt nincs állapotfelvétel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663440"/>
            <a:ext cx="5166360" cy="960120"/>
          </a:xfrm>
          <a:prstGeom prst="roundRect">
            <a:avLst/>
          </a:prstGeom>
          <a:solidFill>
            <a:srgbClr val="102A44"/>
          </a:solidFill>
          <a:ln w="12700">
            <a:solidFill>
              <a:srgbClr val="1D52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809744"/>
            <a:ext cx="48371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5B5B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303520"/>
            <a:ext cx="4837176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B8C7D9"/>
                </a:solidFill>
                <a:latin typeface="Aptos"/>
              </a:rPr>
              <a:t>Javítás után nincs retest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E92"/>
                </a:solidFill>
                <a:latin typeface="Aptos"/>
              </a:rPr>
              <a:t>13. modul • DFIR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B7E92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5F9FF"/>
                </a:solidFill>
                <a:latin typeface="Aptos"/>
              </a:rPr>
              <a:t>A cél nem az, hogy „találjunk valamit”.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CD5FF"/>
                </a:solidFill>
                <a:latin typeface="Aptos"/>
              </a:rPr>
              <a:t>A cél, hogy bizonyíthatóan el tudjuk mondani, mi történt – majd biztonságosan helyreállítsuk a rendszert.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8C7D9"/>
                </a:solidFill>
                <a:latin typeface="Aptos"/>
              </a:rPr>
              <a:t>Következő modul: Blue Team / támadásészlelés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