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852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Noto Sans"/>
              </a:rPr>
              <a:t>11. MODUL – PRIVILEGE ESCALATION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38528"/>
            <a:ext cx="5852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49D6FF"/>
                </a:solidFill>
                <a:latin typeface="Noto Sans"/>
              </a:rPr>
              <a:t>Linux és Windows • enumeráció • bizonyítás • hardening • retest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54680"/>
            <a:ext cx="5257800" cy="132588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3291840"/>
            <a:ext cx="4855464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C7B8"/>
                </a:solidFill>
                <a:latin typeface="Noto Sans"/>
              </a:rPr>
              <a:t>A modul kérdése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Mi történik az első alacsony jogosultságú hozzáférés UTÁN – és hogyan zárjuk le a hibás jogosultsági útvonalat?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F8AA7"/>
                </a:solidFill>
                <a:latin typeface="Noto Sans"/>
              </a:rPr>
              <a:t>11. modul • Privilege Escalation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Noto Sans"/>
              </a:rPr>
              <a:t>Hol vagyunk a pentest folyamatban?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698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49D6FF"/>
                </a:solidFill>
                <a:latin typeface="Noto Sans"/>
              </a:rPr>
              <a:t>A 10. modul exploitációja után most a lokális jogosultsági határt vizsgáljuk.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77440"/>
            <a:ext cx="1143000" cy="868680"/>
          </a:xfrm>
          <a:prstGeom prst="roundRect">
            <a:avLst/>
          </a:prstGeom>
          <a:solidFill>
            <a:srgbClr val="0C1D33"/>
          </a:solidFill>
          <a:ln>
            <a:solidFill>
              <a:srgbClr val="2A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514600"/>
            <a:ext cx="99669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"/>
              </a:rPr>
              <a:t>Felderítés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709928" y="2670048"/>
            <a:ext cx="347472" cy="256032"/>
          </a:xfrm>
          <a:prstGeom prst="rightArrow">
            <a:avLst/>
          </a:prstGeom>
          <a:solidFill>
            <a:srgbClr val="1C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11680" y="2377440"/>
            <a:ext cx="1143000" cy="868680"/>
          </a:xfrm>
          <a:prstGeom prst="roundRect">
            <a:avLst/>
          </a:prstGeom>
          <a:solidFill>
            <a:srgbClr val="0C1D33"/>
          </a:solidFill>
          <a:ln>
            <a:solidFill>
              <a:srgbClr val="2A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84832" y="2514600"/>
            <a:ext cx="99669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"/>
              </a:rPr>
              <a:t>Szkennelés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27248" y="2670048"/>
            <a:ext cx="347472" cy="256032"/>
          </a:xfrm>
          <a:prstGeom prst="rightArrow">
            <a:avLst/>
          </a:prstGeom>
          <a:solidFill>
            <a:srgbClr val="1C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2377440"/>
            <a:ext cx="1143000" cy="868680"/>
          </a:xfrm>
          <a:prstGeom prst="roundRect">
            <a:avLst/>
          </a:prstGeom>
          <a:solidFill>
            <a:srgbClr val="0C1D33"/>
          </a:solidFill>
          <a:ln>
            <a:solidFill>
              <a:srgbClr val="2A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2514600"/>
            <a:ext cx="99669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"/>
              </a:rPr>
              <a:t>Belépési pont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44568" y="2670048"/>
            <a:ext cx="347472" cy="256032"/>
          </a:xfrm>
          <a:prstGeom prst="rightArrow">
            <a:avLst/>
          </a:prstGeom>
          <a:solidFill>
            <a:srgbClr val="1C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46320" y="2377440"/>
            <a:ext cx="1143000" cy="868680"/>
          </a:xfrm>
          <a:prstGeom prst="roundRect">
            <a:avLst/>
          </a:prstGeom>
          <a:solidFill>
            <a:srgbClr val="0C1D33"/>
          </a:solidFill>
          <a:ln>
            <a:solidFill>
              <a:srgbClr val="2A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9472" y="2514600"/>
            <a:ext cx="99669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"/>
              </a:rPr>
              <a:t>Alacsony jogú session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61888" y="2670048"/>
            <a:ext cx="347472" cy="256032"/>
          </a:xfrm>
          <a:prstGeom prst="rightArrow">
            <a:avLst/>
          </a:prstGeom>
          <a:solidFill>
            <a:srgbClr val="1C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2377440"/>
            <a:ext cx="1143000" cy="868680"/>
          </a:xfrm>
          <a:prstGeom prst="roundRect">
            <a:avLst/>
          </a:prstGeom>
          <a:solidFill>
            <a:srgbClr val="29C7B8"/>
          </a:solidFill>
          <a:ln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2514600"/>
            <a:ext cx="99669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"/>
              </a:rPr>
              <a:t>Privilege escalation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379208" y="2670048"/>
            <a:ext cx="347472" cy="256032"/>
          </a:xfrm>
          <a:prstGeom prst="rightArrow">
            <a:avLst/>
          </a:prstGeom>
          <a:solidFill>
            <a:srgbClr val="1C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80960" y="2377440"/>
            <a:ext cx="1143000" cy="868680"/>
          </a:xfrm>
          <a:prstGeom prst="roundRect">
            <a:avLst/>
          </a:prstGeom>
          <a:solidFill>
            <a:srgbClr val="0C1D33"/>
          </a:solidFill>
          <a:ln>
            <a:solidFill>
              <a:srgbClr val="2A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54112" y="2514600"/>
            <a:ext cx="99669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"/>
              </a:rPr>
              <a:t>Bizonyíték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96528" y="2670048"/>
            <a:ext cx="347472" cy="256032"/>
          </a:xfrm>
          <a:prstGeom prst="rightArrow">
            <a:avLst/>
          </a:prstGeom>
          <a:solidFill>
            <a:srgbClr val="1C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98280" y="2377440"/>
            <a:ext cx="1143000" cy="868680"/>
          </a:xfrm>
          <a:prstGeom prst="roundRect">
            <a:avLst/>
          </a:prstGeom>
          <a:solidFill>
            <a:srgbClr val="0C1D33"/>
          </a:solidFill>
          <a:ln>
            <a:solidFill>
              <a:srgbClr val="2A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71432" y="2514600"/>
            <a:ext cx="99669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"/>
              </a:rPr>
              <a:t>Hardening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213848" y="2670048"/>
            <a:ext cx="347472" cy="256032"/>
          </a:xfrm>
          <a:prstGeom prst="rightArrow">
            <a:avLst/>
          </a:prstGeom>
          <a:solidFill>
            <a:srgbClr val="1C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515600" y="2377440"/>
            <a:ext cx="1143000" cy="868680"/>
          </a:xfrm>
          <a:prstGeom prst="roundRect">
            <a:avLst/>
          </a:prstGeom>
          <a:solidFill>
            <a:srgbClr val="0C1D33"/>
          </a:solidFill>
          <a:ln>
            <a:solidFill>
              <a:srgbClr val="2A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88752" y="2514600"/>
            <a:ext cx="99669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"/>
              </a:rPr>
              <a:t>Retest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160520"/>
            <a:ext cx="10241280" cy="114300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" y="4297680"/>
            <a:ext cx="9838944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Noto Sans"/>
              </a:rPr>
              <a:t>Kulcsgondolat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A cél nem „root mindenáron”.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A cél: hibás jogosultsági döntés felismerése → minimális proof → javítás → retest.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F8AA7"/>
                </a:solidFill>
                <a:latin typeface="Noto Sans"/>
              </a:rPr>
              <a:t>11. modul • Privilege Escalation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Noto Sans"/>
              </a:rPr>
              <a:t>Tanulási célok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12080" cy="114300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54480"/>
            <a:ext cx="4809744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9D6FF"/>
                </a:solidFill>
                <a:latin typeface="Noto Sans"/>
              </a:rPr>
              <a:t>01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Megérteni a lokális jogosultsági határokat Linuxon és Windowson.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98648"/>
            <a:ext cx="5212080" cy="114300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035808"/>
            <a:ext cx="4809744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9D6FF"/>
                </a:solidFill>
                <a:latin typeface="Noto Sans"/>
              </a:rPr>
              <a:t>02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Alacsony jogosultságú hozzáférésből módszeresen enumerálni a lehetséges jogosultságnövelési útvonalakat.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379976"/>
            <a:ext cx="5212080" cy="114300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4517136"/>
            <a:ext cx="4809744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9D6FF"/>
                </a:solidFill>
                <a:latin typeface="Noto Sans"/>
              </a:rPr>
              <a:t>03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Megkülönböztetni a hibás konfigurációt a szoftveres sérülékenységtől.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12080" cy="114300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554480"/>
            <a:ext cx="4809744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9C7B8"/>
                </a:solidFill>
                <a:latin typeface="Noto Sans"/>
              </a:rPr>
              <a:t>04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LinPEAS/WinPEAS eredményeket kézzel validálni, és a false positive találatokat kiszűrni.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898648"/>
            <a:ext cx="5212080" cy="114300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3035808"/>
            <a:ext cx="4809744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9C7B8"/>
                </a:solidFill>
                <a:latin typeface="Noto Sans"/>
              </a:rPr>
              <a:t>05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Biztonságos laborban bizonyítani a hibás konfiguráció hatását tartós hozzáférés vagy kártékony payload nélkül.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379976"/>
            <a:ext cx="5212080" cy="114300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4517136"/>
            <a:ext cx="4809744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9C7B8"/>
                </a:solidFill>
                <a:latin typeface="Noto Sans"/>
              </a:rPr>
              <a:t>06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Hardening után ugyanazt a vizsgálatot újrafuttatni és dokumentáltan igazolni a javulást.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F8AA7"/>
                </a:solidFill>
                <a:latin typeface="Noto Sans"/>
              </a:rPr>
              <a:t>11. modul • Privilege Escalation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Noto Sans"/>
              </a:rPr>
              <a:t>Biztonsági és etikai keret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698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49D6FF"/>
                </a:solidFill>
                <a:latin typeface="Noto Sans"/>
              </a:rPr>
              <a:t>A gyakorlati rész szándékosan sebezhető, izolált VM-ekre épül.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29000" cy="329184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45919"/>
            <a:ext cx="3026664" cy="303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CC71"/>
                </a:solidFill>
                <a:latin typeface="Noto Sans"/>
              </a:rPr>
              <a:t>MEHET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kézi enumeráció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LinPEAS / WinPEAS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flag alapú proof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ACL / hardening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retest és riport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429000" cy="329184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1645919"/>
            <a:ext cx="3026664" cy="303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F4444"/>
                </a:solidFill>
                <a:latin typeface="Noto Sans"/>
              </a:rPr>
              <a:t>NEM MEHET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éles gép tesztelése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kernel exploit letöltögetés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persistence / backdoor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jelszó-dömping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másik pod elérése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429000" cy="329184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1645919"/>
            <a:ext cx="3026664" cy="303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Noto Sans"/>
              </a:rPr>
              <a:t>TANÁRI KONTROLL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snapshot minden célgépről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helyi PEASS fájlok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internet nélkül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podok elszigetelve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óra végén rollback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F8AA7"/>
                </a:solidFill>
                <a:latin typeface="Noto Sans"/>
              </a:rPr>
              <a:t>11. modul • Privilege Escalation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Noto Sans"/>
              </a:rPr>
              <a:t>Mi a privilege escalation?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698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49D6FF"/>
                </a:solidFill>
                <a:latin typeface="Noto Sans"/>
              </a:rPr>
              <a:t>A kiinduló jogosultságnál magasabb biztonsági kontextus elérése.</a:t>
            </a:r>
          </a:p>
        </p:txBody>
      </p:sp>
      <p:pic>
        <p:nvPicPr>
          <p:cNvPr id="5" name="Picture 4" descr="infograph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325880"/>
            <a:ext cx="1078992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F8AA7"/>
                </a:solidFill>
                <a:latin typeface="Noto Sans"/>
              </a:rPr>
              <a:t>11. modul • Privilege Escalation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Noto Sans"/>
              </a:rPr>
              <a:t>Vertikális vs. horizontális jogosultságváltozás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4937760" cy="347472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691639"/>
            <a:ext cx="4535424" cy="3218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CA7FF"/>
                </a:solidFill>
                <a:latin typeface="Noto Sans"/>
              </a:rPr>
              <a:t>VERTIKÁLIS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labstudent → root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User → Local Administrator / SYSTEM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Ez a modul fő fókusza.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4937760" cy="347472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1968" y="1691639"/>
            <a:ext cx="4535424" cy="3218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C7B8"/>
                </a:solidFill>
                <a:latin typeface="Noto Sans"/>
              </a:rPr>
              <a:t>HORIZONTÁLIS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userA → userB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Azonos biztonsági szint más identitással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A laterális mozgást később külön kezeljük.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F8AA7"/>
                </a:solidFill>
                <a:latin typeface="Noto Sans"/>
              </a:rPr>
              <a:t>11. modul • Privilege Escalation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Noto Sans"/>
              </a:rPr>
              <a:t>A szakmai munkafolyamat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698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49D6FF"/>
                </a:solidFill>
                <a:latin typeface="Noto Sans"/>
              </a:rPr>
              <a:t>Enumeráció nélkül nincs jó privilege escalation vizsgálat.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645920" cy="219456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65960"/>
            <a:ext cx="1243584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9D6FF"/>
                </a:solidFill>
                <a:latin typeface="Noto Sans"/>
              </a:rPr>
              <a:t>1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Identity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id / whoami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21408" y="2697480"/>
            <a:ext cx="384048" cy="228600"/>
          </a:xfrm>
          <a:prstGeom prst="rightArrow">
            <a:avLst/>
          </a:prstGeom>
          <a:solidFill>
            <a:srgbClr val="1C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50592" y="1828800"/>
            <a:ext cx="1645920" cy="219456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965960"/>
            <a:ext cx="1243584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9D6FF"/>
                </a:solidFill>
                <a:latin typeface="Noto Sans"/>
              </a:rPr>
              <a:t>2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Enumeráció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kézi + PEASS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23360" y="2697480"/>
            <a:ext cx="384048" cy="228600"/>
          </a:xfrm>
          <a:prstGeom prst="rightArrow">
            <a:avLst/>
          </a:prstGeom>
          <a:solidFill>
            <a:srgbClr val="1C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52544" y="1828800"/>
            <a:ext cx="1645920" cy="219456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965960"/>
            <a:ext cx="1243584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9D6FF"/>
                </a:solidFill>
                <a:latin typeface="Noto Sans"/>
              </a:rPr>
              <a:t>3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Validálás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ACL / owner / context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25312" y="2697480"/>
            <a:ext cx="384048" cy="228600"/>
          </a:xfrm>
          <a:prstGeom prst="rightArrow">
            <a:avLst/>
          </a:prstGeom>
          <a:solidFill>
            <a:srgbClr val="1C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54496" y="1828800"/>
            <a:ext cx="1645920" cy="219456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1965960"/>
            <a:ext cx="1243584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9C7B8"/>
                </a:solidFill>
                <a:latin typeface="Noto Sans"/>
              </a:rPr>
              <a:t>4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Proof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flag / log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27264" y="2697480"/>
            <a:ext cx="384048" cy="228600"/>
          </a:xfrm>
          <a:prstGeom prst="rightArrow">
            <a:avLst/>
          </a:prstGeom>
          <a:solidFill>
            <a:srgbClr val="1C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6448" y="1828800"/>
            <a:ext cx="1645920" cy="219456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1965960"/>
            <a:ext cx="1243584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9C7B8"/>
                </a:solidFill>
                <a:latin typeface="Noto Sans"/>
              </a:rPr>
              <a:t>5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Hardening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least privilege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729216" y="2697480"/>
            <a:ext cx="384048" cy="228600"/>
          </a:xfrm>
          <a:prstGeom prst="rightArrow">
            <a:avLst/>
          </a:prstGeom>
          <a:solidFill>
            <a:srgbClr val="1C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58400" y="1828800"/>
            <a:ext cx="1645920" cy="219456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59568" y="1965960"/>
            <a:ext cx="1243584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9C7B8"/>
                </a:solidFill>
                <a:latin typeface="Noto Sans"/>
              </a:rPr>
              <a:t>6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Retest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ugyanaz a teszt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F8AA7"/>
                </a:solidFill>
                <a:latin typeface="Noto Sans"/>
              </a:rPr>
              <a:t>11. modul • Privilege Escalation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Noto Sans"/>
              </a:rPr>
              <a:t>Linux jogosultsági modell – mit nézünk?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83280" cy="169164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54480"/>
            <a:ext cx="2980944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CA7FF"/>
                </a:solidFill>
                <a:latin typeface="Noto Sans"/>
              </a:rPr>
              <a:t>UID / GID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ki vagyok és milyen csoportokban?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417320"/>
            <a:ext cx="3383280" cy="169164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1728" y="1554480"/>
            <a:ext cx="2980944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CA7FF"/>
                </a:solidFill>
                <a:latin typeface="Noto Sans"/>
              </a:rPr>
              <a:t>sudoers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mit indíthatok másik userként?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417320"/>
            <a:ext cx="3383280" cy="169164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76488" y="1554480"/>
            <a:ext cx="2980944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CA7FF"/>
                </a:solidFill>
                <a:latin typeface="Noto Sans"/>
              </a:rPr>
              <a:t>SUID / SGID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változik-e az effektív identitás?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566160"/>
            <a:ext cx="3383280" cy="169164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980944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9C7B8"/>
                </a:solidFill>
                <a:latin typeface="Noto Sans"/>
              </a:rPr>
              <a:t>capabilities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kapott-e egy bináris célzott extra jogot?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3566160"/>
            <a:ext cx="3383280" cy="169164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3703320"/>
            <a:ext cx="2980944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9C7B8"/>
                </a:solidFill>
                <a:latin typeface="Noto Sans"/>
              </a:rPr>
              <a:t>cron / systemd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mi fut rootként automatikusan?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3566160"/>
            <a:ext cx="3383280" cy="169164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3703320"/>
            <a:ext cx="2980944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9C7B8"/>
                </a:solidFill>
                <a:latin typeface="Noto Sans"/>
              </a:rPr>
              <a:t>fájljogok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írható-e privilegizáltan futó script/bináris?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F8AA7"/>
                </a:solidFill>
                <a:latin typeface="Noto Sans"/>
              </a:rPr>
              <a:t>11. modul • Privilege Escalation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Noto Sans"/>
              </a:rPr>
              <a:t>Linux – kézi enumeráció először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4937760" cy="448056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08760"/>
            <a:ext cx="4535424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CA7FF"/>
                </a:solidFill>
                <a:latin typeface="Noto Sans"/>
              </a:rPr>
              <a:t>Parancsok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id / groups / sudo -l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find / -perm -4000 -type f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getcap -r /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systemctl list-timers --all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ls -la /etc/cron*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find /opt /usr/local -writable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371600"/>
            <a:ext cx="5440680" cy="448056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90488" y="1508760"/>
            <a:ext cx="5038344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C7B8"/>
                </a:solidFill>
                <a:latin typeface="Noto Sans"/>
              </a:rPr>
              <a:t>Mit kérdezz minden találatnál?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Ki a tulajdonos?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Ki írhatja?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Milyen userként fut?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Mikor fut?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Mi a legkisebb biztonságos proof?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Mi a javítás?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F8AA7"/>
                </a:solidFill>
                <a:latin typeface="Noto Sans"/>
              </a:rPr>
              <a:t>11. modul • Privilege Escalation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Noto Sans"/>
              </a:rPr>
              <a:t>Linux példa – írható root cron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698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49D6FF"/>
                </a:solidFill>
                <a:latin typeface="Noto Sans"/>
              </a:rPr>
              <a:t>A probléma nem a cron. A probléma a futási jog + írhatóság kombinációja.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828800" cy="192024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65960"/>
            <a:ext cx="1426464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CA7FF"/>
                </a:solidFill>
                <a:latin typeface="Noto Sans"/>
              </a:rPr>
              <a:t>labstudent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3931920" y="1828800"/>
            <a:ext cx="1828800" cy="192024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33087" y="1965960"/>
            <a:ext cx="1426464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F59E0B"/>
                </a:solidFill>
                <a:latin typeface="Noto Sans"/>
              </a:rPr>
              <a:t>/opt/lab11/backup.sh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írható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828800"/>
            <a:ext cx="1828800" cy="192024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65008" y="1965960"/>
            <a:ext cx="1426464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EF4444"/>
                </a:solidFill>
                <a:latin typeface="Noto Sans"/>
              </a:rPr>
              <a:t>root cron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magas jog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1828800"/>
            <a:ext cx="1463040" cy="192024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1965960"/>
            <a:ext cx="1060704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ECC71"/>
                </a:solidFill>
                <a:latin typeface="Noto Sans"/>
              </a:rPr>
              <a:t>FLAG proof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</a:p>
        </p:txBody>
      </p:sp>
      <p:sp>
        <p:nvSpPr>
          <p:cNvPr id="13" name="Right Arrow 12"/>
          <p:cNvSpPr/>
          <p:nvPr/>
        </p:nvSpPr>
        <p:spPr>
          <a:xfrm>
            <a:off x="2514600" y="2560320"/>
            <a:ext cx="640080" cy="274320"/>
          </a:xfrm>
          <a:prstGeom prst="rightArrow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5897880" y="2560320"/>
            <a:ext cx="640080" cy="274320"/>
          </a:xfrm>
          <a:prstGeom prst="rightArrow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9464040" y="2560320"/>
            <a:ext cx="640080" cy="274320"/>
          </a:xfrm>
          <a:prstGeom prst="rightArrow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280160" y="4343400"/>
            <a:ext cx="9692640" cy="109728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81328" y="4480560"/>
            <a:ext cx="9290304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C7B8"/>
                </a:solidFill>
                <a:latin typeface="Noto Sans"/>
              </a:rPr>
              <a:t>Biztonságos oktatási proof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A script csak egy root-only flaget másol ki olvasható helyre. Nincs shell, nincs persistence, nincs felhasználólétrehozás.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F8AA7"/>
                </a:solidFill>
                <a:latin typeface="Noto Sans"/>
              </a:rPr>
              <a:t>11. modul • Privilege Escalation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Noto Sans"/>
              </a:rPr>
              <a:t>SUID / SGID és file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698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49D6FF"/>
                </a:solidFill>
                <a:latin typeface="Noto Sans"/>
              </a:rPr>
              <a:t>Mechanizmusok, amelyeket auditálni kell – de nem minden találat sérülékenység.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356616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45919"/>
            <a:ext cx="4809744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CA7FF"/>
                </a:solidFill>
                <a:latin typeface="Noto Sans"/>
              </a:rPr>
              <a:t>SUID / SGID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Fájl végrehajtásakor az effektív UID/GID eltérhet a valós felhasználótól.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Kérdés: szükséges? auditált? módosítható?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A laborban safe demo csak UID-t ír ki.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356616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45919"/>
            <a:ext cx="4809744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C7B8"/>
                </a:solidFill>
                <a:latin typeface="Noto Sans"/>
              </a:rPr>
              <a:t>Capabilities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A teljes root jog helyett célzott kernel-képességek adhatók.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Kérdés: a bináris tényleg igényli ezt a capability-t?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getcap + kézi elemzés + hardening.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F8AA7"/>
                </a:solidFill>
                <a:latin typeface="Noto Sans"/>
              </a:rPr>
              <a:t>11. modul • Privilege Escalation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Noto Sans"/>
              </a:rPr>
              <a:t>Windows jogosultsági modell – mit nézünk?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83280" cy="169164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54480"/>
            <a:ext cx="2980944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CA7FF"/>
                </a:solidFill>
                <a:latin typeface="Noto Sans"/>
              </a:rPr>
              <a:t>Token / SID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whoami /groups /priv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417320"/>
            <a:ext cx="3383280" cy="169164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1728" y="1554480"/>
            <a:ext cx="2980944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CA7FF"/>
                </a:solidFill>
                <a:latin typeface="Noto Sans"/>
              </a:rPr>
              <a:t>UAC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kontextus és hozzájárulás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417320"/>
            <a:ext cx="3383280" cy="169164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76488" y="1554480"/>
            <a:ext cx="2980944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CA7FF"/>
                </a:solidFill>
                <a:latin typeface="Noto Sans"/>
              </a:rPr>
              <a:t>Services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futtatási fiók + executable ACL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566160"/>
            <a:ext cx="3383280" cy="169164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980944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9C7B8"/>
                </a:solidFill>
                <a:latin typeface="Noto Sans"/>
              </a:rPr>
              <a:t>Scheduled Tasks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RunAs + script/bináris ACL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3566160"/>
            <a:ext cx="3383280" cy="169164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3703320"/>
            <a:ext cx="2980944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9C7B8"/>
                </a:solidFill>
                <a:latin typeface="Noto Sans"/>
              </a:rPr>
              <a:t>NTFS / registry ACL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Modify / Full Control túl szélesen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3566160"/>
            <a:ext cx="3383280" cy="169164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3703320"/>
            <a:ext cx="2980944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9C7B8"/>
                </a:solidFill>
                <a:latin typeface="Noto Sans"/>
              </a:rPr>
              <a:t>Local groups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Administrators és delegált jogok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F8AA7"/>
                </a:solidFill>
                <a:latin typeface="Noto Sans"/>
              </a:rPr>
              <a:t>11. modul • Privilege Escalation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Noto Sans"/>
              </a:rPr>
              <a:t>Windows – kézi enumeráció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03520" cy="448056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508760"/>
            <a:ext cx="4901183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CA7FF"/>
                </a:solidFill>
                <a:latin typeface="Noto Sans"/>
              </a:rPr>
              <a:t>Parancsok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whoami /groups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whoami /priv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net localgroup administrators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schtasks /query /fo LIST /v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Get-CimInstance Win32_Service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Get-ScheduledTask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icacls C:\Lab11 /T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03520" cy="448056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1508760"/>
            <a:ext cx="4901183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C7B8"/>
                </a:solidFill>
                <a:latin typeface="Noto Sans"/>
              </a:rPr>
              <a:t>Kézi validálás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Ki futtatja a taskot/service-t?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Ki írhatja a scriptet/exe-t?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Milyen ACL öröklődik?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Van-e szükség a magas jogra?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Mi történik javítás után?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F8AA7"/>
                </a:solidFill>
                <a:latin typeface="Noto Sans"/>
              </a:rPr>
              <a:t>11. modul • Privilege Escalation                            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Noto Sans"/>
              </a:rPr>
              <a:t>Windows példa – SYSTEM Scheduled Task + írható script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286000" cy="201168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965960"/>
            <a:ext cx="1883664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CA7FF"/>
                </a:solidFill>
                <a:latin typeface="Noto Sans"/>
              </a:rPr>
              <a:t>1. labstudent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normál 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828800"/>
            <a:ext cx="2468880" cy="201168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38728" y="1965960"/>
            <a:ext cx="2066544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Noto Sans"/>
              </a:rPr>
              <a:t>2. task.ps1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Users: Modify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2286000" cy="201168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965960"/>
            <a:ext cx="1883664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F4444"/>
                </a:solidFill>
                <a:latin typeface="Noto Sans"/>
              </a:rPr>
              <a:t>3. Task Scheduler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RunAs: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828800"/>
            <a:ext cx="2468880" cy="201168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25128" y="1965960"/>
            <a:ext cx="2066544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CC71"/>
                </a:solidFill>
                <a:latin typeface="Noto Sans"/>
              </a:rPr>
              <a:t>4. proof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Public flag + whoami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971800" y="2606040"/>
            <a:ext cx="365760" cy="256032"/>
          </a:xfrm>
          <a:prstGeom prst="rightArrow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5806440" y="2606040"/>
            <a:ext cx="365760" cy="256032"/>
          </a:xfrm>
          <a:prstGeom prst="rightArrow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8458200" y="2606040"/>
            <a:ext cx="365760" cy="256032"/>
          </a:xfrm>
          <a:prstGeom prst="rightArrow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25880" y="4663440"/>
            <a:ext cx="9509760" cy="91440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7048" y="4800600"/>
            <a:ext cx="91074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C7B8"/>
                </a:solidFill>
                <a:latin typeface="Noto Sans"/>
              </a:rPr>
              <a:t>Javítás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A script könyvtár Write/Modify joga csak Administrators + SYSTEM számára marad. Utána ugyanaz a proof többé nem működhet.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F8AA7"/>
                </a:solidFill>
                <a:latin typeface="Noto Sans"/>
              </a:rPr>
              <a:t>11. modul • Privilege Escalation                            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Noto Sans"/>
              </a:rPr>
              <a:t>PEASS-ng – gyorsító, nem varázsgomb</a:t>
            </a:r>
          </a:p>
        </p:txBody>
      </p:sp>
      <p:pic>
        <p:nvPicPr>
          <p:cNvPr id="4" name="Picture 3" descr="infograph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417320"/>
            <a:ext cx="4846320" cy="2926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1463040"/>
            <a:ext cx="5394960" cy="429768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600200"/>
            <a:ext cx="4992624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CA7FF"/>
                </a:solidFill>
                <a:latin typeface="Noto Sans"/>
              </a:rPr>
              <a:t>Munkafolyamat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1. Kézi baseline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2. LinPEAS / WinPEAS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3. 3 releváns találat kiválasztása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4. Kézi validálás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5. confirmed / context / false positive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6. hardening + retest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4572000"/>
            <a:ext cx="4572000" cy="109728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7728" y="4709160"/>
            <a:ext cx="4169663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Noto Sans"/>
              </a:rPr>
              <a:t>Leadandó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A teljes PEASS output helyett validált finding táblázat.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F8AA7"/>
                </a:solidFill>
                <a:latin typeface="Noto Sans"/>
              </a:rPr>
              <a:t>11. modul • Privilege Escalation                                 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Noto Sans"/>
              </a:rPr>
              <a:t>Élő eszközös felépítés – mind a 6 router és 6 switch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698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49D6FF"/>
                </a:solidFill>
                <a:latin typeface="Noto Sans"/>
              </a:rPr>
              <a:t>3 párhuzamos pod • podonként 2 router + 2 switch + 5 PC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337560" cy="448056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554480"/>
            <a:ext cx="2935224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9D6FF"/>
                </a:solidFill>
                <a:latin typeface="Noto Sans"/>
              </a:rPr>
              <a:t>POD A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Attacker: 10.11.10.0/24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Target: 10.11.20.0/24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Transit: 10.11.254.0/30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Kali + observer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Debian + Windows + logger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640080" cy="411480"/>
          </a:xfrm>
          <a:prstGeom prst="roundRect">
            <a:avLst/>
          </a:prstGeom>
          <a:solidFill>
            <a:srgbClr val="183B5A"/>
          </a:solidFill>
          <a:ln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297679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SW-A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81328" y="4206240"/>
            <a:ext cx="640080" cy="411480"/>
          </a:xfrm>
          <a:prstGeom prst="roundRect">
            <a:avLst/>
          </a:prstGeom>
          <a:solidFill>
            <a:srgbClr val="183B5A"/>
          </a:solidFill>
          <a:ln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81328" y="4297679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R-A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31136" y="4206240"/>
            <a:ext cx="640080" cy="411480"/>
          </a:xfrm>
          <a:prstGeom prst="roundRect">
            <a:avLst/>
          </a:prstGeom>
          <a:solidFill>
            <a:srgbClr val="183B5A"/>
          </a:solidFill>
          <a:ln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31136" y="4297679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R-T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80944" y="4206240"/>
            <a:ext cx="640080" cy="411480"/>
          </a:xfrm>
          <a:prstGeom prst="roundRect">
            <a:avLst/>
          </a:prstGeom>
          <a:solidFill>
            <a:srgbClr val="183B5A"/>
          </a:solidFill>
          <a:ln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80944" y="4297679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SW-T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417320"/>
            <a:ext cx="3337560" cy="448056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1688" y="1554480"/>
            <a:ext cx="2935224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9C7B8"/>
                </a:solidFill>
                <a:latin typeface="Noto Sans"/>
              </a:rPr>
              <a:t>POD B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Attacker: 10.11.30.0/24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Target: 10.11.40.0/24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Transit: 10.11.254.4/30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Kali + observer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Debian + Windows + logger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206240"/>
            <a:ext cx="640080" cy="411480"/>
          </a:xfrm>
          <a:prstGeom prst="roundRect">
            <a:avLst/>
          </a:prstGeom>
          <a:solidFill>
            <a:srgbClr val="183B5A"/>
          </a:solidFill>
          <a:ln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4297679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SW-A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38928" y="4206240"/>
            <a:ext cx="640080" cy="411480"/>
          </a:xfrm>
          <a:prstGeom prst="roundRect">
            <a:avLst/>
          </a:prstGeom>
          <a:solidFill>
            <a:srgbClr val="183B5A"/>
          </a:solidFill>
          <a:ln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38928" y="4297679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R-A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88736" y="4206240"/>
            <a:ext cx="640080" cy="411480"/>
          </a:xfrm>
          <a:prstGeom prst="roundRect">
            <a:avLst/>
          </a:prstGeom>
          <a:solidFill>
            <a:srgbClr val="183B5A"/>
          </a:solidFill>
          <a:ln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88736" y="4297679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R-T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38544" y="4206240"/>
            <a:ext cx="640080" cy="411480"/>
          </a:xfrm>
          <a:prstGeom prst="roundRect">
            <a:avLst/>
          </a:prstGeom>
          <a:solidFill>
            <a:srgbClr val="183B5A"/>
          </a:solidFill>
          <a:ln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4297679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SW-T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18120" y="1417320"/>
            <a:ext cx="3337560" cy="448056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19288" y="1554480"/>
            <a:ext cx="2935224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9C7B8"/>
                </a:solidFill>
                <a:latin typeface="Noto Sans"/>
              </a:rPr>
              <a:t>POD C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Attacker: 10.11.50.0/24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Target: 10.11.60.0/24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Transit: 10.11.254.8/30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Kali + observer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Debian + Windows + logger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206240"/>
            <a:ext cx="640080" cy="411480"/>
          </a:xfrm>
          <a:prstGeom prst="roundRect">
            <a:avLst/>
          </a:prstGeom>
          <a:solidFill>
            <a:srgbClr val="183B5A"/>
          </a:solidFill>
          <a:ln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4297679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SW-A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96528" y="4206240"/>
            <a:ext cx="640080" cy="411480"/>
          </a:xfrm>
          <a:prstGeom prst="roundRect">
            <a:avLst/>
          </a:prstGeom>
          <a:solidFill>
            <a:srgbClr val="183B5A"/>
          </a:solidFill>
          <a:ln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96528" y="4297679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R-A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46336" y="4206240"/>
            <a:ext cx="640080" cy="411480"/>
          </a:xfrm>
          <a:prstGeom prst="roundRect">
            <a:avLst/>
          </a:prstGeom>
          <a:solidFill>
            <a:srgbClr val="183B5A"/>
          </a:solidFill>
          <a:ln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46336" y="4297679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R-T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96144" y="4206240"/>
            <a:ext cx="640080" cy="411480"/>
          </a:xfrm>
          <a:prstGeom prst="roundRect">
            <a:avLst/>
          </a:prstGeom>
          <a:solidFill>
            <a:srgbClr val="183B5A"/>
          </a:solidFill>
          <a:ln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96144" y="4297679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SW-T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F8AA7"/>
                </a:solidFill>
                <a:latin typeface="Noto Sans"/>
              </a:rPr>
              <a:t>11. modul • Privilege Escalation                                 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Noto Sans"/>
              </a:rPr>
              <a:t>A fizikai labor célja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698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49D6FF"/>
                </a:solidFill>
                <a:latin typeface="Noto Sans"/>
              </a:rPr>
              <a:t>A host-szintű hibát elkülönített hálózati környezetben vizsgáljuk és konténáljuk.</a:t>
            </a:r>
          </a:p>
        </p:txBody>
      </p:sp>
      <p:pic>
        <p:nvPicPr>
          <p:cNvPr id="5" name="Picture 4" descr="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1097280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F8AA7"/>
                </a:solidFill>
                <a:latin typeface="Noto Sans"/>
              </a:rPr>
              <a:t>11. modul • Privilege Escalation                                 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Noto Sans"/>
              </a:rPr>
              <a:t>A modul 9 laborfeladata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698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49D6FF"/>
                </a:solidFill>
                <a:latin typeface="Noto Sans"/>
              </a:rPr>
              <a:t>Minden laborban külön Tanári előkészítés + Diákfeladat + bizonyíték + elvárt eredmény.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383280" cy="128016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463039"/>
            <a:ext cx="2980944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CA7FF"/>
                </a:solidFill>
                <a:latin typeface="Noto Sans"/>
              </a:rPr>
              <a:t>LAB 1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Linux kézi enumeráció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25880"/>
            <a:ext cx="3383280" cy="128016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6007" y="1463039"/>
            <a:ext cx="2980944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CA7FF"/>
                </a:solidFill>
                <a:latin typeface="Noto Sans"/>
              </a:rPr>
              <a:t>LAB 2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PEASS + false positive triage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325880"/>
            <a:ext cx="3383280" cy="128016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5048" y="1463039"/>
            <a:ext cx="2980944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CA7FF"/>
                </a:solidFill>
                <a:latin typeface="Noto Sans"/>
              </a:rPr>
              <a:t>LAB 3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Linux root cron proof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953512"/>
            <a:ext cx="3383280" cy="128016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090672"/>
            <a:ext cx="2980944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CA7FF"/>
                </a:solidFill>
                <a:latin typeface="Noto Sans"/>
              </a:rPr>
              <a:t>LAB 4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SUID/capability audit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953512"/>
            <a:ext cx="3383280" cy="128016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3090672"/>
            <a:ext cx="2980944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CA7FF"/>
                </a:solidFill>
                <a:latin typeface="Noto Sans"/>
              </a:rPr>
              <a:t>LAB 5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Windows kézi enumeráció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2953512"/>
            <a:ext cx="3383280" cy="128016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3090672"/>
            <a:ext cx="2980944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CA7FF"/>
                </a:solidFill>
                <a:latin typeface="Noto Sans"/>
              </a:rPr>
              <a:t>LAB 6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SYSTEM Task proof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581144"/>
            <a:ext cx="3383280" cy="128016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718304"/>
            <a:ext cx="2980944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9C7B8"/>
                </a:solidFill>
                <a:latin typeface="Noto Sans"/>
              </a:rPr>
              <a:t>LAB 7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Hardening + retest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4581144"/>
            <a:ext cx="3383280" cy="128016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007" y="4718304"/>
            <a:ext cx="2980944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9C7B8"/>
                </a:solidFill>
                <a:latin typeface="Noto Sans"/>
              </a:rPr>
              <a:t>LAB 8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Cisco containment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4581144"/>
            <a:ext cx="3383280" cy="128016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8" y="4718304"/>
            <a:ext cx="2980944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9C7B8"/>
                </a:solidFill>
                <a:latin typeface="Noto Sans"/>
              </a:rPr>
              <a:t>LAB 9</a:t>
            </a:r>
          </a:p>
          <a:p>
            <a:pPr>
              <a:spcAft>
                <a:spcPts val="300"/>
              </a:spcAft>
              <a:defRPr sz="840">
                <a:solidFill>
                  <a:srgbClr val="EAF4FF"/>
                </a:solidFill>
                <a:latin typeface="Noto Sans"/>
              </a:defRPr>
            </a:pPr>
            <a:r>
              <a:t>Mini pentest-szakasz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F8AA7"/>
                </a:solidFill>
                <a:latin typeface="Noto Sans"/>
              </a:rPr>
              <a:t>11. modul • Privilege Escalation                                  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Noto Sans"/>
              </a:rPr>
              <a:t>LAB 3 walkthrough – Linux cron misconfiguration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91840" cy="438912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54480"/>
            <a:ext cx="2889504" cy="4133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Noto Sans"/>
              </a:rPr>
              <a:t>Tanári setup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linux_lab_setup.sh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root-only flag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root cron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labstudent írhatja a scriptet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snapshot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417320"/>
            <a:ext cx="3291840" cy="438912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6007" y="1554480"/>
            <a:ext cx="2889504" cy="4133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CA7FF"/>
                </a:solidFill>
                <a:latin typeface="Noto Sans"/>
              </a:rPr>
              <a:t>Diák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ls -l / stat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cron kontextus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minimális flag proof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cleanup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417320"/>
            <a:ext cx="3291840" cy="438912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5048" y="1554480"/>
            <a:ext cx="2889504" cy="4133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C7B8"/>
                </a:solidFill>
                <a:latin typeface="Noto Sans"/>
              </a:rPr>
              <a:t>Hardening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owner: root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group write elvétele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retest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PEASS újrafuttatás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F8AA7"/>
                </a:solidFill>
                <a:latin typeface="Noto Sans"/>
              </a:rPr>
              <a:t>11. modul • Privilege Escalation                                  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Noto Sans"/>
              </a:rPr>
              <a:t>LAB 6 walkthrough – Windows Scheduled Task misconfiguration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91840" cy="438912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54480"/>
            <a:ext cx="2889504" cy="4133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Noto Sans"/>
              </a:rPr>
              <a:t>Tanári setup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windows_lab_setup.ps1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SYSTEM task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Users: Modify a script mappán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SYSTEM flag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snapshot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417320"/>
            <a:ext cx="3291840" cy="438912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6007" y="1554480"/>
            <a:ext cx="2889504" cy="4133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CA7FF"/>
                </a:solidFill>
                <a:latin typeface="Noto Sans"/>
              </a:rPr>
              <a:t>Diák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schtasks / query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icacls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safe proof a Public mappába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whoami evidence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cleanup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417320"/>
            <a:ext cx="3291840" cy="438912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5048" y="1554480"/>
            <a:ext cx="2889504" cy="4133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C7B8"/>
                </a:solidFill>
                <a:latin typeface="Noto Sans"/>
              </a:rPr>
              <a:t>Hardening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Users: RX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Administrators + SYSTEM: F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retest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WinPEAS validálás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F8AA7"/>
                </a:solidFill>
                <a:latin typeface="Noto Sans"/>
              </a:rPr>
              <a:t>11. modul • Privilege Escalation                                   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Noto Sans"/>
              </a:rPr>
              <a:t>LAB 8 – Cisco containment privilege escalation után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37560" cy="429768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54480"/>
            <a:ext cx="2935224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Noto Sans"/>
              </a:rPr>
              <a:t>BEFORE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Target → attacker/management elérhető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Logger forgalom működik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show access-lists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417320"/>
            <a:ext cx="3337560" cy="429768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554480"/>
            <a:ext cx="2935224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CA7FF"/>
                </a:solidFill>
                <a:latin typeface="Noto Sans"/>
              </a:rPr>
              <a:t>ACL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Tiltott management irány blokkolása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Szükséges logger portok engedése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log keyword a deny szabályon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9016" y="1417320"/>
            <a:ext cx="3337560" cy="429768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0184" y="1554480"/>
            <a:ext cx="2935224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C7B8"/>
                </a:solidFill>
                <a:latin typeface="Noto Sans"/>
              </a:rPr>
              <a:t>AFTER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Tiltott útvonal megszűnik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Logger működik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előtte/utána mátrix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show access-lists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F8AA7"/>
                </a:solidFill>
                <a:latin typeface="Noto Sans"/>
              </a:rPr>
              <a:t>11. modul • Privilege Escalation                                   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Noto Sans"/>
              </a:rPr>
              <a:t>Mitől jó a bizonyíték?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37560" cy="429768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1C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54480"/>
            <a:ext cx="2935224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CA7FF"/>
                </a:solidFill>
                <a:latin typeface="Noto Sans"/>
              </a:rPr>
              <a:t>TECHNIKAI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pontos parancs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ACL / tulajdonos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futási kontextus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időbélyeg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before + after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417320"/>
            <a:ext cx="3337560" cy="429768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554480"/>
            <a:ext cx="2935224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C7B8"/>
                </a:solidFill>
                <a:latin typeface="Noto Sans"/>
              </a:rPr>
              <a:t>MINIMÁLIS HATÁS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flag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whoami / id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logbejegyzés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nincs persistence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nincs felesleges módosítás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9016" y="1417320"/>
            <a:ext cx="3337560" cy="429768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0184" y="1554480"/>
            <a:ext cx="2935224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CC71"/>
                </a:solidFill>
                <a:latin typeface="Noto Sans"/>
              </a:rPr>
              <a:t>MEGISMÉTELHETŐ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másik csapat is reprodukálja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snapshotból újra fut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javítás után nem működik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F8AA7"/>
                </a:solidFill>
                <a:latin typeface="Noto Sans"/>
              </a:rPr>
              <a:t>11. modul • Privilege Escalation                                    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Noto Sans"/>
              </a:rPr>
              <a:t>Mini CTF – „Lépcsőfok”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698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49D6FF"/>
                </a:solidFill>
                <a:latin typeface="Noto Sans"/>
              </a:rPr>
              <a:t>Pontot nem csak a flag ér: a hardening és retest ugyanannyira fontos.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029200" cy="448056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08760"/>
            <a:ext cx="4626864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49D6FF"/>
                </a:solidFill>
                <a:latin typeface="Noto Sans"/>
              </a:rPr>
              <a:t>Pontozás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10p – kiinduló jogosultság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20p – candidate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20p – kézi validálás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25p – safe proof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25p – javítás + retest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029200" cy="448056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73368" y="1508760"/>
            <a:ext cx="4626864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F4444"/>
                </a:solidFill>
                <a:latin typeface="Noto Sans"/>
              </a:rPr>
              <a:t>Tiltott műveletek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kernel exploit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password dump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persistence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másik pod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internet download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éles rendszer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F8AA7"/>
                </a:solidFill>
                <a:latin typeface="Noto Sans"/>
              </a:rPr>
              <a:t>11. modul • Privilege Escalation                                    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Noto Sans"/>
              </a:rPr>
              <a:t>Összefoglalás – mit vigyenek magukkal?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0561320" cy="4526280"/>
          </a:xfrm>
          <a:prstGeom prst="roundRect">
            <a:avLst/>
          </a:prstGeom>
          <a:solidFill>
            <a:srgbClr val="0A1A2E"/>
          </a:solidFill>
          <a:ln w="12700">
            <a:solidFill>
              <a:srgbClr val="19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101041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AF4FF"/>
                </a:solidFill>
                <a:latin typeface="Noto Sans"/>
              </a:defRPr>
            </a:pPr>
            <a:r>
              <a:t>• A privilege escalation vizsgálat enumerációval kezdődik, nem exploittal.</a:t>
            </a:r>
          </a:p>
          <a:p>
            <a:pPr>
              <a:spcAft>
                <a:spcPts val="800"/>
              </a:spcAft>
              <a:defRPr sz="1400">
                <a:solidFill>
                  <a:srgbClr val="EAF4FF"/>
                </a:solidFill>
                <a:latin typeface="Noto Sans"/>
              </a:defRPr>
            </a:pPr>
            <a:r>
              <a:t>• A misconfiguration gyakran fontosabb, mint egy látványos kernel sérülékenység.</a:t>
            </a:r>
          </a:p>
          <a:p>
            <a:pPr>
              <a:spcAft>
                <a:spcPts val="800"/>
              </a:spcAft>
              <a:defRPr sz="1400">
                <a:solidFill>
                  <a:srgbClr val="EAF4FF"/>
                </a:solidFill>
                <a:latin typeface="Noto Sans"/>
              </a:defRPr>
            </a:pPr>
            <a:r>
              <a:t>• PEASS segít priorizálni, de minden releváns találatot kézzel validálni kell.</a:t>
            </a:r>
          </a:p>
          <a:p>
            <a:pPr>
              <a:spcAft>
                <a:spcPts val="800"/>
              </a:spcAft>
              <a:defRPr sz="1400">
                <a:solidFill>
                  <a:srgbClr val="EAF4FF"/>
                </a:solidFill>
                <a:latin typeface="Noto Sans"/>
              </a:defRPr>
            </a:pPr>
            <a:r>
              <a:t>• A bizonyítás legyen minimális hatású, visszaállítható és dokumentált.</a:t>
            </a:r>
          </a:p>
          <a:p>
            <a:pPr>
              <a:spcAft>
                <a:spcPts val="800"/>
              </a:spcAft>
              <a:defRPr sz="1400">
                <a:solidFill>
                  <a:srgbClr val="EAF4FF"/>
                </a:solidFill>
                <a:latin typeface="Noto Sans"/>
              </a:defRPr>
            </a:pPr>
            <a:r>
              <a:t>• A feladat a hardeninggel és sikeres retesttel ér véget.</a:t>
            </a:r>
          </a:p>
          <a:p>
            <a:pPr>
              <a:spcAft>
                <a:spcPts val="800"/>
              </a:spcAft>
              <a:defRPr sz="1400">
                <a:solidFill>
                  <a:srgbClr val="EAF4FF"/>
                </a:solidFill>
                <a:latin typeface="Noto Sans"/>
              </a:defRPr>
            </a:pPr>
            <a:r>
              <a:t>• A hálózati szegmentáció csökkenti a host kompromittálás következményeit.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F8AA7"/>
                </a:solidFill>
                <a:latin typeface="Noto Sans"/>
              </a:rPr>
              <a:t>11. modul • Privilege Escalation                                    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6583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Noto Sans"/>
              </a:rPr>
              <a:t>KÖVETKEZŐ: OSINT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58568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49D6FF"/>
                </a:solidFill>
                <a:latin typeface="Noto Sans"/>
              </a:rPr>
              <a:t>Nyílt forrású információgyűjtés • digitális lábnyom • forrásvalidálás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5852160" cy="1417320"/>
          </a:xfrm>
          <a:prstGeom prst="roundRect">
            <a:avLst/>
          </a:prstGeom>
          <a:solidFill>
            <a:srgbClr val="0C1D33"/>
          </a:solidFill>
          <a:ln w="1524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3337560"/>
            <a:ext cx="5449824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C7B8"/>
                </a:solidFill>
                <a:latin typeface="Noto Sans"/>
              </a:rPr>
              <a:t>Átvezetés</a:t>
            </a:r>
          </a:p>
          <a:p>
            <a:pPr>
              <a:spcAft>
                <a:spcPts val="300"/>
              </a:spcAft>
              <a:defRPr sz="1000">
                <a:solidFill>
                  <a:srgbClr val="EAF4FF"/>
                </a:solidFill>
                <a:latin typeface="Noto Sans"/>
              </a:defRPr>
            </a:pPr>
            <a:r>
              <a:t>Most már tudjuk, hogyan jutunk el egy hoston a hibás jogosultságtól a javított állapotig. A következő modulban azt nézzük meg, milyen információk szerezhetők meg támadás nélkül, nyílt forrásokból.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F8AA7"/>
                </a:solidFill>
                <a:latin typeface="Noto Sans"/>
              </a:rPr>
              <a:t>11. modul • Privilege Escalation                                     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