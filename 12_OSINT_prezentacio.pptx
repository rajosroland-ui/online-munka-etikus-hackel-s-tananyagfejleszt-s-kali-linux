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Noto Sans"/>
              </a:rPr>
              <a:t>12. MODUL – OSINT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9D6FF"/>
                </a:solidFill>
                <a:latin typeface="Noto Sans"/>
              </a:rPr>
              <a:t>Nyílt forrású információgyűjtés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AFC"/>
                </a:solidFill>
                <a:latin typeface="Noto Sans"/>
              </a:rPr>
              <a:t>Források • DNS • webes lábnyom • metadata • SpiderFoot • validálás • jelentés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977639"/>
            <a:ext cx="5029200" cy="11887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114800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A modul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53127"/>
            <a:ext cx="47000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Mit tudhat meg rólunk valaki kizárólag abból, amit mi vagy más nyilvános forrás már publikált?</a:t>
            </a:r>
          </a:p>
        </p:txBody>
      </p:sp>
      <p:pic>
        <p:nvPicPr>
          <p:cNvPr id="9" name="Picture 8" descr="sour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2505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Miért fontos az OSINT?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9D6FF"/>
                </a:solidFill>
                <a:latin typeface="Noto Sans"/>
              </a:rPr>
              <a:t>A támadási felület gyakran jóval a tűzfal előtt kezdődik.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Publikus lábnyom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Domainnevek, weboldalak, dokumentumok, technológiai utalások és nyilvános kapcsolattartó aliasok.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Forráskritika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2140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találat nem tény, amíg a forrást, dátumot és kontextust nem ellenőriztük.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7830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Védekezés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21408"/>
            <a:ext cx="305409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Amit a diák OSINT-ként megtalál, azt rendszergazdaként később csökkenteni vagy pontosítani tudja.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977639"/>
            <a:ext cx="9418320" cy="11887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4114800"/>
            <a:ext cx="9089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Kurzusfókusz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453127"/>
            <a:ext cx="90891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Nem valódi személyek „levadászása”. Fiktív szervezet + engedélyezett domain + adatminimalizált riport.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Etikai és jogi keret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45919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8424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Scope előbb, adat utána</a:t>
            </a:r>
          </a:p>
        </p:txBody>
      </p:sp>
      <p:sp>
        <p:nvSpPr>
          <p:cNvPr id="7" name="Chevron 6"/>
          <p:cNvSpPr/>
          <p:nvPr/>
        </p:nvSpPr>
        <p:spPr>
          <a:xfrm>
            <a:off x="2684678" y="1856231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6118" y="150876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710" y="1645919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0710" y="198424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Csak szükséges adat</a:t>
            </a:r>
          </a:p>
        </p:txBody>
      </p:sp>
      <p:sp>
        <p:nvSpPr>
          <p:cNvPr id="11" name="Chevron 10"/>
          <p:cNvSpPr/>
          <p:nvPr/>
        </p:nvSpPr>
        <p:spPr>
          <a:xfrm>
            <a:off x="4912156" y="1856231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3596" y="150876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188" y="1645919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8188" y="198424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Személyek profilozása nélkül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9635" y="1856231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1075" y="150876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5667" y="1645919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5667" y="198424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Forrás dokumentálva</a:t>
            </a:r>
          </a:p>
        </p:txBody>
      </p:sp>
      <p:sp>
        <p:nvSpPr>
          <p:cNvPr id="19" name="Chevron 18"/>
          <p:cNvSpPr/>
          <p:nvPr/>
        </p:nvSpPr>
        <p:spPr>
          <a:xfrm>
            <a:off x="9367113" y="1856231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58553" y="150876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3145" y="1645919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3145" y="198424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Bizonytalanság jelölve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46120"/>
            <a:ext cx="9966960" cy="17373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3383279"/>
            <a:ext cx="9637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5252"/>
                </a:solidFill>
                <a:latin typeface="Noto Sans"/>
              </a:rPr>
              <a:t>Vörös vonalak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721608"/>
            <a:ext cx="9637776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Nincs magánfiók-vadászat, nincs személyes telefonszám/e-mail célzott gyűjtése, nincs deanonymizálás, nincs jelszó- vagy hitelesítőadat-keresés. A modul célja szervezeti technikai lábnyom és forráskritika.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Passzív vs. aktív információgyűjtés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20640" cy="33832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54480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PASSZÍV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92808"/>
            <a:ext cx="479145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Már létező nyilvános források vizsgálata.
Példa: publikált dokumentum metadata, keresőindex, RDAP, tanári mintaadat.
Előny: kisebb közvetlen hatás.
Korlát: adat lehet elavult vagy hiányos.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20640" cy="33832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554480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AKTÍV / KÖZVETLEN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892808"/>
            <a:ext cx="479145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cél saját publikus szolgáltatását is lekérdezzük.
Példa: DNS rekord lekérdezése, robots.txt, sitemap.xml, HTTP header.
Mindig scope és engedély szükséges.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OSINT ciklus</a:t>
            </a:r>
          </a:p>
        </p:txBody>
      </p:sp>
      <p:pic>
        <p:nvPicPr>
          <p:cNvPr id="4" name="Picture 3" descr="osint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10789920" cy="61297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Milyen forrásokat használunk?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DNS / RDAP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47088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A, MX, TXT, CNAME; domain állapot és technikai kontextus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47088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robots.txt, sitemap, HTML source, security.txt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716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Dokumentum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1847088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PDF/DOCX metaadat, szerző, szoftver, kulcsszavak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Kép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904487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EXIF/XMP/IPTC jellegű technikai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290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Noto Sans"/>
              </a:rPr>
              <a:t>Automatizált OSINT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904487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theHarvester és SpiderFoot – kontrollált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429000"/>
            <a:ext cx="3429000" cy="16459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Noto Sans"/>
              </a:rPr>
              <a:t>Forrásnapló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904487"/>
            <a:ext cx="3099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URL/fájlnév, idő, adat, megbízhatóság, validálás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Kérdésvezérelt gyűjtés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19"/>
            <a:ext cx="10186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5252"/>
                </a:solidFill>
                <a:latin typeface="Noto Sans"/>
              </a:rPr>
              <a:t>Rossz kérdés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10186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„Mindent tudjunk meg a cégről.”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15600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06040"/>
            <a:ext cx="10186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Jó kérdés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18641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Milyen publikus szolgáltatásnevek következtethetők ki a szervezet saját webes és DNS-forrásaiból?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10515600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931920"/>
            <a:ext cx="10186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Jó kérdés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70248"/>
            <a:ext cx="1018641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Milyen technológiai és projektinformáció szivárog ki a publikált dokumentumok metaadataiból?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Forráskritika és provenance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Forrás azonosítása</a:t>
            </a:r>
          </a:p>
        </p:txBody>
      </p:sp>
      <p:sp>
        <p:nvSpPr>
          <p:cNvPr id="7" name="Chevron 6"/>
          <p:cNvSpPr/>
          <p:nvPr/>
        </p:nvSpPr>
        <p:spPr>
          <a:xfrm>
            <a:off x="2684678" y="17190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6118" y="13716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710" y="15087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0710" y="18470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Dátum rögzítése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12156" y="17190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3596" y="13716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188" y="15087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8188" y="18470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Elsődleges?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9635" y="17190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1075" y="13716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5667" y="15087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5667" y="18470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Független megerősítés</a:t>
            </a:r>
          </a:p>
        </p:txBody>
      </p:sp>
      <p:sp>
        <p:nvSpPr>
          <p:cNvPr id="19" name="Chevron 18"/>
          <p:cNvSpPr/>
          <p:nvPr/>
        </p:nvSpPr>
        <p:spPr>
          <a:xfrm>
            <a:off x="9367113" y="17190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58553" y="13716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3145" y="15087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3145" y="18470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Bizonyosság jelölése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3154680"/>
            <a:ext cx="9784080" cy="16916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3291840"/>
            <a:ext cx="9454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Fontos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630168"/>
            <a:ext cx="945489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Két oldal, amely ugyanazt az eredeti cikket másolja, nem két független forrás. Az OSINT riportban a forrás eredetét is követjük.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DNS mint OSINT-forrás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657600" cy="4114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Gyakori rekordok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8"/>
            <a:ext cx="332841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– IPv4 cím
AAAA – IPv6 cím
MX – levelezés
TXT – policy / verification
CNAME – alias
NS – névszerver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17320"/>
            <a:ext cx="6766560" cy="1828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1554480"/>
            <a:ext cx="6437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Kali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1892808"/>
            <a:ext cx="64373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dig bluepeak.lab A
dig bluepeak.lab MX
dig bluepeak.lab 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520440"/>
            <a:ext cx="6766560" cy="20116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3657600"/>
            <a:ext cx="6437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Mit tanulunk belőle?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995928"/>
            <a:ext cx="643737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Nem „feltörünk” valamit: publikált rekordokat értelmezünk. A laborban minden rekord szintetikus és a Debian dnsmasq szolgáltatja.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RDAP / WHOIS: mit érdemes nézni?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83280" cy="32918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1. Állapot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92808"/>
            <a:ext cx="305409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Domain állapot, létrehozás/frissítés, lejárat – ha publikált.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32918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2. Szolgáltató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8"/>
            <a:ext cx="305409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Regisztrátor, névszerverek, technikai azonosítók.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3383280" cy="32918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3. Adatvédelem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892808"/>
            <a:ext cx="305409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személyes regisztrációs adatok gyakran maszkoltak – ezt tiszteletben tartjuk.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Webes lábnyom: 4 egyszerű forrás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71119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23820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23820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robots.txt</a:t>
            </a:r>
          </a:p>
        </p:txBody>
      </p:sp>
      <p:sp>
        <p:nvSpPr>
          <p:cNvPr id="7" name="Chevron 6"/>
          <p:cNvSpPr/>
          <p:nvPr/>
        </p:nvSpPr>
        <p:spPr>
          <a:xfrm>
            <a:off x="3241548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2988" y="1463040"/>
            <a:ext cx="271119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600200"/>
            <a:ext cx="23820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1938528"/>
            <a:ext cx="23820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sitemap.xml</a:t>
            </a:r>
          </a:p>
        </p:txBody>
      </p:sp>
      <p:sp>
        <p:nvSpPr>
          <p:cNvPr id="11" name="Chevron 10"/>
          <p:cNvSpPr/>
          <p:nvPr/>
        </p:nvSpPr>
        <p:spPr>
          <a:xfrm>
            <a:off x="6025896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17336" y="1463040"/>
            <a:ext cx="271119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7" y="1600200"/>
            <a:ext cx="23820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7" y="1938528"/>
            <a:ext cx="23820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HTML source</a:t>
            </a:r>
          </a:p>
        </p:txBody>
      </p:sp>
      <p:sp>
        <p:nvSpPr>
          <p:cNvPr id="15" name="Chevron 14"/>
          <p:cNvSpPr/>
          <p:nvPr/>
        </p:nvSpPr>
        <p:spPr>
          <a:xfrm>
            <a:off x="8810244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1684" y="1463040"/>
            <a:ext cx="271119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6276" y="1600200"/>
            <a:ext cx="23820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6276" y="1938528"/>
            <a:ext cx="23820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security.txt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154680"/>
            <a:ext cx="10058400" cy="16916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1" y="329184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Kulcsgondolat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1" y="3630168"/>
            <a:ext cx="9729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Ezek nyilvános fájlok. A robots.txt például nem „titkos könyvtárlista”, hanem robotoknak szánt iránymutatás. Ettől még információforrás lehet.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Metaadat: a fájl mögötti információ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291840" cy="34747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63039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KÉP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01368"/>
            <a:ext cx="296265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Szoftver
Dátum
Szerző / copyright
Megjegyzés
Kameraadat – ha jelen van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34747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463039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801368"/>
            <a:ext cx="296265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Title
Author
Creator
Keywords
Létrehozási/módosítási információ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291840" cy="34747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463039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801368"/>
            <a:ext cx="296265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Core properties
Author
Subject
Keywords
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ExifTool – 30 másodperces látványos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846320" cy="438912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63039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Parancsok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4517136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exiftool bluepeak_media.jpg
exiftool BluePeak_Public_Brochure.pdf
exiftool BluePeak_Partner_Note.docx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5577840" cy="19659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1031" y="1463039"/>
            <a:ext cx="5248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Diákfeladat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1031" y="1801368"/>
            <a:ext cx="5248655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Ne a teljes kimenetet másold! Válassz 5 releváns mezőt, és magyarázd el, miért számítanak.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566160"/>
            <a:ext cx="5577840" cy="21488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3703320"/>
            <a:ext cx="5248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Forráskritika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4041648"/>
            <a:ext cx="5248655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metadata szerkeszthető. Egy szerzőnév vagy dátum önmagában nem bizonyít semmit – más forrással validálni kell.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theHarvester – gyors domain-footprint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Mire jó?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47088"/>
            <a:ext cx="470001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Publikus forrásokból domainhez kapcsolódó hostnevek és egyéb nyomok összegyűjtése.
Órán: tanár által engedélyezett domain vagy offline mintakimenet.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303520" cy="18288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1" y="15087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Telepítés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1" y="1847088"/>
            <a:ext cx="49743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sudo apt install theharvester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474720"/>
            <a:ext cx="5303520" cy="20116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3611879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3950208"/>
            <a:ext cx="497433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theHarvester -d &lt;JÓVÁHAGYOTT_DOMAIN&gt; -l 100 -b duckduckgo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SpiderFoot – automatizált OSINT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749039" cy="4480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71600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1. Indítás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3419856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sudo apt install spiderfoot
spiderfoot -l 127.0.0.1:5001
Böngésző:
127.0.0.1:5001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34440"/>
            <a:ext cx="3108960" cy="4480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19472" y="137160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2.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472" y="1709928"/>
            <a:ext cx="2779776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Csak tanári target.
Kezdésnek passzív / footprint jelleg.
Nincs személynév cél.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291840" cy="4480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371600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3. Validálás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709928"/>
            <a:ext cx="2962656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Event type
Source
Data
Dátum
Második forrás
5 eseményből legyen 5 ellenőrzött megállapítás.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Kapcsolati gráf: adatpontból összefüggés</a:t>
            </a:r>
          </a:p>
        </p:txBody>
      </p:sp>
      <p:pic>
        <p:nvPicPr>
          <p:cNvPr id="4" name="Picture 3" descr="sour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184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OSINT Village – 6 Cisco pod</a:t>
            </a:r>
          </a:p>
        </p:txBody>
      </p:sp>
      <p:pic>
        <p:nvPicPr>
          <p:cNvPr id="4" name="Picture 3" descr="lab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33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LAB 1–3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LAB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Scope + forrásnapló
Kérdések megfogalmazása
Tény vs. következtetés
Adatminimalizálás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Webes lábnyom
robots.txt
sitemap.xml
security.txt
HTML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LAB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DNS nyomozás
A / MX / TXT
host aliasok
forrásmegbízhatóság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LAB 4–6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ExifTool
JPG + PDF + DOCX
5 releváns metadata
keresztvalidálás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theHarvester
engedélyezett domain
vagy offline output
false positive triage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LAB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SpiderFoot
passzív use case
5 esemény
kapcsolati gráf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LAB 7–9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LAB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Forráskritika
aktuális oldal vs. archívum
ellenvetés
frissesség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OSINT Village
csapatnyomozás
footprint térkép
3 perces briefing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406908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LAB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892808"/>
            <a:ext cx="3054096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Hardening + retest
felesleges nyomok csökkentése
előtte / utána bizonyíték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Tanári előkészítés – mire figyelj?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9280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Cisco pod izoláció</a:t>
            </a:r>
          </a:p>
        </p:txBody>
      </p:sp>
      <p:sp>
        <p:nvSpPr>
          <p:cNvPr id="7" name="Chevron 6"/>
          <p:cNvSpPr/>
          <p:nvPr/>
        </p:nvSpPr>
        <p:spPr>
          <a:xfrm>
            <a:off x="2684678" y="176479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6118" y="141732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710" y="155448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0710" y="189280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Debian Apache + DNS</a:t>
            </a:r>
          </a:p>
        </p:txBody>
      </p:sp>
      <p:sp>
        <p:nvSpPr>
          <p:cNvPr id="11" name="Chevron 10"/>
          <p:cNvSpPr/>
          <p:nvPr/>
        </p:nvSpPr>
        <p:spPr>
          <a:xfrm>
            <a:off x="4912156" y="176479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3596" y="141732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188" y="155448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8188" y="189280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Kali eszközök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9635" y="176479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1075" y="141732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5667" y="155448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5667" y="189280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Scope kivetítve</a:t>
            </a:r>
          </a:p>
        </p:txBody>
      </p:sp>
      <p:sp>
        <p:nvSpPr>
          <p:cNvPr id="19" name="Chevron 18"/>
          <p:cNvSpPr/>
          <p:nvPr/>
        </p:nvSpPr>
        <p:spPr>
          <a:xfrm>
            <a:off x="9367113" y="176479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58553" y="141732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3145" y="155448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3145" y="189280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Gyors funkcióteszt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3337560"/>
            <a:ext cx="100584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" y="347472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Első alkalom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3813048"/>
            <a:ext cx="9729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csomag setup scriptje felrakja az Apache/dnsmasq csomagokat, ezért az első előkészítés internetet igényelhet. Utána a gyakorlat teljesen offline futtatható.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Mini CTF – ORBIT nyomában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FLAG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4708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robots.txt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FLAG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4708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DNS 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716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5087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FLAG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184708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JPG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FLAG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904487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PDF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290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Noto Sans"/>
              </a:rPr>
              <a:t>FLAG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904487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DOCX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429000"/>
            <a:ext cx="3429000" cy="160020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566160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Noto Sans"/>
              </a:rPr>
              <a:t>FLAG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904487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archive oldal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OSINT-jelentés: mitől szakmai?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Scope</a:t>
            </a:r>
          </a:p>
        </p:txBody>
      </p:sp>
      <p:sp>
        <p:nvSpPr>
          <p:cNvPr id="7" name="Chevron 6"/>
          <p:cNvSpPr/>
          <p:nvPr/>
        </p:nvSpPr>
        <p:spPr>
          <a:xfrm>
            <a:off x="2684678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76118" y="146304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710" y="160020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0710" y="193852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Forrásnapló</a:t>
            </a:r>
          </a:p>
        </p:txBody>
      </p:sp>
      <p:sp>
        <p:nvSpPr>
          <p:cNvPr id="11" name="Chevron 10"/>
          <p:cNvSpPr/>
          <p:nvPr/>
        </p:nvSpPr>
        <p:spPr>
          <a:xfrm>
            <a:off x="4912156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3596" y="146304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188" y="160020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8188" y="193852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Megállapítás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9635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1075" y="146304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5667" y="160020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5667" y="193852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Bizonyosság</a:t>
            </a:r>
          </a:p>
        </p:txBody>
      </p:sp>
      <p:sp>
        <p:nvSpPr>
          <p:cNvPr id="19" name="Chevron 18"/>
          <p:cNvSpPr/>
          <p:nvPr/>
        </p:nvSpPr>
        <p:spPr>
          <a:xfrm>
            <a:off x="9367113" y="181051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58553" y="146304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3145" y="160020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3145" y="193852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Hardening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291840"/>
            <a:ext cx="10149840" cy="17373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429000"/>
            <a:ext cx="9820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Formátum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767328"/>
            <a:ext cx="9820656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Állítás → bizonyíték → forrás → validálás → bizonyossági szint. A személyes adat nem „plusz pont”; ha nem szükséges, ne kerüljön a jelentésbe.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Mit vigyél magaddal?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234440"/>
            <a:ext cx="10058400" cy="749808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6151" y="137160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1" y="1709928"/>
            <a:ext cx="97292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OSINT = kérdés + forrás + validálás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194560"/>
            <a:ext cx="10058400" cy="749808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1" y="233172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1" y="2670048"/>
            <a:ext cx="97292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Metadata nem egyenlő igazsággal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154680"/>
            <a:ext cx="10058400" cy="749808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" y="329184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1" y="3630168"/>
            <a:ext cx="97292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Automatizált eszköz = gyorsító, nem döntéshozó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114800"/>
            <a:ext cx="10058400" cy="749808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1" y="425196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1" y="4590288"/>
            <a:ext cx="97292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scope és adatminimalizálás szakmai követelmény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074920"/>
            <a:ext cx="10058400" cy="749808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1" y="521208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1" y="5550408"/>
            <a:ext cx="972921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A védekezés része a publikus lábnyom rendszeres auditja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7FAFC"/>
                </a:solidFill>
                <a:latin typeface="Noto Sans"/>
              </a:rPr>
              <a:t>Következő modul: Digitális forensics és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9D6FF"/>
                </a:solidFill>
                <a:latin typeface="Noto Sans"/>
              </a:rPr>
              <a:t>Az OSINT-nél nyilvános nyomokból következtettünk. A következő modulban rendszer- és eseménynyomokból rakjuk össze, mi történt.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9D6FF"/>
                </a:solidFill>
                <a:latin typeface="Noto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042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Bizonyíték</a:t>
            </a:r>
          </a:p>
        </p:txBody>
      </p:sp>
      <p:sp>
        <p:nvSpPr>
          <p:cNvPr id="8" name="Chevron 7"/>
          <p:cNvSpPr/>
          <p:nvPr/>
        </p:nvSpPr>
        <p:spPr>
          <a:xfrm>
            <a:off x="2684678" y="21762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6118" y="18288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0710" y="19659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0710" y="23042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Timeline</a:t>
            </a:r>
          </a:p>
        </p:txBody>
      </p:sp>
      <p:sp>
        <p:nvSpPr>
          <p:cNvPr id="12" name="Chevron 11"/>
          <p:cNvSpPr/>
          <p:nvPr/>
        </p:nvSpPr>
        <p:spPr>
          <a:xfrm>
            <a:off x="4912156" y="21762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3596" y="18288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40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8188" y="19659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D17C"/>
                </a:solidFill>
                <a:latin typeface="Noto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8188" y="23042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Logok</a:t>
            </a:r>
          </a:p>
        </p:txBody>
      </p:sp>
      <p:sp>
        <p:nvSpPr>
          <p:cNvPr id="16" name="Chevron 15"/>
          <p:cNvSpPr/>
          <p:nvPr/>
        </p:nvSpPr>
        <p:spPr>
          <a:xfrm>
            <a:off x="7139635" y="21762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31075" y="18288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5667" y="19659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Noto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667" y="23042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Hipotézis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67113" y="2176272"/>
            <a:ext cx="237744" cy="347472"/>
          </a:xfrm>
          <a:prstGeom prst="chevron">
            <a:avLst/>
          </a:prstGeom>
          <a:solidFill>
            <a:srgbClr val="9D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58553" y="1828800"/>
            <a:ext cx="2154326" cy="105156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3145" y="1965960"/>
            <a:ext cx="18251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Noto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3145" y="2304288"/>
            <a:ext cx="182514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Incident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886200"/>
            <a:ext cx="9966960" cy="1234440"/>
          </a:xfrm>
          <a:prstGeom prst="roundRect">
            <a:avLst/>
          </a:prstGeom>
          <a:solidFill>
            <a:srgbClr val="0F2238"/>
          </a:solidFill>
          <a:ln w="13970">
            <a:solidFill>
              <a:srgbClr val="29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4023360"/>
            <a:ext cx="9637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C7B8"/>
                </a:solidFill>
                <a:latin typeface="Noto Sans"/>
              </a:rPr>
              <a:t>Átvezető kérdés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361688"/>
            <a:ext cx="96377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F7FAFC"/>
                </a:solidFill>
                <a:latin typeface="Noto Sans"/>
              </a:rPr>
              <a:t>Ha egy esemény már megtörtént, mely digitális nyomok alapján tudjuk időrendben rekonstruálni?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DB4CC"/>
                </a:solidFill>
                <a:latin typeface="Noto Sans"/>
              </a:rPr>
              <a:t>12. modul • OSINT – nyílt forrású információgyűjtés                                    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