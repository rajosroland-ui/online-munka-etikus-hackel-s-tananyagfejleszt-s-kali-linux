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" y="27432"/>
            <a:ext cx="12136831" cy="68031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8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2120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200" b="1">
                <a:solidFill>
                  <a:srgbClr val="00B1E3"/>
                </a:solidFill>
                <a:latin typeface="Noto Sans"/>
              </a:defRPr>
            </a:pPr>
            <a:r>
              <a:t>08. MODUL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303520" cy="13258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3000" b="1">
                <a:solidFill>
                  <a:srgbClr val="F2F7FA"/>
                </a:solidFill>
                <a:latin typeface="Noto Sans"/>
              </a:defRPr>
            </a:pPr>
            <a:r>
              <a:t>Jelszavak, hitelesítés</a:t>
            </a:r>
            <a:br/>
            <a:r>
              <a:t>és hozzáférésvédelem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54680"/>
            <a:ext cx="5029200" cy="6858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400" b="0">
                <a:solidFill>
                  <a:srgbClr val="AABEC8"/>
                </a:solidFill>
                <a:latin typeface="Noto Sans"/>
              </a:defRPr>
            </a:pPr>
            <a:r>
              <a:t>Offline hash-vizsgálat • John/Johnny • Wireshark • Cisco SSH-hardening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160520"/>
            <a:ext cx="960120" cy="384048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900" b="1">
                <a:solidFill>
                  <a:srgbClr val="F2F7FA"/>
                </a:solidFill>
                <a:latin typeface="Noto Sans"/>
              </a:defRPr>
            </a:pPr>
            <a:r>
              <a:t>HASH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6232" y="4160520"/>
            <a:ext cx="960120" cy="384048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900" b="1">
                <a:solidFill>
                  <a:srgbClr val="F2F7FA"/>
                </a:solidFill>
                <a:latin typeface="Noto Sans"/>
              </a:defRPr>
            </a:pPr>
            <a:r>
              <a:t>MFA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232" y="4160520"/>
            <a:ext cx="960120" cy="384048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900" b="1">
                <a:solidFill>
                  <a:srgbClr val="F2F7FA"/>
                </a:solidFill>
                <a:latin typeface="Noto Sans"/>
              </a:defRPr>
            </a:pPr>
            <a:r>
              <a:t>SSH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2232" y="4160520"/>
            <a:ext cx="960120" cy="384048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900" b="1">
                <a:solidFill>
                  <a:srgbClr val="F2F7FA"/>
                </a:solidFill>
                <a:latin typeface="Noto Sans"/>
              </a:defRPr>
            </a:pPr>
            <a: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80760"/>
            <a:ext cx="5212080" cy="2743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0">
                <a:solidFill>
                  <a:srgbClr val="AABEC8"/>
                </a:solidFill>
                <a:latin typeface="Noto Sans"/>
              </a:defRPr>
            </a:pPr>
            <a:r>
              <a:t>13. évfolyam • Informatikai rendszer- és alkalmazás-üzemeltető technikus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Mitől lesz ez több egy „jelszavas” óránál?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Hitelesítési rendszer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Nem egyetlen titkot, hanem tényezőket, tárolást, protokollt, sebességkorlátot és naplózást vizsgálunk.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Bizonyítékalapú labor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tanuló kimenetet gyűjt, következtet, javít és retestet végez.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Élő Cisco eszközök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6 párhuzamos podban Telnet–SSH összevetés és menedzsment-hardening készül.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Kali gyakorlat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hashid, John és Johnny kizárólag tanári demo hash-eken.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A hitelesítés három tényezője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33832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AMIT TUDSZ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3099816" cy="23317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jelszó • PIN • jelmondat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33832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55448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2024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AMI NÁLAD 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77440"/>
            <a:ext cx="3099816" cy="23317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telefon • token • biztonsági kulcs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29000" cy="33832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55448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92024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AMI TE VAGY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377440"/>
            <a:ext cx="3099816" cy="23317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ujjlenyomat • arc • biometria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166360"/>
            <a:ext cx="97840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500" b="1">
                <a:solidFill>
                  <a:srgbClr val="F2F7FA"/>
                </a:solidFill>
                <a:latin typeface="Noto Sans"/>
              </a:defRPr>
            </a:pPr>
            <a:r>
              <a:t>MFA = két különböző tényező. Két egymás utáni jelszó nem többtényezős hitelesítés.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Online és offline támadási felület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szolgáltatás minden próbát lát: rate limit, lockout, MFA és naplózás működhet.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támadó a megszerzett hash-en dolgozik; a szerveroldali sebességkorlát már nem segít.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SPRAYING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Kevés gyakori jelszó sok fiókon – a fiókonkénti zárolást próbálja elkerülni.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STUFFING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Más rendszerből származó felhasználónév–jelszó párok újrahasználata.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A biztonságos hitelesítés nem egyetlen lépés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pic>
        <p:nvPicPr>
          <p:cNvPr id="6" name="Picture 5" descr="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10185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Hash ≠ titkosítás ≠ kódolás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Egyirányú származtatás. Jelszótárolásnál lassú és sózott KDF kell.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TITKOSÍTÁS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Kulccsal visszafejthető. Adatvédelemre, nem jelszó-ellenőrzésre.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KÓDOLÁS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Formátumátalakítás, például Base64. Nem biztonsági védelem.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KONTEXTUS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Ugyanaz a hossz több formátumra hasonlíthat; az eszköz kimenetét értelmezni kell.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Salt, pepper és munkafaktor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Salt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Felhasználónként egyedi, nem titkos érték. Azonos jelszó → eltérő hash.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Pepper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Külön tárolt rendszeroldali titok. Nem az adatbázis része.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Munkafaktor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Szándékosan drágítja a próbálkozást. A teljesítményhez hangoljuk.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Memóriaigény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Argon2id és scrypt a nagymértékű párhuzamosítást is nehezíti.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NIST SP 800-63B-4: jelszópolitika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560320" cy="100584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3100" b="1">
                <a:solidFill>
                  <a:srgbClr val="00B1E3"/>
                </a:solidFill>
                <a:latin typeface="Noto Sans"/>
              </a:defRPr>
            </a:pPr>
            <a:r>
              <a:t>15+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56032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1">
                <a:solidFill>
                  <a:srgbClr val="00B1E3"/>
                </a:solidFill>
                <a:latin typeface="Noto Sans"/>
              </a:defRPr>
            </a:pPr>
            <a:r>
              <a:t>SINGLE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560320" cy="105156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0">
                <a:solidFill>
                  <a:srgbClr val="AABEC8"/>
                </a:solidFill>
                <a:latin typeface="Noto Sans"/>
              </a:defRPr>
            </a:pPr>
            <a:r>
              <a:t>Minimum 15 karakter egyszeres faktorú jelszónál.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325880"/>
            <a:ext cx="2560320" cy="100584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3100" b="1">
                <a:solidFill>
                  <a:srgbClr val="24AE74"/>
                </a:solidFill>
                <a:latin typeface="Noto Sans"/>
              </a:defRPr>
            </a:pPr>
            <a:r>
              <a:t>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468880"/>
            <a:ext cx="256032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1">
                <a:solidFill>
                  <a:srgbClr val="24AE74"/>
                </a:solidFill>
                <a:latin typeface="Noto Sans"/>
              </a:defRPr>
            </a:pPr>
            <a:r>
              <a:t>MFA MELLETT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39" y="2926080"/>
            <a:ext cx="2560320" cy="105156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0">
                <a:solidFill>
                  <a:srgbClr val="AABEC8"/>
                </a:solidFill>
                <a:latin typeface="Noto Sans"/>
              </a:defRPr>
            </a:pPr>
            <a:r>
              <a:t>MFA részeként legalább 8 karakter.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2560320" cy="100584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3100" b="1">
                <a:solidFill>
                  <a:srgbClr val="F4A02C"/>
                </a:solidFill>
                <a:latin typeface="Noto Sans"/>
              </a:defRPr>
            </a:pPr>
            <a: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256032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1">
                <a:solidFill>
                  <a:srgbClr val="F4A02C"/>
                </a:solidFill>
                <a:latin typeface="Noto Sans"/>
              </a:defRPr>
            </a:pPr>
            <a:r>
              <a:t>MAXIMUM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2560320" cy="105156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0">
                <a:solidFill>
                  <a:srgbClr val="AABEC8"/>
                </a:solidFill>
                <a:latin typeface="Noto Sans"/>
              </a:defRPr>
            </a:pPr>
            <a:r>
              <a:t>Legalább 64 karakteres maximum támogatása ajánlott.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325880"/>
            <a:ext cx="2560320" cy="100584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3100" b="1">
                <a:solidFill>
                  <a:srgbClr val="E04C56"/>
                </a:solidFill>
                <a:latin typeface="Noto Sans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468880"/>
            <a:ext cx="256032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1">
                <a:solidFill>
                  <a:srgbClr val="E04C56"/>
                </a:solidFill>
                <a:latin typeface="Noto Sans"/>
              </a:defRPr>
            </a:pPr>
            <a:r>
              <a:t>KÉNYSZERES KEVERÉS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926080"/>
            <a:ext cx="2560320" cy="105156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0">
                <a:solidFill>
                  <a:srgbClr val="AABEC8"/>
                </a:solidFill>
                <a:latin typeface="Noto Sans"/>
              </a:defRPr>
            </a:pPr>
            <a:r>
              <a:t>Ne legyen kötelező karakterosztály-keverés.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800600"/>
            <a:ext cx="9875520" cy="86868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400" b="1">
                <a:solidFill>
                  <a:srgbClr val="F2F7FA"/>
                </a:solidFill>
                <a:latin typeface="Noto Sans"/>
              </a:defRPr>
            </a:pPr>
            <a:r>
              <a:t>Tiltólista • hosszú jelmondat • jelszókezelő • nincs rutinból kényszerített csere kompromittálódás nélkül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Mitől gyenge egy jelszó a gyakorlatban?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Gyakori minta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Név, évszám, évszak, sportcsapat, billentyűzetminta.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Újrahasználat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Egy korábbi adatszivárgás több fiókot veszélyeztet.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Rövid hossz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Kicsi keresési tér, különösen gyors hash mellett.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Kiszámítható csere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Password1 → Password2 nem valódi erősítés.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Réteges védelem: nem csak jelszó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Hossz és tiltólista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jelszóválasztás minőségének első védelmi vonala.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megszerzett jelszó önmagában ne legyen elegendő.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Online próbálkozások lassítása és ideiglenes blokkolása.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Sikertelen belépések, földrajzi anomáliák, új eszközök.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Kali eszköztár – egyszerű, látványos, reprodukálható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12080" cy="173736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2588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HASHID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9164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formátumbecslés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48840"/>
            <a:ext cx="4882896" cy="6858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hashid -m "&lt;hash&gt;"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212080" cy="173736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2588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JOHN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9164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offline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48840"/>
            <a:ext cx="4882896" cy="6858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john --format=Raw-SHA256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5212080" cy="173736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47472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JOHNNY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4048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grafikus John felület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97680"/>
            <a:ext cx="4882896" cy="6858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johnny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5212080" cy="173736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47472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  <a:r>
              <a:t>WIRESHARK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84048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Telnet/SSH bizonyíték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97680"/>
            <a:ext cx="4882896" cy="6858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tcp.port == 23 or tcp.port ==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John the Ripper – laborfolyamat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Hashfájl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tanári demo SHA-256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Formátum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Raw-SHA256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Szólista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wordlist_demo.txt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Futtatás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john --wordlist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Eredmény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john --show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508760"/>
            <a:ext cx="155448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2200" b="1">
                <a:solidFill>
                  <a:srgbClr val="00B1E3"/>
                </a:solidFill>
                <a:latin typeface="Noto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240280"/>
            <a:ext cx="1554480" cy="4114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200" b="1">
                <a:solidFill>
                  <a:srgbClr val="F2F7FA"/>
                </a:solidFill>
                <a:latin typeface="Noto Sans"/>
              </a:defRPr>
            </a:pPr>
            <a:r>
              <a:t>Következtetés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743200"/>
            <a:ext cx="1554480" cy="10058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ctr">
              <a:defRPr sz="1000" b="0">
                <a:solidFill>
                  <a:srgbClr val="AABEC8"/>
                </a:solidFill>
                <a:latin typeface="Noto Sans"/>
              </a:defRPr>
            </a:pPr>
            <a:r>
              <a:t>mi maradt és miért?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800600"/>
            <a:ext cx="10332720" cy="73152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400" b="1">
                <a:solidFill>
                  <a:srgbClr val="F2F7FA"/>
                </a:solidFill>
                <a:latin typeface="Noto Sans"/>
              </a:defRPr>
            </a:pPr>
            <a:r>
              <a:t>A „nem találta meg” nem jelenti automatikusan, hogy a jelszó erős – csak a választott szólistát élte túl.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Scope és etikai kontroll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ENGEDÉLYEZETT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csomag hash-ei • saját 10.8.N.0/24 pod • tanári demo fiók • kézi hibás belépés.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TILOS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Valódi jelszó • másik csoport podja • iskolai fiók • internetes szolgáltatás • automatizált online próbálgatás.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BIZONYÍTÉK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Kimenet, időpont, eszköz, IP-cím, parancs és értelmezés.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VISSZAÁLLÍTÁS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Telnet és demo jelszó eltávolítása, konfigurációmentés visszatöltése.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Élő eszközös labor: 6 párhuzamos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pic>
        <p:nvPicPr>
          <p:cNvPr id="6" name="Picture 5" descr="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640080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143000"/>
            <a:ext cx="4160520" cy="123444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280160"/>
            <a:ext cx="3831335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POD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645920"/>
            <a:ext cx="3831335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R_N + SW_N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103120"/>
            <a:ext cx="3831335" cy="1828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Kali PC: 10.8.N.10</a:t>
            </a:r>
            <a:br/>
            <a:r>
              <a:t>Admin PC: 10.8.N.20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606040"/>
            <a:ext cx="4160520" cy="123444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2743200"/>
            <a:ext cx="3831335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108960"/>
            <a:ext cx="3831335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10.8.N.0/24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566160"/>
            <a:ext cx="3831335" cy="1828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Router: .1</a:t>
            </a:r>
            <a:br/>
            <a:r>
              <a:t>Switch SVI: 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069080"/>
            <a:ext cx="4160520" cy="123444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4206240"/>
            <a:ext cx="3831335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FÓKUSZ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4572000"/>
            <a:ext cx="3831335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Menedzsmentsík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5029200"/>
            <a:ext cx="3831335" cy="18288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Telnet → SSH → ACL → Login Block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Tanári előkészítés – mi legyen kész az óra előtt?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28016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64592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MENTÉS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0312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show run minden routerről és switchről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14300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28016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64592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0312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john, johnny, hashid, Wireshark + snapshot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4300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28016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64592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HASH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10312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tanulói fájlok másolva, megoldás elrejtve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52044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88620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CISCO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4340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interfésznevek, RSA és login parancsok kipróbálva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8328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52044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88620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KONZOL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4340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kizárás esetére minden podhoz elérhető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383280"/>
            <a:ext cx="3429000" cy="18288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520440"/>
            <a:ext cx="3099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886200"/>
            <a:ext cx="3099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343400"/>
            <a:ext cx="3099816" cy="7772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óra utáni visszaállítási sorrend előkészítve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1 – Hash-azonosítás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Tanári előkészítés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hashes_lab.txt + hashid; minden csoport azonos tanulói fájlt kap.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Tanulói feladat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Három hash formátumbecslése és a bizonytalanság leírása.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Bizonyíték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Parancs, kimenet, választott formátum és indoklás.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Tanulság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hash hossza önmagában nem mindig azonosítja a tárolási formátumot.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2 – Offline recovery Johnnal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Tanári előkészítés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Üres potfájl vagy elkülönített HOME; ellenőrzött szólista.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Futtatás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Raw-SHA256 + wordlist_demo.txt + john --show.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Kimenet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Megtalált és megmaradt hash-ek; futási idő.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Következtetés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találat a jelszó kiszámíthatóságát mutatja, nem „visszafejtést”.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3 – Johnny: ugyanaz grafikus felületen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hashes_lab.txt megnyitása.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Formátum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Raw-SHA256 kiválasztása.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Mód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Wordlist és wordlist_demo.txt.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Reflexió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GUI áttekinthetőség vs CLI reprodukálhatóság.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4 – Telnet és SSH: ugyanaz a cél, eltérő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34290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71600"/>
            <a:ext cx="4791455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  <a:r>
              <a:t>TELNET • TCP/23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4791455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Olvasható alkalmazási forgalom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94560"/>
            <a:ext cx="4791455" cy="23774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Saját demo belépés rögzítése</a:t>
            </a:r>
            <a:br/>
            <a:r>
              <a:t>Wireshark: tcp.port == 23</a:t>
            </a:r>
            <a:br/>
            <a:r>
              <a:t>Kockázat: hitelesítő adat és parancsok védtelenek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120640" cy="342900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71600"/>
            <a:ext cx="4791455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SSH • TCP/22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737360"/>
            <a:ext cx="4791455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Titkosított menedzsmentszekció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94560"/>
            <a:ext cx="4791455" cy="237744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Ugyanaz a hálózati útvonal</a:t>
            </a:r>
            <a:br/>
            <a:r>
              <a:t>Wireshark: tcp.port == 22</a:t>
            </a:r>
            <a:br/>
            <a:r>
              <a:t>Tartalom nem olvasható egyszerű csomagelemzéssel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120640"/>
            <a:ext cx="9966960" cy="59436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400" b="1">
                <a:solidFill>
                  <a:srgbClr val="F2F7FA"/>
                </a:solidFill>
                <a:latin typeface="Noto Sans"/>
              </a:defRPr>
            </a:pPr>
            <a:r>
              <a:t>A feladat célja a protokollválasztás hatásának bizonyítása – nem idegen hitelesítő adat megszerzése.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5 – Cisco SSH-hardening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AZONOSSÁG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hostname + domain name + RSA kulcs.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HITELESÍTÉS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helyi `username ... secret` és `enable secret`.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PROTOKOLL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SSHv2; VTY-n csak `transport input ssh`.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IDŐKORLÁT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rövid `exec-timeout` és ellenőrzött adminmunkamenet.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Labor 6 – Management ACL és Login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FORRÁSKORLÁT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Csak az admin PC 10.8.N.20 címéről legyen SSH.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HIBÁS PRÓBÁK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3 sikertelen próbálkozás 60 másodpercen belül.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QUIET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60 másodperces blokkolás és 2 másodperces késleltetés.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RETEST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admin PC sikeres; Kali PC tiltott; show login és napló bizonyít.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Mini CTF – Hitelesítési nyomok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8016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4592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0312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formátum + első találat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8016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64592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JOHN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10312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legalább 4 demo jelszó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4300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28016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64592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PCAP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10312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Telnet-kockázat bizonyítása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47472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384048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SSH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29768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Telnet tiltás + SSHv2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33756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47472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84048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ACL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9768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csak admin PC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337560"/>
            <a:ext cx="3474720" cy="17830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474720"/>
            <a:ext cx="314553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840480"/>
            <a:ext cx="314553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BLOCK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97680"/>
            <a:ext cx="3145536" cy="7315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quiet period + retest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5532120"/>
            <a:ext cx="8412480" cy="45720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ctr">
              <a:defRPr sz="1300" b="1">
                <a:solidFill>
                  <a:srgbClr val="F2F7FA"/>
                </a:solidFill>
                <a:latin typeface="Noto Sans"/>
              </a:defRPr>
            </a:pPr>
            <a:r>
              <a:t>A gyorsaság helyett a bizonyíték, a javítás és a retest pontozandó.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Rövid auditriport – mit kell átadni?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pod, IP-tartomány, fájlok, tiltások.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73952" y="164592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Bizonyíték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John/Johnny, Wireshark, show parancsok.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cím, súlyosság, bizonyíték, hatás.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383280"/>
            <a:ext cx="5212080" cy="1874519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E0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520440"/>
            <a:ext cx="488289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E04C56"/>
                </a:solidFill>
                <a:latin typeface="Noto Sans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73952" y="3886200"/>
            <a:ext cx="488289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Javítás + retest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343400"/>
            <a:ext cx="4882896" cy="822959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konkrét parancs és ellenőrzött eredmény.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2F7FA"/>
                </a:solidFill>
                <a:latin typeface="Noto Sans"/>
              </a:defRPr>
            </a:pPr>
            <a:r>
              <a:t>Modulzárás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ABEC8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ABEC8"/>
                </a:solidFill>
              </a:defRPr>
            </a:pPr>
            <a:r>
              <a:t>ETIKUS HACKELÉS • 08. MODUL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5486400" cy="3474720"/>
          </a:xfrm>
          <a:prstGeom prst="roundRect">
            <a:avLst/>
          </a:prstGeom>
          <a:solidFill>
            <a:srgbClr val="0C2A3A"/>
          </a:solidFill>
          <a:ln w="1524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/>
          <a:lstStyle/>
          <a:p>
            <a:pPr algn="l">
              <a:defRPr sz="1700" b="0">
                <a:solidFill>
                  <a:srgbClr val="F2F7FA"/>
                </a:solidFill>
                <a:latin typeface="Noto Sans"/>
              </a:defRPr>
            </a:pPr>
            <a:r>
              <a:t>A modul végére a tanuló:</a:t>
            </a:r>
            <a:br/>
            <a:br/>
            <a:r>
              <a:t>• megkülönbözteti a hash-t, titkosítást és kódolást;</a:t>
            </a:r>
            <a:br/>
            <a:r>
              <a:t>• értelmezi a jelszópolitikai ajánlásokat;</a:t>
            </a:r>
            <a:br/>
            <a:r>
              <a:t>• tanári demo hash-en használja a John/Johnny eszközöket;</a:t>
            </a:r>
            <a:br/>
            <a:r>
              <a:t>• bizonyítja a Telnet és SSH közötti különbséget;</a:t>
            </a:r>
            <a:br/>
            <a:r>
              <a:t>• élő Cisco eszközön SSH-t, ACL-t és loginvédelmet állít be;</a:t>
            </a:r>
            <a:br/>
            <a:r>
              <a:t>• findinget ír és retestet végez.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43000"/>
            <a:ext cx="4572000" cy="13258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24A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85431" y="1261872"/>
            <a:ext cx="4242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24AE74"/>
                </a:solidFill>
                <a:latin typeface="Noto Sans"/>
              </a:defRPr>
            </a:pPr>
            <a:r>
              <a:t>KÖVETKEZŐ LÉPÉS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1581912"/>
            <a:ext cx="4242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Naplózás és forgalomelemzés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1" y="1993392"/>
            <a:ext cx="4242816" cy="329184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hitelesítési eseményeket a következő modulokban logokkal és hálózati nyomokkal korreláljuk.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4572000" cy="13258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F4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1" y="2816352"/>
            <a:ext cx="4242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F4A02C"/>
                </a:solidFill>
                <a:latin typeface="Noto Sans"/>
              </a:defRPr>
            </a:pPr>
            <a:r>
              <a:t>KULCSMONDAT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1" y="3136392"/>
            <a:ext cx="4242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A jelszó csak egy réteg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547872"/>
            <a:ext cx="4242816" cy="329184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A biztonságot a tárolás, a protokoll, a hozzáférési út, a limit és az ellenőrzés együtt adja.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251960"/>
            <a:ext cx="4572000" cy="1325880"/>
          </a:xfrm>
          <a:prstGeom prst="roundRect">
            <a:avLst/>
          </a:prstGeom>
          <a:solidFill>
            <a:srgbClr val="0C2A3A"/>
          </a:solidFill>
          <a:ln w="20320">
            <a:solidFill>
              <a:srgbClr val="00B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1" y="4370832"/>
            <a:ext cx="4242816" cy="292608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900" b="1">
                <a:solidFill>
                  <a:srgbClr val="00B1E3"/>
                </a:solidFill>
                <a:latin typeface="Noto Sans"/>
              </a:defRPr>
            </a:pPr>
            <a:r>
              <a:t>LEADANDÓ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1" y="4690872"/>
            <a:ext cx="4242816" cy="45720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700" b="1">
                <a:solidFill>
                  <a:srgbClr val="F2F7FA"/>
                </a:solidFill>
                <a:latin typeface="Noto Sans"/>
              </a:defRPr>
            </a:pPr>
            <a:r>
              <a:t>Mini auditriport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1" y="5102352"/>
            <a:ext cx="4242816" cy="274320"/>
          </a:xfrm>
          <a:prstGeom prst="rect">
            <a:avLst/>
          </a:prstGeom>
          <a:noFill/>
        </p:spPr>
        <p:txBody>
          <a:bodyPr wrap="none" lIns="109728" rIns="109728" tIns="109728" bIns="109728" anchor="ctr">
            <a:spAutoFit/>
          </a:bodyPr>
          <a:lstStyle/>
          <a:p>
            <a:pPr algn="l">
              <a:defRPr sz="1100" b="0">
                <a:solidFill>
                  <a:srgbClr val="AABEC8"/>
                </a:solidFill>
                <a:latin typeface="Noto Sans"/>
              </a:defRPr>
            </a:pPr>
            <a:r>
              <a:t>Bizonyíték • javítás • retest • források.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