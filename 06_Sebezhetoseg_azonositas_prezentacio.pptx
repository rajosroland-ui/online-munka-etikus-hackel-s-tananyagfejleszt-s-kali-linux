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Nyisd az órát a scope szabállyal: csak tanári célpont, csak zárt labor.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Fontos: ne parancslistát taníts, hanem döntési folyamatot.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Minden labor előtt ismételd. Így később sem lesz félreértés, hogy mit szabad.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érdemes saját példával: nyitott port önmagában még nem hiba.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Mutasd rá: a modul vége nem a találat, hanem a javítás + újrateszt.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rajz nem konfigurációs óra. Ha kevés idő van, előre konfiguráld a routereket.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részletek a Tanári előkészítési checklist dokumentumban vannak.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a nagy agresszív scriptgyűjteményekkel kezdjenek.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Kérd őket, hogy minden találathoz írják oda a bizonyíték parancsát.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curl-lal érdemes élőben demonstrálni, hogy a header is információ.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Nikto után ne engedd, hogy automatikusan mindent kritikusként jelöljenek.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modul egyik legfontosabb dia: minőségi gondolkodás.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menjetek túl mély CVSS képletekbe. Itt még indoklás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utalj a labor dokumentumra.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jó átvezetés a blue team gondolkodáshoz.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CTF jó motiváció, de a leadandóban maradjon meg az elemző szemlélet.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Ezt a diát hagyd fent a riportírás alatt.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Zárásként minden csoport mondjon egy findingot és egy javítási javaslatot.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space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384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7FF"/>
                </a:solidFill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Sebezhetőség-azonosítás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és alapszintű kockázatértékelés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30352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8"/>
                </a:solidFill>
              </a:rPr>
              <a:t>Kali + zárt Cisco/VM labor · Nmap · curl · Nikto · riport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30352" y="2862072"/>
            <a:ext cx="2834640" cy="310896"/>
          </a:xfrm>
          <a:prstGeom prst="rect">
            <a:avLst/>
          </a:prstGeom>
          <a:solidFill>
            <a:srgbClr val="00B7FF">
              <a:alpha val="92000"/>
            </a:srgbClr>
          </a:solidFill>
          <a:ln>
            <a:solidFill>
              <a:srgbClr val="00B7FF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13. évfolyam · IRAT technikus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Miről szól ez a modul?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scanner csak adatot ad. Nekünk szakmai megállapítást kell készíteni.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560320" cy="118872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Felderítés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Mit látunk?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520440" y="1993392"/>
            <a:ext cx="822960" cy="320040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1645920"/>
            <a:ext cx="2743200" cy="1188720"/>
          </a:xfrm>
          <a:prstGeom prst="rect">
            <a:avLst/>
          </a:prstGeom>
          <a:solidFill>
            <a:srgbClr val="143B5B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Azonosítás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 lehet probléma?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79792" y="1993392"/>
            <a:ext cx="822960" cy="320040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645920"/>
            <a:ext cx="2743200" cy="1188720"/>
          </a:xfrm>
          <a:prstGeom prst="rect">
            <a:avLst/>
          </a:prstGeom>
          <a:solidFill>
            <a:srgbClr val="10344C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Ellenőrzés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Valódi vagy zaj?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B7FF"/>
                </a:solidFill>
              </a:rPr>
              <a:t>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83080" y="39593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Bizonyíték nélkül nincs finding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783080" y="4690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Kockázat nélkül nincs prioritás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5D982"/>
                </a:solidFill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783080" y="5422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Javítás nélkül nincs haszon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lab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mihez nyúlhatunk?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Az első biztonsági kontroll nem technikai, hanem engedélyezési.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4360" y="1554480"/>
            <a:ext cx="3291840" cy="3200400"/>
          </a:xfrm>
          <a:prstGeom prst="rect">
            <a:avLst/>
          </a:prstGeom>
          <a:solidFill>
            <a:srgbClr val="0B3B2A"/>
          </a:solidFill>
          <a:ln>
            <a:solidFill>
              <a:srgbClr val="24C485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ENGEDÉLYEZETT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10.6.30.10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22/tcp, 80/tcp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Nmap · curl · whatweb · Nikto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434840" y="1554480"/>
            <a:ext cx="3291840" cy="3200400"/>
          </a:xfrm>
          <a:prstGeom prst="rect">
            <a:avLst/>
          </a:prstGeom>
          <a:solidFill>
            <a:srgbClr val="4A1B21"/>
          </a:solidFill>
          <a:ln>
            <a:solidFill>
              <a:srgbClr val="FF666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TILOS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Iskolai éles rendszer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Internet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Másik diák gépe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Mobiltelefonok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75320" y="1554480"/>
            <a:ext cx="3246120" cy="3200400"/>
          </a:xfrm>
          <a:prstGeom prst="rect">
            <a:avLst/>
          </a:prstGeom>
          <a:solidFill>
            <a:srgbClr val="122B44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TANÁRI KERET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A cél IP-cím mindig a táblán.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A scope szerepeljen a feladatlap tetején.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Aki kilép belőle, az nem technikai hibát követ el, hanem szabályt sért.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Alapfogalmak: mit jelent a „találat”?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diákoknak ezeket kell megkülönböztetniük a riportban.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828800" cy="13258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Asset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amit védeni kell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68880" y="2267712"/>
            <a:ext cx="411480" cy="201168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828800"/>
            <a:ext cx="1828800" cy="1325880"/>
          </a:xfrm>
          <a:prstGeom prst="rect">
            <a:avLst/>
          </a:prstGeom>
          <a:solidFill>
            <a:srgbClr val="1231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Exposure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ami látszik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0" y="2267712"/>
            <a:ext cx="411480" cy="201168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828800"/>
            <a:ext cx="1828800" cy="13258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Vulnerability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ami kihasználható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2267712"/>
            <a:ext cx="411480" cy="201168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28800"/>
            <a:ext cx="1828800" cy="1325880"/>
          </a:xfrm>
          <a:prstGeom prst="rect">
            <a:avLst/>
          </a:prstGeom>
          <a:solidFill>
            <a:srgbClr val="1231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Evidence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ami bizonyítja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38360" y="2267712"/>
            <a:ext cx="411480" cy="201168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0" y="1828800"/>
            <a:ext cx="1828800" cy="13258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Risk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</a:rPr>
              <a:t>ami alapján priorizálunk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10241280" cy="914400"/>
          </a:xfrm>
          <a:prstGeom prst="rect">
            <a:avLst/>
          </a:prstGeom>
          <a:solidFill>
            <a:srgbClr val="0F3A58"/>
          </a:solidFill>
          <a:ln>
            <a:solidFill>
              <a:srgbClr val="33A7DD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Példa: Debian szerver → 80/tcp Apache → publikus /backup/ mappa → curl kimenet → közepes kockázat, mert információszivárgást okoz.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flow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Vizsgálati munkafolyamat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30352" y="960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4D8"/>
                </a:solidFill>
              </a:rPr>
              <a:t>Scope → scan → azonosítás → ellenőrzés → rangsorolás → javítás → újrateszt → riport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5623560"/>
            <a:ext cx="5303520" cy="59436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A workflow körkörös: javítás után újra kell tesztelni.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Élő eszközös labor: 3 szegmens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topológia a hálózati tudásra épít, de most biztonsági szemmel használjuk.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4389120"/>
            <a:ext cx="1143000" cy="640080"/>
          </a:xfrm>
          <a:prstGeom prst="rect">
            <a:avLst/>
          </a:prstGeom>
          <a:solidFill>
            <a:srgbClr val="123B5B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Kali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10.6.10.10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389120"/>
            <a:ext cx="1143000" cy="640080"/>
          </a:xfrm>
          <a:prstGeom prst="rect">
            <a:avLst/>
          </a:prstGeom>
          <a:solidFill>
            <a:srgbClr val="14304A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SW1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4389120"/>
            <a:ext cx="1143000" cy="640080"/>
          </a:xfrm>
          <a:prstGeom prst="rect">
            <a:avLst/>
          </a:prstGeom>
          <a:solidFill>
            <a:srgbClr val="193A59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R1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10.6.10.1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2971800"/>
            <a:ext cx="1143000" cy="640080"/>
          </a:xfrm>
          <a:prstGeom prst="rect">
            <a:avLst/>
          </a:prstGeom>
          <a:solidFill>
            <a:srgbClr val="193A59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R2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5160" y="4389120"/>
            <a:ext cx="1143000" cy="640080"/>
          </a:xfrm>
          <a:prstGeom prst="rect">
            <a:avLst/>
          </a:prstGeom>
          <a:solidFill>
            <a:srgbClr val="193A59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R3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10.6.30.1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0" y="4389120"/>
            <a:ext cx="1143000" cy="640080"/>
          </a:xfrm>
          <a:prstGeom prst="rect">
            <a:avLst/>
          </a:prstGeom>
          <a:solidFill>
            <a:srgbClr val="14304A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SW3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1240" y="4389120"/>
            <a:ext cx="1143000" cy="640080"/>
          </a:xfrm>
          <a:prstGeom prst="rect">
            <a:avLst/>
          </a:prstGeom>
          <a:solidFill>
            <a:srgbClr val="123B5B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Debian Apache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10.6.30.10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1143000" cy="640080"/>
          </a:xfrm>
          <a:prstGeom prst="rect">
            <a:avLst/>
          </a:prstGeom>
          <a:solidFill>
            <a:srgbClr val="14304A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SW2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645920"/>
            <a:ext cx="1143000" cy="640080"/>
          </a:xfrm>
          <a:prstGeom prst="rect">
            <a:avLst/>
          </a:prstGeom>
          <a:solidFill>
            <a:srgbClr val="123B5B"/>
          </a:solidFill>
          <a:ln>
            <a:solidFill>
              <a:srgbClr val="2A83B9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Windows kliens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10.6.20.10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5648" y="4544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18688" y="4544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56448" y="4544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19488" y="4544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79592" y="1801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7800" y="2331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7FF"/>
                </a:solidFill>
              </a:rPr>
              <a:t>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715000"/>
            <a:ext cx="10241280" cy="50292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6FF"/>
                </a:solidFill>
              </a:rPr>
              <a:t>Tanári előkészítés: routing működjön, Apache és SSH fusson, a Kali gép érje el a Debian szervert.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lab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Tanári előkészítés: mit kell létrehozni?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feladatlap csak akkor működik jól, ha a célkörnyezet stabil.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3337560" cy="338328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1. Hálózat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3 router + 3 switch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Kali: 10.6.10.10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Debian: 10.6.30.10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Routing: statikus vagy OSPF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34840" y="1417320"/>
            <a:ext cx="3337560" cy="338328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2. Debian cél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apache2 + openssh-server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index.html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robots.txt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/backup/readme.txt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opcionális X-Lab-Flag header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1417320"/>
            <a:ext cx="3337560" cy="33832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3. Ellenőrzés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ping cél 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curl -I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nmap -sV -p 22,80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nikto -h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csak utána induljon az óra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Nmap: fokozatosan, nem vakon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Először kicsi, célzott vizsgálat. Aztán részletesebb ellenőrzés.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2834640" cy="54864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Elérhetőség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6400800" cy="548640"/>
          </a:xfrm>
          <a:prstGeom prst="rect">
            <a:avLst/>
          </a:prstGeom>
          <a:solidFill>
            <a:srgbClr val="0F263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</a:rPr>
              <a:t>nmap -sn 10.6.30.0/24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532888"/>
            <a:ext cx="2834640" cy="54864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Gyors portok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532888"/>
            <a:ext cx="6400800" cy="548640"/>
          </a:xfrm>
          <a:prstGeom prst="rect">
            <a:avLst/>
          </a:prstGeom>
          <a:solidFill>
            <a:srgbClr val="0F263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</a:rPr>
              <a:t>nmap -Pn --top-ports 20 10.6.30.10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648456"/>
            <a:ext cx="2834640" cy="54864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Szolgáltatásverzió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648456"/>
            <a:ext cx="6400800" cy="548640"/>
          </a:xfrm>
          <a:prstGeom prst="rect">
            <a:avLst/>
          </a:prstGeom>
          <a:solidFill>
            <a:srgbClr val="0F263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</a:rPr>
              <a:t>nmap -sV -p 22,80 10.6.30.10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764024"/>
            <a:ext cx="2834640" cy="54864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HTTP NSE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4764024"/>
            <a:ext cx="6400800" cy="548640"/>
          </a:xfrm>
          <a:prstGeom prst="rect">
            <a:avLst/>
          </a:prstGeom>
          <a:solidFill>
            <a:srgbClr val="0F263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</a:rPr>
              <a:t>nmap -p80 --script http-title,http-headers 10.6.30.10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space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nézzünk a kimenetben?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Nem a színes output a lényeg, hanem a következtetés.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8368" y="1508760"/>
            <a:ext cx="2103120" cy="91440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Port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 érhető el?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017520" y="1508760"/>
            <a:ext cx="2377440" cy="91440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Service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 fut mögötte?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69280" y="1508760"/>
            <a:ext cx="2377440" cy="91440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Version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Milyen komponens?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0" y="1508760"/>
            <a:ext cx="2743200" cy="91440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Evidence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Mivel bizonyítod?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10149840" cy="68580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Példa: 80/tcp open → Apache httpd → HTTP fejléc látható → curl -I és nmap http-headers kimenet.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Webes alapellenőrzés: gyors és látványos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cél: HTTP fejlécek, robots.txt, technológia, publikus útvonalak.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834640" cy="118872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curl -I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fejlécek, státuszkód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554480"/>
            <a:ext cx="2834640" cy="1188720"/>
          </a:xfrm>
          <a:prstGeom prst="rect">
            <a:avLst/>
          </a:prstGeom>
          <a:solidFill>
            <a:srgbClr val="143B5B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whatweb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technológiai ujjlenyomat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0" y="1554480"/>
            <a:ext cx="2834640" cy="118872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nikto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webszerver ellenőrzőlista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solidFill>
            <a:srgbClr val="0F3A58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6FF"/>
                </a:solidFill>
              </a:rPr>
              <a:t>Mindhárom eszköz csak kiindulópont. A riportba az kerüljön, amit kézzel is igazolni tudsz.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space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Nikto: egyszerű, látványos, de zajos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Jó oktatási eszköz, mert sok beszélgetési pontot ad.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3657600" cy="100584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Futtatás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nikto -h http://10.6.30.10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3657600" cy="187452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Szűrés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Mi bizonyítható?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Mi információs?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Mi téves pozitív?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23760" y="1508760"/>
            <a:ext cx="4023360" cy="324612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Leadandó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2 kiválasztott találat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kézi ellenőrzés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súlyosság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javítási javaslat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vagy csak zaj?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Ezt a döntést a diák hozza meg, nem az eszköz.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834640" cy="914400"/>
          </a:xfrm>
          <a:prstGeom prst="rect">
            <a:avLst/>
          </a:prstGeom>
          <a:solidFill>
            <a:srgbClr val="4A3B14"/>
          </a:solidFill>
          <a:ln>
            <a:solidFill>
              <a:srgbClr val="FFCC6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Scanner output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„Talált valamit”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0" y="1874520"/>
            <a:ext cx="731520" cy="256032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554480"/>
            <a:ext cx="2834640" cy="914400"/>
          </a:xfrm>
          <a:prstGeom prst="rect">
            <a:avLst/>
          </a:prstGeom>
          <a:solidFill>
            <a:srgbClr val="12304A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Kézi ellenőrzés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Böngésző / curl / konfiguráció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0" y="1874520"/>
            <a:ext cx="731520" cy="256032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554480"/>
            <a:ext cx="2834640" cy="914400"/>
          </a:xfrm>
          <a:prstGeom prst="rect">
            <a:avLst/>
          </a:prstGeom>
          <a:solidFill>
            <a:srgbClr val="0B3B2A"/>
          </a:solidFill>
          <a:ln>
            <a:solidFill>
              <a:srgbClr val="55D982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Riportált finding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Bizonyíték + hatás + javítás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10149840" cy="91440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6FF"/>
                </a:solidFill>
              </a:rPr>
              <a:t>Ha nincs bizonyíték vagy nincs hatás, akkor az legfeljebb megfigyelés, nem súlyos sebezhetőség.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Kockázati rangsorolás kezdő szinten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Hatás × valószínűség + javítási prioritás.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337560" y="3291840"/>
            <a:ext cx="1024128" cy="502920"/>
          </a:xfrm>
          <a:prstGeom prst="rect">
            <a:avLst/>
          </a:prstGeom>
          <a:solidFill>
            <a:srgbClr val="55D982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Alacsony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26280" y="3291840"/>
            <a:ext cx="1024128" cy="502920"/>
          </a:xfrm>
          <a:prstGeom prst="rect">
            <a:avLst/>
          </a:prstGeom>
          <a:solidFill>
            <a:srgbClr val="FFB84D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Közepes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0" y="329184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37560" y="2468880"/>
            <a:ext cx="1024128" cy="502920"/>
          </a:xfrm>
          <a:prstGeom prst="rect">
            <a:avLst/>
          </a:prstGeom>
          <a:solidFill>
            <a:srgbClr val="FFB84D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Közepes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26280" y="246888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15000" y="246888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164592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15000" y="1645920"/>
            <a:ext cx="1024128" cy="502920"/>
          </a:xfrm>
          <a:prstGeom prst="rect">
            <a:avLst/>
          </a:prstGeom>
          <a:solidFill>
            <a:srgbClr val="FF5C5C">
              <a:alpha val="92000"/>
            </a:srgbClr>
          </a:solidFill>
          <a:ln>
            <a:solidFill>
              <a:srgbClr val="1E2F42">
                <a:alpha val="85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Magas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 rot="16200000">
            <a:off x="251460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Hatás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Valószínűség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1737360"/>
            <a:ext cx="3291840" cy="20116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A CVSS jó szakmai hivatkozás, de kezdő szinten elég, ha indokolni tudják: mi a hatás, mennyire reális, és mit kell először javítani.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lab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Gyakorlati blokk: 4 egymásra épülő feladat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diákok végig ugyanazon célgépen dolgoznak.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2960" y="4206240"/>
            <a:ext cx="2331720" cy="105156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Hatókör + host discovery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0" y="4206240"/>
            <a:ext cx="2331720" cy="105156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Portok + verziók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92240" y="4206240"/>
            <a:ext cx="2331720" cy="105156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Webes ellenőrzés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0" y="4206240"/>
            <a:ext cx="2331720" cy="105156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4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Finding + riport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5623560"/>
            <a:ext cx="9875520" cy="59436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F6FF"/>
                </a:solidFill>
              </a:rPr>
              <a:t>Leadandó: legalább 3 bizonyítékos megállapítás + javítási javaslat + újrateszt parancs.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Javítás és újratesztelés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A jó vizsgálat akkor hasznos, ha csökkenti a kockázatot.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2834640" cy="1097280"/>
          </a:xfrm>
          <a:prstGeom prst="rect">
            <a:avLst/>
          </a:prstGeom>
          <a:solidFill>
            <a:srgbClr val="4A1B21"/>
          </a:solidFill>
          <a:ln>
            <a:solidFill>
              <a:srgbClr val="FF666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Találat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Publikus /backup/ mappa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0" y="1874520"/>
            <a:ext cx="640080" cy="228600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463040"/>
            <a:ext cx="2834640" cy="1097280"/>
          </a:xfrm>
          <a:prstGeom prst="rect">
            <a:avLst/>
          </a:prstGeom>
          <a:solidFill>
            <a:srgbClr val="4A3B14"/>
          </a:solidFill>
          <a:ln>
            <a:solidFill>
              <a:srgbClr val="FFCC66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Javítás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Mappa törlése vagy tiltása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26680" y="1874520"/>
            <a:ext cx="640080" cy="228600"/>
          </a:xfrm>
          <a:prstGeom prst="rightArrow">
            <a:avLst/>
          </a:prstGeom>
          <a:solidFill>
            <a:srgbClr val="00B7FF"/>
          </a:solidFill>
          <a:ln w="12700">
            <a:solidFill>
              <a:srgbClr val="00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463040"/>
            <a:ext cx="2834640" cy="1097280"/>
          </a:xfrm>
          <a:prstGeom prst="rect">
            <a:avLst/>
          </a:prstGeom>
          <a:solidFill>
            <a:srgbClr val="0B3B2A"/>
          </a:solidFill>
          <a:ln>
            <a:solidFill>
              <a:srgbClr val="55D982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Újrateszt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curl /backup/readme.txt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404 vagy tiltás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10149840" cy="86868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6FF"/>
                </a:solidFill>
              </a:rPr>
              <a:t>A riportban ne csak a problémát írd le. Írd le azt is, honnan tudod, hogy javítás után már nem áll fenn.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space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CTF: bizonyítékvadászat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Játékos, de szakmai: minden flag információszivárgási helyzetet mutat.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2194560" cy="77724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robots.txt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154680" y="1508760"/>
            <a:ext cx="2194560" cy="77724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HTTP header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23560" y="1508760"/>
            <a:ext cx="2194560" cy="77724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HTML forrás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92440" y="1508760"/>
            <a:ext cx="2194560" cy="77724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backup mappa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10149840" cy="68580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Pont csak akkor jár, ha a diák parancsot vagy képernyőképes bizonyítékot is ad.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Riport: így legyen használható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4D8"/>
                </a:solidFill>
              </a:rPr>
              <a:t>Egy rendszergazda ebből tudjon javítani.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3063240" cy="96012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Cím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rövid, konkrét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26280" y="1508760"/>
            <a:ext cx="3063240" cy="96012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Bizonyíték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parancs + kimenet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75320" y="1508760"/>
            <a:ext cx="3063240" cy="96012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Hatás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miért számít?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96012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Súlyosság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indoklással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3017520"/>
            <a:ext cx="3063240" cy="960120"/>
          </a:xfrm>
          <a:prstGeom prst="rect">
            <a:avLst/>
          </a:prstGeom>
          <a:solidFill>
            <a:srgbClr val="112B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Javítás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konkrét lépés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75320" y="3017520"/>
            <a:ext cx="3063240" cy="96012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Újrateszt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AF6FF"/>
                </a:solidFill>
              </a:rPr>
              <a:t>hogyan ellenőrzöd?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solidFill>
            <a:srgbClr val="0F3A58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F6FF"/>
                </a:solidFill>
              </a:rPr>
              <a:t>A jó riport nem ijesztget. Pontosan leírja a problémát, a bizonyítékot és a javítási útvonalat.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6_assets/workflow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48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Modulzárás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1520" y="1508760"/>
            <a:ext cx="4937760" cy="1874520"/>
          </a:xfrm>
          <a:prstGeom prst="rect">
            <a:avLst/>
          </a:prstGeom>
          <a:solidFill>
            <a:srgbClr val="102A42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6FF"/>
                </a:solidFill>
              </a:rPr>
              <a:t>Ma nem „feltörtünk” egy rendszert.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AF6FF"/>
                </a:solidFill>
              </a:rPr>
              <a:t>Megtanultuk szakmai módon vizsgálni, bizonyítani, rangsorolni és javítási javaslatot írni.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4114800"/>
            <a:ext cx="4937760" cy="1051560"/>
          </a:xfrm>
          <a:prstGeom prst="rect">
            <a:avLst/>
          </a:prstGeom>
          <a:solidFill>
            <a:srgbClr val="143650"/>
          </a:solidFill>
          <a:ln>
            <a:solidFill>
              <a:srgbClr val="1E5A81">
                <a:alpha val="7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AF6FF"/>
                </a:solidFill>
              </a:rPr>
              <a:t>Exit ticket: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AF6FF"/>
                </a:solidFill>
              </a:rPr>
              <a:t>1 finding · 1 bizonyíték · 1 javítási javaslat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2688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3A8C6"/>
                </a:solidFill>
              </a:rPr>
              <a:t>06. modul · Sebezhetőség-azonosítás · 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06. modul - Sebezhetőség-azonosítás és alapszintű kockázatértékelés</dc:title>
  <dc:subject>Etikus hackelés tananyag - 06. modul</dc:subject>
  <dc:creator>OpenAI</dc:creator>
  <cp:lastModifiedBy>OpenAI</cp:lastModifiedBy>
  <cp:revision>1</cp:revision>
  <dcterms:created xsi:type="dcterms:W3CDTF">2026-08-04T18:05:33Z</dcterms:created>
  <dcterms:modified xsi:type="dcterms:W3CDTF">2026-08-04T18:05:33Z</dcterms:modified>
</cp:coreProperties>
</file>