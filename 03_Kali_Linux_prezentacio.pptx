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odule03_assets/kali_classroo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640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0F0"/>
                </a:solidFill>
              </a:rPr>
              <a:t>03. modul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40080" y="1060704"/>
            <a:ext cx="5394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Kali Linux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58368" y="1847088"/>
            <a:ext cx="5349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AF7"/>
                </a:solidFill>
              </a:rPr>
              <a:t>Eszköztár, virtuális labor és biztonságos használat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58368" y="59893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4D7"/>
                </a:solidFill>
              </a:rPr>
              <a:t>13. évfolyam • Rendszer- és alkalmazásüzemeltető technikus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FC4D7"/>
                </a:solidFill>
              </a:rPr>
              <a:t>03. modul – Kali Linux | 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Miért most jön a Kali?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9EAF7"/>
                </a:solidFill>
              </a:rPr>
              <a:t>A Linux alapok után már nem parancsokat másolunk, hanem szakmai környezetet építünk.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2103120" cy="1005840"/>
          </a:xfrm>
          <a:prstGeom prst="rect">
            <a:avLst/>
          </a:prstGeom>
          <a:solidFill>
            <a:srgbClr val="0B2F4A"/>
          </a:solidFill>
          <a:ln>
            <a:solidFill>
              <a:srgbClr val="00B0F0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01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Etikai keret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91840" y="2148840"/>
            <a:ext cx="2103120" cy="1005840"/>
          </a:xfrm>
          <a:prstGeom prst="rect">
            <a:avLst/>
          </a:prstGeom>
          <a:solidFill>
            <a:srgbClr val="0B2F4A"/>
          </a:solidFill>
          <a:ln>
            <a:solidFill>
              <a:srgbClr val="00B0F0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02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Linux alapok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760720" y="2148840"/>
            <a:ext cx="2103120" cy="1005840"/>
          </a:xfrm>
          <a:prstGeom prst="rect">
            <a:avLst/>
          </a:prstGeom>
          <a:solidFill>
            <a:srgbClr val="0E4A6A"/>
          </a:solidFill>
          <a:ln>
            <a:solidFill>
              <a:srgbClr val="00B0F0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03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Kali Linux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0" y="2148840"/>
            <a:ext cx="2103120" cy="1005840"/>
          </a:xfrm>
          <a:prstGeom prst="rect">
            <a:avLst/>
          </a:prstGeom>
          <a:solidFill>
            <a:srgbClr val="0B2F4A"/>
          </a:solidFill>
          <a:ln>
            <a:solidFill>
              <a:srgbClr val="00B0F0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04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Felderítés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4069080"/>
            <a:ext cx="978408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D9EAF7"/>
                </a:solidFill>
              </a:rPr>
              <a:t>• Kali = kontrollált laborkörnyezet
</a:t>
            </a:r>
            <a:pPr indent="0" marL="0">
              <a:buNone/>
            </a:pPr>
            <a:r>
              <a:rPr lang="en-US" sz="2100" dirty="0">
                <a:solidFill>
                  <a:srgbClr val="D9EAF7"/>
                </a:solidFill>
              </a:rPr>
              <a:t>• snapshot, izoláció, dokumentáció
</a:t>
            </a:r>
            <a:pPr indent="0" marL="0">
              <a:buNone/>
            </a:pPr>
            <a:r>
              <a:rPr lang="en-US" sz="2100" dirty="0">
                <a:solidFill>
                  <a:srgbClr val="D9EAF7"/>
                </a:solidFill>
              </a:rPr>
              <a:t>• a későbbi modulok technikai alapja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FC4D7"/>
                </a:solidFill>
              </a:rPr>
              <a:t>03. modul – Kali Linux |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odule03_assets/kali_lab_netwo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 a Kali Linux?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85800" y="1417320"/>
            <a:ext cx="5303520" cy="3291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• Debian-alapú biztonsági disztribúció
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• előre rendszerezett eszközkészlet
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• pentest, forensics, web, hálózat és riport támogatás
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• nem a tool a lényeg, hanem a módszer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FC4D7"/>
                </a:solidFill>
              </a:rPr>
              <a:t>03. modul – Kali Linux |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Tévhitek tisztázása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4846320" cy="685800"/>
          </a:xfrm>
          <a:prstGeom prst="rect">
            <a:avLst/>
          </a:prstGeom>
          <a:solidFill>
            <a:srgbClr val="132842"/>
          </a:solidFill>
          <a:ln>
            <a:solidFill>
              <a:srgbClr val="31506A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„A Kali automatikusan feltör dolgokat.”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035040" y="1188720"/>
            <a:ext cx="5394960" cy="685800"/>
          </a:xfrm>
          <a:prstGeom prst="rect">
            <a:avLst/>
          </a:prstGeom>
          <a:solidFill>
            <a:srgbClr val="0E3B55"/>
          </a:solidFill>
          <a:ln>
            <a:solidFill>
              <a:srgbClr val="00B0F0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A Kali eszközöket ad, szakmai döntést nem.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2267712"/>
            <a:ext cx="4846320" cy="685800"/>
          </a:xfrm>
          <a:prstGeom prst="rect">
            <a:avLst/>
          </a:prstGeom>
          <a:solidFill>
            <a:srgbClr val="132842"/>
          </a:solidFill>
          <a:ln>
            <a:solidFill>
              <a:srgbClr val="31506A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„Aki Kalit használ, az hacker.”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35040" y="2267712"/>
            <a:ext cx="5394960" cy="685800"/>
          </a:xfrm>
          <a:prstGeom prst="rect">
            <a:avLst/>
          </a:prstGeom>
          <a:solidFill>
            <a:srgbClr val="0E3B55"/>
          </a:solidFill>
          <a:ln>
            <a:solidFill>
              <a:srgbClr val="00B0F0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A jogszerűség az engedélytől és a célponttól függ.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3346704"/>
            <a:ext cx="4846320" cy="685800"/>
          </a:xfrm>
          <a:prstGeom prst="rect">
            <a:avLst/>
          </a:prstGeom>
          <a:solidFill>
            <a:srgbClr val="132842"/>
          </a:solidFill>
          <a:ln>
            <a:solidFill>
              <a:srgbClr val="31506A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„Mindennapi Linuxnak ez a legjobb.”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035040" y="3346704"/>
            <a:ext cx="5394960" cy="685800"/>
          </a:xfrm>
          <a:prstGeom prst="rect">
            <a:avLst/>
          </a:prstGeom>
          <a:solidFill>
            <a:srgbClr val="0E3B55"/>
          </a:solidFill>
          <a:ln>
            <a:solidFill>
              <a:srgbClr val="00B0F0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Oktatási és biztonsági laborra való, nem feltétlen napi desktop.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48006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B0F0"/>
                </a:solidFill>
              </a:rPr>
              <a:t>A cél: felelős, visszaállítható és dokumentált tanulói környezet.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FC4D7"/>
                </a:solidFill>
              </a:rPr>
              <a:t>03. modul – Kali Linux | 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odule03_assets/cyber_shiel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labor alapszabályai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85800" y="1280160"/>
            <a:ext cx="5486400" cy="4389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• csak saját vagy engedélyezett célpont
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• nincs éles iskolai hálózati teszt engedély nélkül
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• minden nagyobb gyakorlat előtt snapshot
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• minden parancs mellé rövid értelmezés
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• a dokumentáció ugyanúgy leadandó, mint a működő VM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FC4D7"/>
                </a:solidFill>
              </a:rPr>
              <a:t>03. modul – Kali Linux | 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Telepítési lehetőségek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3383280" cy="1325880"/>
          </a:xfrm>
          <a:prstGeom prst="rect">
            <a:avLst/>
          </a:prstGeom>
          <a:solidFill>
            <a:srgbClr val="0A3A5B"/>
          </a:solidFill>
          <a:ln>
            <a:solidFill>
              <a:srgbClr val="00B0F0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Előre elkészített VM image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Gyors, egységes, órabarát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434840" y="1417320"/>
            <a:ext cx="3383280" cy="1325880"/>
          </a:xfrm>
          <a:prstGeom prst="rect">
            <a:avLst/>
          </a:prstGeom>
          <a:solidFill>
            <a:srgbClr val="0A3A5B"/>
          </a:solidFill>
          <a:ln>
            <a:solidFill>
              <a:srgbClr val="00B0F0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ISO-ból telepítés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Látható a teljes folyamat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83880" y="1417320"/>
            <a:ext cx="3383280" cy="1325880"/>
          </a:xfrm>
          <a:prstGeom prst="rect">
            <a:avLst/>
          </a:prstGeom>
          <a:solidFill>
            <a:srgbClr val="0A3A5B"/>
          </a:solidFill>
          <a:ln>
            <a:solidFill>
              <a:srgbClr val="00B0F0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Live USB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Gyors kipróbálás, nehezebb állapotkezelés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40233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B0F0"/>
                </a:solidFill>
              </a:rPr>
              <a:t>13. évfolyamos osztálynál az előre elkészített VM image a legstabilabb kezdés.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FC4D7"/>
                </a:solidFill>
              </a:rPr>
              <a:t>03. modul – Kali Linux | 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Javasolt VM-beállítások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1920240" cy="594360"/>
          </a:xfrm>
          <a:prstGeom prst="rect">
            <a:avLst/>
          </a:prstGeom>
          <a:solidFill>
            <a:srgbClr val="113251"/>
          </a:solidFill>
          <a:ln>
            <a:solidFill>
              <a:srgbClr val="00B0F0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" y="2148840"/>
            <a:ext cx="1920240" cy="914400"/>
          </a:xfrm>
          <a:prstGeom prst="rect">
            <a:avLst/>
          </a:prstGeom>
          <a:solidFill>
            <a:srgbClr val="0E4A6A"/>
          </a:solidFill>
          <a:ln>
            <a:solidFill>
              <a:srgbClr val="00B0F0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 GB+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017520" y="1417320"/>
            <a:ext cx="1920240" cy="594360"/>
          </a:xfrm>
          <a:prstGeom prst="rect">
            <a:avLst/>
          </a:prstGeom>
          <a:solidFill>
            <a:srgbClr val="113251"/>
          </a:solidFill>
          <a:ln>
            <a:solidFill>
              <a:srgbClr val="00B0F0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CPU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017520" y="2148840"/>
            <a:ext cx="1920240" cy="914400"/>
          </a:xfrm>
          <a:prstGeom prst="rect">
            <a:avLst/>
          </a:prstGeom>
          <a:solidFill>
            <a:srgbClr val="0E4A6A"/>
          </a:solidFill>
          <a:ln>
            <a:solidFill>
              <a:srgbClr val="00B0F0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 mag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257800" y="1417320"/>
            <a:ext cx="1920240" cy="594360"/>
          </a:xfrm>
          <a:prstGeom prst="rect">
            <a:avLst/>
          </a:prstGeom>
          <a:solidFill>
            <a:srgbClr val="113251"/>
          </a:solidFill>
          <a:ln>
            <a:solidFill>
              <a:srgbClr val="00B0F0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Lemez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257800" y="2148840"/>
            <a:ext cx="1920240" cy="914400"/>
          </a:xfrm>
          <a:prstGeom prst="rect">
            <a:avLst/>
          </a:prstGeom>
          <a:solidFill>
            <a:srgbClr val="0E4A6A"/>
          </a:solidFill>
          <a:ln>
            <a:solidFill>
              <a:srgbClr val="00B0F0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25–40 GB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498080" y="1417320"/>
            <a:ext cx="1920240" cy="594360"/>
          </a:xfrm>
          <a:prstGeom prst="rect">
            <a:avLst/>
          </a:prstGeom>
          <a:solidFill>
            <a:srgbClr val="113251"/>
          </a:solidFill>
          <a:ln>
            <a:solidFill>
              <a:srgbClr val="00B0F0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Hálózat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498080" y="2148840"/>
            <a:ext cx="1920240" cy="914400"/>
          </a:xfrm>
          <a:prstGeom prst="rect">
            <a:avLst/>
          </a:prstGeom>
          <a:solidFill>
            <a:srgbClr val="0E4A6A"/>
          </a:solidFill>
          <a:ln>
            <a:solidFill>
              <a:srgbClr val="00B0F0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elsőre NAT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9738360" y="1417320"/>
            <a:ext cx="1920240" cy="594360"/>
          </a:xfrm>
          <a:prstGeom prst="rect">
            <a:avLst/>
          </a:prstGeom>
          <a:solidFill>
            <a:srgbClr val="113251"/>
          </a:solidFill>
          <a:ln>
            <a:solidFill>
              <a:srgbClr val="00B0F0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Snapshot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738360" y="2148840"/>
            <a:ext cx="1920240" cy="914400"/>
          </a:xfrm>
          <a:prstGeom prst="rect">
            <a:avLst/>
          </a:prstGeom>
          <a:solidFill>
            <a:srgbClr val="0E4A6A"/>
          </a:solidFill>
          <a:ln>
            <a:solidFill>
              <a:srgbClr val="00B0F0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kötelező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097280" y="4206240"/>
            <a:ext cx="978408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D9EAF7"/>
                </a:solidFill>
              </a:rPr>
              <a:t>• a cél a stabil, egységes tanulói környezet
</a:t>
            </a:r>
            <a:pPr indent="0" marL="0">
              <a:buNone/>
            </a:pPr>
            <a:r>
              <a:rPr lang="en-US" sz="2100" dirty="0">
                <a:solidFill>
                  <a:srgbClr val="D9EAF7"/>
                </a:solidFill>
              </a:rPr>
              <a:t>• a túl nagy toolkészlet lassíthatja a gépeket
</a:t>
            </a:r>
            <a:pPr indent="0" marL="0">
              <a:buNone/>
            </a:pPr>
            <a:r>
              <a:rPr lang="en-US" sz="2100" dirty="0">
                <a:solidFill>
                  <a:srgbClr val="D9EAF7"/>
                </a:solidFill>
              </a:rPr>
              <a:t>• a későbbi modulok erre az állapotra épülnek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FC4D7"/>
                </a:solidFill>
              </a:rPr>
              <a:t>03. modul – Kali Linux | 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odule03_assets/linux_terminal_w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Első ellenőrző parancsok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777240" y="1143000"/>
            <a:ext cx="5029200" cy="4389120"/>
          </a:xfrm>
          <a:prstGeom prst="rect">
            <a:avLst/>
          </a:prstGeom>
          <a:solidFill>
            <a:srgbClr val="07131F"/>
          </a:solidFill>
          <a:ln>
            <a:solidFill>
              <a:srgbClr val="1D75B9">
                <a:alpha val="65000"/>
              </a:srgbClr>
            </a:solidFill>
          </a:ln>
        </p:spPr>
        <p:txBody>
          <a:bodyPr wrap="square" lIns="2286" tIns="2286" rIns="2286" bIns="2286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whoami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hostnamectl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uname -a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ip 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ip route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ping -c 4 8.8.8.8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ping -c 4 kali.org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46520" y="1463040"/>
            <a:ext cx="4754880" cy="3200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</a:rPr>
              <a:t>• Ki vagyok?
</a:t>
            </a:r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</a:rPr>
              <a:t>• Milyen rendszeren dolgozom?
</a:t>
            </a:r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</a:rPr>
              <a:t>• Milyen IP-címet kaptam?
</a:t>
            </a:r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</a:rPr>
              <a:t>• Van-e gateway és DNS?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FC4D7"/>
                </a:solidFill>
              </a:rPr>
              <a:t>03. modul – Kali Linux | 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Sudo és jogosultság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9EAF7"/>
                </a:solidFill>
              </a:rPr>
              <a:t>A modern Kali használatában a normál felhasználó + sudo szemlélet a biztonságosabb kiindulás.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5212080" cy="2377440"/>
          </a:xfrm>
          <a:prstGeom prst="rect">
            <a:avLst/>
          </a:prstGeom>
          <a:solidFill>
            <a:srgbClr val="07131F"/>
          </a:solidFill>
          <a:ln>
            <a:solidFill>
              <a:srgbClr val="1D75B9">
                <a:alpha val="65000"/>
              </a:srgbClr>
            </a:solidFill>
          </a:ln>
        </p:spPr>
        <p:txBody>
          <a:bodyPr wrap="square" lIns="2286" tIns="2286" rIns="2286" bIns="2286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sudo whoami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sudo apt update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sudo systemctl status NetworkManager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0" y="1828800"/>
            <a:ext cx="4846320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• nem futtatunk mindent rootként
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• jogosultságot akkor kérünk, amikor kell
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• a parancs hatását mindig értelmezzük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FC4D7"/>
                </a:solidFill>
              </a:rPr>
              <a:t>03. modul – Kali Linux | 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Hálózati módok: ez a biztonsági kulcs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325880"/>
            <a:ext cx="2651760" cy="1143000"/>
          </a:xfrm>
          <a:prstGeom prst="rect">
            <a:avLst/>
          </a:prstGeom>
          <a:solidFill>
            <a:srgbClr val="0C3554"/>
          </a:solidFill>
          <a:ln>
            <a:solidFill>
              <a:srgbClr val="00B0F0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NAT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frissítéshez, első indításhoz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11880" y="1325880"/>
            <a:ext cx="2651760" cy="1143000"/>
          </a:xfrm>
          <a:prstGeom prst="rect">
            <a:avLst/>
          </a:prstGeom>
          <a:solidFill>
            <a:srgbClr val="0C3554"/>
          </a:solidFill>
          <a:ln>
            <a:solidFill>
              <a:srgbClr val="00B0F0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Host-only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izolált gyakorláshoz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37960" y="1325880"/>
            <a:ext cx="2651760" cy="1143000"/>
          </a:xfrm>
          <a:prstGeom prst="rect">
            <a:avLst/>
          </a:prstGeom>
          <a:solidFill>
            <a:srgbClr val="0C3554"/>
          </a:solidFill>
          <a:ln>
            <a:solidFill>
              <a:srgbClr val="00B0F0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Internal Network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több VM teljes izolációban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464040" y="1325880"/>
            <a:ext cx="2011680" cy="1143000"/>
          </a:xfrm>
          <a:prstGeom prst="rect">
            <a:avLst/>
          </a:prstGeom>
          <a:solidFill>
            <a:srgbClr val="4B1E1E"/>
          </a:solidFill>
          <a:ln>
            <a:solidFill>
              <a:srgbClr val="F59E0B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Bridged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csak kijelölt laborban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05840" y="397764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B0F0"/>
                </a:solidFill>
              </a:rPr>
              <a:t>Ugyanaz a Kali parancs más kockázatot jelent attól függően, hova csatlakoztattad a VM-et.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FC4D7"/>
                </a:solidFill>
              </a:rPr>
              <a:t>03. modul – Kali Linux | 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odule03_assets/kali_lab_netwo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Snapshot: a labor biztonsági öve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731520" y="1371600"/>
            <a:ext cx="502920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• tiszta állapot mentése
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• hiba után gyors visszaállás
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• egységes osztálytermi környezet
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• minden nagyobb labor előtt kötelező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400800" y="1874520"/>
            <a:ext cx="4480560" cy="1645920"/>
          </a:xfrm>
          <a:prstGeom prst="rect">
            <a:avLst/>
          </a:prstGeom>
          <a:solidFill>
            <a:srgbClr val="081D30"/>
          </a:solidFill>
          <a:ln>
            <a:solidFill>
              <a:srgbClr val="00B0F0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FFF"/>
                </a:solidFill>
              </a:rPr>
              <a:t>03_kali_alap_allapot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dirty="0">
                <a:solidFill>
                  <a:srgbClr val="FFFFFF"/>
                </a:solidFill>
              </a:rPr>
              <a:t>03_kali_frissitett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dirty="0">
                <a:solidFill>
                  <a:srgbClr val="FFFFFF"/>
                </a:solidFill>
              </a:rPr>
              <a:t>03_kali_labor_elott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FC4D7"/>
                </a:solidFill>
              </a:rPr>
              <a:t>03. modul – Kali Linux | 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Kali eszközkategóriák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4754880" cy="566928"/>
          </a:xfrm>
          <a:prstGeom prst="rect">
            <a:avLst/>
          </a:prstGeom>
          <a:solidFill>
            <a:srgbClr val="0E4A6A"/>
          </a:solidFill>
          <a:ln>
            <a:solidFill>
              <a:srgbClr val="00B0F0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Information Gathering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217920" y="1143000"/>
            <a:ext cx="4754880" cy="566928"/>
          </a:xfrm>
          <a:prstGeom prst="rect">
            <a:avLst/>
          </a:prstGeom>
          <a:solidFill>
            <a:srgbClr val="102A44"/>
          </a:solidFill>
          <a:ln>
            <a:solidFill>
              <a:srgbClr val="31506A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Vulnerability Analysis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075688"/>
            <a:ext cx="4754880" cy="566928"/>
          </a:xfrm>
          <a:prstGeom prst="rect">
            <a:avLst/>
          </a:prstGeom>
          <a:solidFill>
            <a:srgbClr val="102A44"/>
          </a:solidFill>
          <a:ln>
            <a:solidFill>
              <a:srgbClr val="31506A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Web Application Analysis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217920" y="2075688"/>
            <a:ext cx="4754880" cy="566928"/>
          </a:xfrm>
          <a:prstGeom prst="rect">
            <a:avLst/>
          </a:prstGeom>
          <a:solidFill>
            <a:srgbClr val="102A44"/>
          </a:solidFill>
          <a:ln>
            <a:solidFill>
              <a:srgbClr val="31506A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Password Attacks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008376"/>
            <a:ext cx="4754880" cy="566928"/>
          </a:xfrm>
          <a:prstGeom prst="rect">
            <a:avLst/>
          </a:prstGeom>
          <a:solidFill>
            <a:srgbClr val="102A44"/>
          </a:solidFill>
          <a:ln>
            <a:solidFill>
              <a:srgbClr val="31506A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Sniffing &amp; Spoofing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17920" y="3008376"/>
            <a:ext cx="4754880" cy="566928"/>
          </a:xfrm>
          <a:prstGeom prst="rect">
            <a:avLst/>
          </a:prstGeom>
          <a:solidFill>
            <a:srgbClr val="102A44"/>
          </a:solidFill>
          <a:ln>
            <a:solidFill>
              <a:srgbClr val="31506A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Forensics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941064"/>
            <a:ext cx="4754880" cy="566928"/>
          </a:xfrm>
          <a:prstGeom prst="rect">
            <a:avLst/>
          </a:prstGeom>
          <a:solidFill>
            <a:srgbClr val="102A44"/>
          </a:solidFill>
          <a:ln>
            <a:solidFill>
              <a:srgbClr val="31506A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Reporting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525780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B0F0"/>
                </a:solidFill>
              </a:rPr>
              <a:t>Ebben a modulban még csak tájékozódunk: mit hol találunk, mire való, hol a határ.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FC4D7"/>
                </a:solidFill>
              </a:rPr>
              <a:t>03. modul – Kali Linux | 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Metapackages: ne telepítsünk mindent ész nélkül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5669280" cy="2103120"/>
          </a:xfrm>
          <a:prstGeom prst="rect">
            <a:avLst/>
          </a:prstGeom>
          <a:solidFill>
            <a:srgbClr val="07131F"/>
          </a:solidFill>
          <a:ln>
            <a:solidFill>
              <a:srgbClr val="1D75B9">
                <a:alpha val="65000"/>
              </a:srgbClr>
            </a:solidFill>
          </a:ln>
        </p:spPr>
        <p:txBody>
          <a:bodyPr wrap="square" lIns="2286" tIns="2286" rIns="2286" bIns="2286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apt search kali-tools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apt show kali-linux-default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apt show kali-tools-information-gathering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720840" y="1417320"/>
            <a:ext cx="4480560" cy="2560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• a metacsomag sok eszközt húzhat be egyszerre
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• oktatásban a fókusz fontosabb, mint a mennyiség
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• előbb a kategória, utána a tool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FC4D7"/>
                </a:solidFill>
              </a:rPr>
              <a:t>03. modul – Kali Linux | 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Labor 03.1 – Kali VM előkészítése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22960" y="1325880"/>
            <a:ext cx="2011680" cy="1005840"/>
          </a:xfrm>
          <a:prstGeom prst="rect">
            <a:avLst/>
          </a:prstGeom>
          <a:solidFill>
            <a:srgbClr val="0A3A5B"/>
          </a:solidFill>
          <a:ln>
            <a:solidFill>
              <a:srgbClr val="00B0F0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1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Import / telepítés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063240" y="1325880"/>
            <a:ext cx="2011680" cy="1005840"/>
          </a:xfrm>
          <a:prstGeom prst="rect">
            <a:avLst/>
          </a:prstGeom>
          <a:solidFill>
            <a:srgbClr val="0A3A5B"/>
          </a:solidFill>
          <a:ln>
            <a:solidFill>
              <a:srgbClr val="00B0F0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2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NAT adapter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303520" y="1325880"/>
            <a:ext cx="2011680" cy="1005840"/>
          </a:xfrm>
          <a:prstGeom prst="rect">
            <a:avLst/>
          </a:prstGeom>
          <a:solidFill>
            <a:srgbClr val="0A3A5B"/>
          </a:solidFill>
          <a:ln>
            <a:solidFill>
              <a:srgbClr val="00B0F0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3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Alap parancsok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543800" y="1325880"/>
            <a:ext cx="2011680" cy="1005840"/>
          </a:xfrm>
          <a:prstGeom prst="rect">
            <a:avLst/>
          </a:prstGeom>
          <a:solidFill>
            <a:srgbClr val="0A3A5B"/>
          </a:solidFill>
          <a:ln>
            <a:solidFill>
              <a:srgbClr val="00B0F0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4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Frissítés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784080" y="1325880"/>
            <a:ext cx="1645920" cy="1005840"/>
          </a:xfrm>
          <a:prstGeom prst="rect">
            <a:avLst/>
          </a:prstGeom>
          <a:solidFill>
            <a:srgbClr val="0E4A6A"/>
          </a:solidFill>
          <a:ln>
            <a:solidFill>
              <a:srgbClr val="00B0F0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5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Snapshot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97280" y="397764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B0F0"/>
                </a:solidFill>
              </a:rPr>
              <a:t>Leadandó: VM adatok + IP/gateway + screenshot + snapshot neve.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FC4D7"/>
                </a:solidFill>
              </a:rPr>
              <a:t>03. modul – Kali Linux | 14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Labor 03.2 – adapter módok összehasonlítása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68680" y="1371600"/>
            <a:ext cx="2240280" cy="685800"/>
          </a:xfrm>
          <a:prstGeom prst="rect">
            <a:avLst/>
          </a:prstGeom>
          <a:solidFill>
            <a:srgbClr val="0A3A5B"/>
          </a:solidFill>
          <a:ln>
            <a:solidFill>
              <a:srgbClr val="00B0F0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NAT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" y="2240280"/>
            <a:ext cx="2240280" cy="685800"/>
          </a:xfrm>
          <a:prstGeom prst="rect">
            <a:avLst/>
          </a:prstGeom>
          <a:solidFill>
            <a:srgbClr val="102A44"/>
          </a:solidFill>
          <a:ln>
            <a:solidFill>
              <a:srgbClr val="31506A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Van internet?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703320" y="1371600"/>
            <a:ext cx="2240280" cy="685800"/>
          </a:xfrm>
          <a:prstGeom prst="rect">
            <a:avLst/>
          </a:prstGeom>
          <a:solidFill>
            <a:srgbClr val="0A3A5B"/>
          </a:solidFill>
          <a:ln>
            <a:solidFill>
              <a:srgbClr val="00B0F0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Host-only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703320" y="2240280"/>
            <a:ext cx="2240280" cy="685800"/>
          </a:xfrm>
          <a:prstGeom prst="rect">
            <a:avLst/>
          </a:prstGeom>
          <a:solidFill>
            <a:srgbClr val="102A44"/>
          </a:solidFill>
          <a:ln>
            <a:solidFill>
              <a:srgbClr val="31506A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Látja a hostot?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37960" y="1371600"/>
            <a:ext cx="2240280" cy="685800"/>
          </a:xfrm>
          <a:prstGeom prst="rect">
            <a:avLst/>
          </a:prstGeom>
          <a:solidFill>
            <a:srgbClr val="0A3A5B"/>
          </a:solidFill>
          <a:ln>
            <a:solidFill>
              <a:srgbClr val="00B0F0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Internal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37960" y="2240280"/>
            <a:ext cx="2240280" cy="685800"/>
          </a:xfrm>
          <a:prstGeom prst="rect">
            <a:avLst/>
          </a:prstGeom>
          <a:solidFill>
            <a:srgbClr val="102A44"/>
          </a:solidFill>
          <a:ln>
            <a:solidFill>
              <a:srgbClr val="31506A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Lát más VM-et?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372600" y="1371600"/>
            <a:ext cx="2240280" cy="685800"/>
          </a:xfrm>
          <a:prstGeom prst="rect">
            <a:avLst/>
          </a:prstGeom>
          <a:solidFill>
            <a:srgbClr val="4B1E1E"/>
          </a:solidFill>
          <a:ln>
            <a:solidFill>
              <a:srgbClr val="F59E0B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Bridged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372600" y="2240280"/>
            <a:ext cx="2240280" cy="685800"/>
          </a:xfrm>
          <a:prstGeom prst="rect">
            <a:avLst/>
          </a:prstGeom>
          <a:solidFill>
            <a:srgbClr val="102A44"/>
          </a:solidFill>
          <a:ln>
            <a:solidFill>
              <a:srgbClr val="31506A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Csak engedéllyel!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3657600"/>
            <a:ext cx="4937760" cy="1691640"/>
          </a:xfrm>
          <a:prstGeom prst="rect">
            <a:avLst/>
          </a:prstGeom>
          <a:solidFill>
            <a:srgbClr val="07131F"/>
          </a:solidFill>
          <a:ln>
            <a:solidFill>
              <a:srgbClr val="1D75B9">
                <a:alpha val="65000"/>
              </a:srgbClr>
            </a:solidFill>
          </a:ln>
        </p:spPr>
        <p:txBody>
          <a:bodyPr wrap="square" lIns="2286" tIns="2286" rIns="2286" bIns="2286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ip 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ip route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ping -c 4 &lt;gateway&gt;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ping -c 4 8.8.8.8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ping -c 4 kali.org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411480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B0F0"/>
                </a:solidFill>
              </a:rPr>
              <a:t>A lényeg nem a ping, hanem a következtetés.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FC4D7"/>
                </a:solidFill>
              </a:rPr>
              <a:t>03. modul – Kali Linux | 15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Opcionális Cisco laborkiegészítés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9EAF7"/>
                </a:solidFill>
              </a:rPr>
              <a:t>A Kali VM megjelenése izolált laborkörnyezetben – támadó művelet nélkül.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1965960"/>
            <a:ext cx="1828800" cy="731520"/>
          </a:xfrm>
          <a:prstGeom prst="rect">
            <a:avLst/>
          </a:prstGeom>
          <a:solidFill>
            <a:srgbClr val="0E4A6A"/>
          </a:solidFill>
          <a:ln>
            <a:solidFill>
              <a:srgbClr val="00B0F0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Kali VM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0" y="1965960"/>
            <a:ext cx="1828800" cy="731520"/>
          </a:xfrm>
          <a:prstGeom prst="rect">
            <a:avLst/>
          </a:prstGeom>
          <a:solidFill>
            <a:srgbClr val="0A3A5B"/>
          </a:solidFill>
          <a:ln>
            <a:solidFill>
              <a:srgbClr val="00B0F0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Host gép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0" y="1965960"/>
            <a:ext cx="2011680" cy="731520"/>
          </a:xfrm>
          <a:prstGeom prst="rect">
            <a:avLst/>
          </a:prstGeom>
          <a:solidFill>
            <a:srgbClr val="0A3A5B"/>
          </a:solidFill>
          <a:ln>
            <a:solidFill>
              <a:srgbClr val="00B0F0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Switch port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326880" y="1965960"/>
            <a:ext cx="1828800" cy="731520"/>
          </a:xfrm>
          <a:prstGeom prst="rect">
            <a:avLst/>
          </a:prstGeom>
          <a:solidFill>
            <a:srgbClr val="0A3A5B"/>
          </a:solidFill>
          <a:ln>
            <a:solidFill>
              <a:srgbClr val="00B0F0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Lab VLAN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3657600"/>
            <a:ext cx="987552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9EAF7"/>
                </a:solidFill>
              </a:rPr>
              <a:t>• csak kijelölt VLAN
</a:t>
            </a:r>
            <a:pPr indent="0" marL="0">
              <a:buNone/>
            </a:pPr>
            <a:r>
              <a:rPr lang="en-US" sz="2000" dirty="0">
                <a:solidFill>
                  <a:srgbClr val="D9EAF7"/>
                </a:solidFill>
              </a:rPr>
              <a:t>• csak állapotellenőrző parancsok
</a:t>
            </a:r>
            <a:pPr indent="0" marL="0">
              <a:buNone/>
            </a:pPr>
            <a:r>
              <a:rPr lang="en-US" sz="2000" dirty="0">
                <a:solidFill>
                  <a:srgbClr val="D9EAF7"/>
                </a:solidFill>
              </a:rPr>
              <a:t>• nincs szkennelés vagy jelszópróba
</a:t>
            </a:r>
            <a:pPr indent="0" marL="0">
              <a:buNone/>
            </a:pPr>
            <a:r>
              <a:rPr lang="en-US" sz="2000" dirty="0">
                <a:solidFill>
                  <a:srgbClr val="D9EAF7"/>
                </a:solidFill>
              </a:rPr>
              <a:t>• óra végén adapter vissza NAT/Host-only módba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FC4D7"/>
                </a:solidFill>
              </a:rPr>
              <a:t>03. modul – Kali Linux | 16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odule03_assets/linux_terminal_w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 CTF: nem támadás, rutinépítés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85800" y="1280160"/>
            <a:ext cx="5486400" cy="4114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</a:rPr>
              <a:t>• keress fájlt a saját home könyvtárban
</a:t>
            </a:r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</a:rPr>
              <a:t>• olvasd ki egy log utolsó sorait
</a:t>
            </a:r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</a:rPr>
              <a:t>• azonosítsd az IP-t és gateway-t
</a:t>
            </a:r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</a:rPr>
              <a:t>• mentsd a kimenetet jegyzetfájlba
</a:t>
            </a:r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</a:rPr>
              <a:t>• magyarázd el, mit bizonyít a kimenet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6583680" y="2148840"/>
            <a:ext cx="4297680" cy="1051560"/>
          </a:xfrm>
          <a:prstGeom prst="rect">
            <a:avLst/>
          </a:prstGeom>
          <a:solidFill>
            <a:srgbClr val="07131F"/>
          </a:solidFill>
          <a:ln>
            <a:solidFill>
              <a:srgbClr val="00B0F0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FLAG{KALI_ALAPOK_RENDBEN}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FC4D7"/>
                </a:solidFill>
              </a:rPr>
              <a:t>03. modul – Kali Linux | 17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 viszünk tovább?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5303520" cy="4114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D9EAF7"/>
                </a:solidFill>
              </a:rPr>
              <a:t>• Kali VM stabilan fut
</a:t>
            </a:r>
            <a:pPr indent="0" marL="0">
              <a:buNone/>
            </a:pPr>
            <a:r>
              <a:rPr lang="en-US" sz="2300" dirty="0">
                <a:solidFill>
                  <a:srgbClr val="D9EAF7"/>
                </a:solidFill>
              </a:rPr>
              <a:t>• hálózati módok értelmezve
</a:t>
            </a:r>
            <a:pPr indent="0" marL="0">
              <a:buNone/>
            </a:pPr>
            <a:r>
              <a:rPr lang="en-US" sz="2300" dirty="0">
                <a:solidFill>
                  <a:srgbClr val="D9EAF7"/>
                </a:solidFill>
              </a:rPr>
              <a:t>• snapshot készen áll
</a:t>
            </a:r>
            <a:pPr indent="0" marL="0">
              <a:buNone/>
            </a:pPr>
            <a:r>
              <a:rPr lang="en-US" sz="2300" dirty="0">
                <a:solidFill>
                  <a:srgbClr val="D9EAF7"/>
                </a:solidFill>
              </a:rPr>
              <a:t>• alapparancsok mennek
</a:t>
            </a:r>
            <a:pPr indent="0" marL="0">
              <a:buNone/>
            </a:pPr>
            <a:r>
              <a:rPr lang="en-US" sz="2300" dirty="0">
                <a:solidFill>
                  <a:srgbClr val="D9EAF7"/>
                </a:solidFill>
              </a:rPr>
              <a:t>• a diák tud jegyzőkönyvet készíteni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309360" y="22402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B0F0"/>
                </a:solidFill>
              </a:rPr>
              <a:t>Következő modul: felderítés és információgyűjtés kontrollált laborban.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FC4D7"/>
                </a:solidFill>
              </a:rPr>
              <a:t>03. modul – Kali Linux | 18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03. modul – Kali Linux</dc:title>
  <dc:subject>Etikus hackelés tananyag – 03. modul Kali Linux</dc:subject>
  <dc:creator>OpenAI</dc:creator>
  <cp:lastModifiedBy>OpenAI</cp:lastModifiedBy>
  <cp:revision>1</cp:revision>
  <dcterms:created xsi:type="dcterms:W3CDTF">2026-08-03T12:57:00Z</dcterms:created>
  <dcterms:modified xsi:type="dcterms:W3CDTF">2026-08-03T12:57:00Z</dcterms:modified>
</cp:coreProperties>
</file>