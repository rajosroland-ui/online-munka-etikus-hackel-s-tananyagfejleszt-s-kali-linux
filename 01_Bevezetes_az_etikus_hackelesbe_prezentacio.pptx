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Nyitás: tisztázzuk, hogy ez nem „feltörő tanfolyam”, hanem védelmi szemléletű, engedélyezett biztonsági vizsgálatok alapozása.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tanulók saját szakmájukhoz kötik a témát: nem támadóként, hanem üzemeltetőként és védelmi szemlélettel.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Ezek a célok későbbi modulok előfeltételei: hálózat, Linux, Kali és webbiztonság csak így biztonságos.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lehet kérni példákat: mikor ugyanaz a technika legális és mikor tilos?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grey hat résznél érdemes hangsúlyozni: jó szándék nem helyettesíti az engedélyt.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jogi rész nem ijesztgetés: olyan szakmai keretet adunk, amely később a tanulót is védi.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menjünk túl mély jogi elemzésbe. A cél a gyakorlati következtetés: engedély, hatókör, dokumentálás.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legyen tanári szerződés a csoporttal. Érdemes közösen kiegészíteni.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Kérjünk iskolai példát mindháromra. Ez jó átvezetés a kockázat fogalmára.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 szó itt javító vagy megelőző kontrollt jelent: jogosultság, frissítés, naplózás, szegmentálás.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Ezen a dián lehet előkészíteni, hogy oktatásban csak minimális, kárt nem okozó bizonyításra törekszünk.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későbbi webbiztonsági modulokban az OWASP Top 10 lesz a fő hivatkozási pont.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Fókusz: a tanulók lássák, hogy a riport és a javításkövetés ugyanúgy szakmai munka, mint a technikai vizsgálat.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Visszautalás a korábbi döntésre: először Linux és hálózati alapok, aztán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később is visszatérő szempont legyen minden tool bemutatásnál.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Fontos: későbbi modulok előtt technikailag is el kell különíteni a labort.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feladat aktívan beépíti a jogi-etikai kereteket.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az egyik legfontosabb valós életbeli szituáció: a tanuló tudja, hogyan ne sodródjon bajba.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riport szó legyen már az első modulban természetes.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dián meg lehet mutatni, hogyan áll össze a GitHub repó modulstruktúrája.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Zárás: kérjünk egy-egy mondatot, majd gyűjtsük be feladatlapként vagy digitálisan.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források teljes URL-je a diákjegyzetben szerepel.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cybersecurity_digital_network_ab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148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Etikus hackelés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8529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01. modul • Bevezetés, jogi-etikai keretek, alapfogalmak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" y="34747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B5CAD">
              <a:alpha val="85000"/>
            </a:srgbClr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35387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13. évfolyam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304288" y="347472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27C2FF">
              <a:alpha val="85000"/>
            </a:srgbClr>
          </a:solidFill>
          <a:ln w="12700">
            <a:solidFill>
              <a:srgbClr val="27C2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14016" y="3538728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Rendszerüzemeltető technikus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83480" y="34747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38D39F">
              <a:alpha val="85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93208" y="3538728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Kali előkészítés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modern_computer_lab_or_c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fontos ez egy technikusi osztályban?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rendszergazdai tudás és a biztonsági gondolkodás ugyanannak a szakmának két oldala.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60020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02A44">
              <a:alpha val="90000"/>
            </a:srgbClr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4840" y="160020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02A44">
              <a:alpha val="90000"/>
            </a:srgbClr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83880" y="160020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02A44">
              <a:alpha val="90000"/>
            </a:srgbClr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Rendszerek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0120" y="24231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szerverek, hálózatok, felhő, e-napló, Wi‑Fi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0916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Adatok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09160" y="24231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személyes adatok, dokumentumok, jogosultságok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45820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Felelősség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58200" y="24231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hiba felismerése, javítás, riport, incidenskezelés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Tanulási célok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 végére a tanuló nem parancsokat magol, hanem keretekben gondolkodik.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64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Etika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megkülönbözteti az engedélyezett és jogosulatlan tevékenységet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764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Jog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7448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elmagyarázza, miért kell írásos engedély és scope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75320" y="160020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1764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Fogalmak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76488" y="2167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helyesen használja a CIA triád és kockázat fogalmait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Folyamat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8408" y="4041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átlátja a pentest életciklusát és a riport szerepét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Kali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27448" y="4041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megérti, hogy a Kali eszköztár, nem rövidítés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„hacker” szó két arca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Köznyelvben gyakran bűnöző, szakmailag viszont kíváncsi problémamegoldó is lehet.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D75"/>
                </a:solidFill>
              </a:rPr>
              <a:t>Média-kép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„valaki, aki betör rendszerekbe”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438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D39F"/>
                </a:solidFill>
              </a:rPr>
              <a:t>Szakmai kép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4380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„valaki, aki rendszereket ért és javít”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57800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C2FF"/>
                </a:solidFill>
              </a:rPr>
              <a:t>→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956048" y="2999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C2FF"/>
                </a:solidFill>
              </a:rPr>
              <a:t>engedély + felelősség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White, grey, black 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a kapucni színe számít, hanem az engedély, a cél és a felelősség.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D39F"/>
                </a:solidFill>
              </a:rPr>
              <a:t>White hat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Engedéllyel, hatókörrel, dokumentálva dolgozik.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48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B731"/>
                </a:solidFill>
              </a:rPr>
              <a:t>Grey hat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8348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Lehet jó szándékú, de engedély nélkül vagy homályos keretekkel.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58200" y="1874520"/>
            <a:ext cx="3246120" cy="2560320"/>
          </a:xfrm>
          <a:prstGeom prst="roundRect">
            <a:avLst>
              <a:gd name="adj" fmla="val 4286"/>
            </a:avLst>
          </a:prstGeom>
          <a:solidFill>
            <a:srgbClr val="102A44"/>
          </a:solidFill>
          <a:ln w="12700">
            <a:solidFill>
              <a:srgbClr val="F46D7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148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6D75"/>
                </a:solidFill>
              </a:rPr>
              <a:t>Black hat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7824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Jogosulatlan hozzáférés, kár, visszaélés vagy haszonszerzés.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futuristic_digital_illustration_co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határ: engedély és hatókör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etikus hackelés szakmai szerződéses helyzet, nem spontán kíváncsiság.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54480"/>
            <a:ext cx="5212080" cy="3886200"/>
          </a:xfrm>
          <a:prstGeom prst="roundRect">
            <a:avLst>
              <a:gd name="adj" fmla="val 2824"/>
            </a:avLst>
          </a:prstGeom>
          <a:solidFill>
            <a:srgbClr val="102A44">
              <a:alpha val="91000"/>
            </a:srgbClr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874520"/>
            <a:ext cx="457200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 adott engedélyt?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Mit lehet vizsgálni?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Mikor lehet tesztelni?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Milyen művelet tilos?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Kihez kell szólni hiba esetén?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Hogyan készül a riport?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37960" y="2103120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2A1118">
              <a:alpha val="97000"/>
            </a:srgbClr>
          </a:solidFill>
          <a:ln w="12700">
            <a:solidFill>
              <a:srgbClr val="F46D7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D75"/>
                </a:solidFill>
              </a:rPr>
              <a:t>Aranyszabály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03720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Amihez nincs kifejezett engedély, azt nem vizsgáljuk.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Magyar jogi keret röviden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Oktatási összefoglaló: a hatályos jogszabályt mindig ellenőrizni kell.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B731"/>
                </a:solidFill>
              </a:rPr>
              <a:t>Btk. 423. §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Jogosulatlan belépés, bent maradás, működés vagy adat jogosulatlan befolyásolása büntetőjogi kockázatot jelenthet.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4983480" cy="3154680"/>
          </a:xfrm>
          <a:prstGeom prst="roundRect">
            <a:avLst>
              <a:gd name="adj" fmla="val 3478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7C2FF"/>
                </a:solidFill>
              </a:rPr>
              <a:t>Kiberbiztonsági szabályozás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720840" y="239572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A védelmi szemlélet, kockázatarányos védelem, felelősségi körök és dokumentálás intézményi szinten is fontos.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39F"/>
                </a:solidFill>
              </a:rPr>
              <a:t>Tanári üzenet: az órai gyakorlatok kizárólag kijelölt laborban történnek.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Tanórai magatartási kódex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későbbi technikai modulok biztonsága itt dől 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411480" cy="411480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1848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Csak kijelölt laborban dolgozunk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411480" cy="411480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4144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39572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Külső célpontot nem vizsgálunk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154680"/>
            <a:ext cx="411480" cy="411480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6440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32186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Adatot nem töltünk le szükségtelenül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411480" cy="411480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873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Hiba esetén azonnal leállunk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1032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8646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Riportban bizonyítunk és javítást javaslunk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CIA triád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Három kérdés, amit minden rendszernél feltehetünk.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2971800" cy="2606040"/>
          </a:xfrm>
          <a:prstGeom prst="roundRect">
            <a:avLst>
              <a:gd name="adj" fmla="val 4211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C2FF"/>
                </a:solidFill>
              </a:rPr>
              <a:t>Bizalmasság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Ki láthatja az adatot?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703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e-napló adatvédelem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2971800" cy="2606040"/>
          </a:xfrm>
          <a:prstGeom prst="roundRect">
            <a:avLst>
              <a:gd name="adj" fmla="val 4211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D39F"/>
                </a:solidFill>
              </a:rPr>
              <a:t>Sértetlenség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Ki módosíthatja?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703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jegyek változatlansága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2971800" cy="2606040"/>
          </a:xfrm>
          <a:prstGeom prst="roundRect">
            <a:avLst>
              <a:gd name="adj" fmla="val 4211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B731"/>
                </a:solidFill>
              </a:rPr>
              <a:t>Rendelkezésre állás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Mikor kell működnie?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3703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vizsgarendszer elérhetősége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Kiberbiztonsági gondolkodás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minden probléma ugyanaz: a fogalmak pontos használata szakmai minimum.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402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2FF"/>
                </a:solidFill>
              </a:rPr>
              <a:t>Asset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3816" y="28803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amit védünk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32888" y="2615184"/>
            <a:ext cx="347472" cy="256032"/>
          </a:xfrm>
          <a:prstGeom prst="rightArrow">
            <a:avLst/>
          </a:prstGeom>
          <a:solidFill>
            <a:srgbClr val="4B6584"/>
          </a:solidFill>
          <a:ln w="12700">
            <a:solidFill>
              <a:srgbClr val="4B658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22402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2FF"/>
                </a:solidFill>
              </a:rPr>
              <a:t>Threat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27248" y="28803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ami árthat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2615184"/>
            <a:ext cx="347472" cy="256032"/>
          </a:xfrm>
          <a:prstGeom prst="rightArrow">
            <a:avLst/>
          </a:prstGeom>
          <a:solidFill>
            <a:srgbClr val="4B6584"/>
          </a:solidFill>
          <a:ln w="12700">
            <a:solidFill>
              <a:srgbClr val="4B658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12664" y="22402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2FF"/>
                </a:solidFill>
              </a:rPr>
              <a:t>Vulnerability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28803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gyengeség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59752" y="2615184"/>
            <a:ext cx="347472" cy="256032"/>
          </a:xfrm>
          <a:prstGeom prst="rightArrow">
            <a:avLst/>
          </a:prstGeom>
          <a:solidFill>
            <a:srgbClr val="4B6584"/>
          </a:solidFill>
          <a:ln w="12700">
            <a:solidFill>
              <a:srgbClr val="4B658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6096" y="22402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</a:rPr>
              <a:t>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54112" y="28803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esély × hatás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73184" y="2615184"/>
            <a:ext cx="347472" cy="256032"/>
          </a:xfrm>
          <a:prstGeom prst="rightArrow">
            <a:avLst/>
          </a:prstGeom>
          <a:solidFill>
            <a:srgbClr val="4B6584"/>
          </a:solidFill>
          <a:ln w="12700">
            <a:solidFill>
              <a:srgbClr val="4B658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39528" y="22402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7544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2FF"/>
                </a:solidFill>
              </a:rPr>
              <a:t>Control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67544" y="28803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védelem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Példa: tanári fájlmegosztó + gyenge jogosultság + kíváncsi belső felhasználó → adatvédelmi kockázat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Sérülékenység ≠ exploit ≠ incidens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fogalmi pontosság később a riport minőségét is meghatározza.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C2FF"/>
                </a:solidFill>
              </a:rPr>
              <a:t>Sérülékenység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Kihasználható gyengeség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03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pl. elavult komponens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</a:rPr>
              <a:t>Exploit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gyengeség kihasználásának módja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3703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pl. laborban demonstrált bizonyítás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182880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102A44"/>
          </a:solidFill>
          <a:ln w="12700">
            <a:solidFill>
              <a:srgbClr val="F46D75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D75"/>
                </a:solidFill>
              </a:rPr>
              <a:t>Incidens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32520" y="2743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Bekövetkezett káresemény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32520" y="3703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D9"/>
                </a:solidFill>
              </a:rPr>
              <a:t>pl. jogosulatlan hozzáférés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CVE, CVSS, OWASP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Hogyan beszélnek a szakemberek a hibákról?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C2FF"/>
                </a:solidFill>
              </a:rPr>
              <a:t>CVE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azonosító ismert sérülékenységekhez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D39F"/>
                </a:solidFill>
              </a:rPr>
              <a:t>CVSS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880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pontszám a súlyosság becslésére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66760" y="18288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102A44"/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B731"/>
                </a:solidFill>
              </a:rPr>
              <a:t>OWASP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41080" y="2880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webes kockázatok oktatási és tudatossági listái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4937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39F"/>
                </a:solidFill>
              </a:rPr>
              <a:t>Ebben a modulban még nem exploitálunk, hanem megtanuljuk a felelős szakmai kommunikációt.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Pentest életciklus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vizsgálat értéke a folyamatból és a riportból születik.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0"/>
            <a:ext cx="1737360" cy="822960"/>
          </a:xfrm>
          <a:prstGeom prst="chevron">
            <a:avLst/>
          </a:prstGeom>
          <a:solidFill>
            <a:srgbClr val="27C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Engedélyezés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1737360" cy="822960"/>
          </a:xfrm>
          <a:prstGeom prst="chevron">
            <a:avLst/>
          </a:prstGeom>
          <a:solidFill>
            <a:srgbClr val="0B5CAD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Felderítés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1737360" cy="822960"/>
          </a:xfrm>
          <a:prstGeom prst="chevron">
            <a:avLst/>
          </a:prstGeom>
          <a:solidFill>
            <a:srgbClr val="27C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Vizsgálat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1737360" cy="822960"/>
          </a:xfrm>
          <a:prstGeom prst="chevron">
            <a:avLst/>
          </a:prstGeom>
          <a:solidFill>
            <a:srgbClr val="0B5CAD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Validálás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743200"/>
            <a:ext cx="1737360" cy="822960"/>
          </a:xfrm>
          <a:prstGeom prst="chevron">
            <a:avLst/>
          </a:prstGeom>
          <a:solidFill>
            <a:srgbClr val="27C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Riport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04120" y="2743200"/>
            <a:ext cx="1737360" cy="822960"/>
          </a:xfrm>
          <a:prstGeom prst="chevron">
            <a:avLst/>
          </a:prstGeom>
          <a:solidFill>
            <a:srgbClr val="0B5CAD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30358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Javításkövetés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754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A jó pentest nem a „sikeres behatolással” ér véget, hanem használható javítási javaslattal.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cybersecurity_digital_network_ab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 jön be a Kali Linux?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Hasznos eszköztár, de csak alapokkal és szabályos laborkerettel.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0020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1B4D7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7C2FF"/>
                </a:solidFill>
              </a:rPr>
              <a:t>Kali = Debian-alapú biztonsági disztribúció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43000" y="2788920"/>
            <a:ext cx="38404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penetrációs tesztelés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audit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network security assessment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eszközök egy helyen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46520" y="1965960"/>
            <a:ext cx="4526280" cy="2560320"/>
          </a:xfrm>
          <a:prstGeom prst="roundRect">
            <a:avLst>
              <a:gd name="adj" fmla="val 4286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23317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B731"/>
                </a:solidFill>
              </a:rPr>
              <a:t>Nem ettől lesz valaki szakember.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03720" y="3063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Linux, hálózat, jogosultság, naplózás és riport nélkül csak eszközök listája.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nem parancsokkal kezdünk?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parancs bemagolható; a szakmai döntéshez megértés kell.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892040" cy="27432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F46D7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D75"/>
                </a:solidFill>
              </a:rPr>
              <a:t>Eszköz-központú út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„Futtassuk az nmapet, aztán majd lesz valami.”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4892040" cy="2743200"/>
          </a:xfrm>
          <a:prstGeom prst="roundRect">
            <a:avLst>
              <a:gd name="adj" fmla="val 4000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D39F"/>
                </a:solidFill>
              </a:rPr>
              <a:t>Szakmai út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0" y="3017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„Mit vizsgálhatunk, milyen kockázatot keresünk, hogyan bizonyítjuk?”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Biztonságos laborlogika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tananyagban célpont csak a kijelölt virtuális környezet lehet.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2788920"/>
            <a:ext cx="219456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720840" y="2788920"/>
            <a:ext cx="2103120" cy="0"/>
          </a:xfrm>
          <a:prstGeom prst="line">
            <a:avLst/>
          </a:prstGeom>
          <a:noFill/>
          <a:ln w="25400">
            <a:solidFill>
              <a:srgbClr val="38D39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2148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45059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2FF"/>
                </a:solidFill>
              </a:rPr>
              <a:t>Kali VM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285292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vizsgáló gép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2A44"/>
          </a:solidFill>
          <a:ln w="12700">
            <a:solidFill>
              <a:srgbClr val="0B5CAD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45059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CAD"/>
                </a:solidFill>
              </a:rPr>
              <a:t>Elkülönített virtuális hálózat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62272" y="285292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host-only / internal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14884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45059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39F"/>
                </a:solidFill>
              </a:rPr>
              <a:t>Célgép VM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48472" y="285292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tanári kontroll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11680" y="4800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D75"/>
                </a:solidFill>
              </a:rPr>
              <a:t>Éles iskolai vagy külső rendszerek felé nincs tesztelés.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Órai mini-feladat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Engedély-kártya készítése egy elképzelt iskolai tesztlaborhoz.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Engedélyező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Célrendszer/IP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0" y="164592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Időablak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Tiltott műveletek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Kapcsolattartó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0" y="320040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Riport leadása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futuristic_digital_illustration_co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Esettanulmány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Egy osztálytársad talált egy hibát egy külső cég weboldalán.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102A44">
              <a:alpha val="94000"/>
            </a:srgbClr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0116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6D75"/>
                </a:solidFill>
              </a:rPr>
              <a:t>Mit NEM csinálunk?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2651760"/>
            <a:ext cx="42062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tesztelünk tovább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töltünk le adatot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posztoljuk ki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„bizonyítjuk” éles rendszeren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92240" y="1645920"/>
            <a:ext cx="4800600" cy="3291840"/>
          </a:xfrm>
          <a:prstGeom prst="roundRect">
            <a:avLst>
              <a:gd name="adj" fmla="val 3333"/>
            </a:avLst>
          </a:prstGeom>
          <a:solidFill>
            <a:srgbClr val="102A44">
              <a:alpha val="94000"/>
            </a:srgbClr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2011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D39F"/>
                </a:solidFill>
              </a:rPr>
              <a:t>Mit csinálunk?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03720" y="2651760"/>
            <a:ext cx="40233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Leállunk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Tanárnak jelezzük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Felelős bejelentési csatornát keresünk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Nem lépjük túl a szükséges információt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tech_themed_desktop_scene_in_a_da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riport a munka eredménye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jó biztonsági vizsgálat javítható formában ad értéket.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2402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C2FF"/>
                </a:solidFill>
              </a:rPr>
              <a:t>Megállapítás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7552" y="2953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mi a probléma?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0" y="22402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22192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D39F"/>
                </a:solidFill>
              </a:rPr>
              <a:t>Bizonyíték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22192" y="2953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mivel igazolható?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92240" y="22402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F7B731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B731"/>
                </a:solidFill>
              </a:rPr>
              <a:t>Kockázat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56832" y="2953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mi lehet a hatás?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0" y="22402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02A44">
              <a:alpha val="92000"/>
            </a:srgbClr>
          </a:solidFill>
          <a:ln w="12700">
            <a:solidFill>
              <a:srgbClr val="F46D75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91472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6D75"/>
                </a:solidFill>
              </a:rPr>
              <a:t>Javaslat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91472" y="2953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hogyan csökkenthető?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Modulhoz tartozó anyagok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csomag nem csak prezentáció, hanem tanítható modul.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Diákjegyzet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elmélet + példák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Feladatlap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258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órai aktivitás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75320" y="160020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Labor 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03920" y="2258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scope + szabályzat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Teszt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4041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rövid ellenőrzés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338328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02A44"/>
          </a:solidFill>
          <a:ln w="12700">
            <a:solidFill>
              <a:srgbClr val="27C2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C2FF"/>
                </a:solidFill>
              </a:rPr>
              <a:t>Tanári segédlet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4041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óravázlat + rubrika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Összefoglalás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következő modulok erre az alapra épülnek.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00200"/>
            <a:ext cx="97383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Az engedély fontosabb, mint az eszköz.</a:t>
            </a:r>
            <a:endParaRPr lang="en-US" sz="2100" dirty="0"/>
          </a:p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scope védi a vizsgálót és a rendszert.</a:t>
            </a:r>
            <a:endParaRPr lang="en-US" sz="2100" dirty="0"/>
          </a:p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CIA triád megmutatja, mit védünk.</a:t>
            </a:r>
            <a:endParaRPr lang="en-US" sz="2100" dirty="0"/>
          </a:p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sérülékenység, exploit és kockázat nem ugyanaz.</a:t>
            </a:r>
            <a:endParaRPr lang="en-US" sz="2100" dirty="0"/>
          </a:p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Kali később eszköztár lesz, nem kiindulópont.</a:t>
            </a:r>
            <a:endParaRPr lang="en-US" sz="2100" dirty="0"/>
          </a:p>
          <a:p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jó munka végén érthető riport áll.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011680" y="5257800"/>
            <a:ext cx="8183880" cy="640080"/>
          </a:xfrm>
          <a:prstGeom prst="roundRect">
            <a:avLst>
              <a:gd name="adj" fmla="val 17143"/>
            </a:avLst>
          </a:prstGeom>
          <a:solidFill>
            <a:srgbClr val="102A44"/>
          </a:solidFill>
          <a:ln w="12700">
            <a:solidFill>
              <a:srgbClr val="38D39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5468112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D39F"/>
                </a:solidFill>
              </a:rPr>
              <a:t>Exit ticket: „Egy vizsgálat akkor etikus, ha…”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Források és megjegyzés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jogi rész oktatási összefoglaló; éles helyzetben a hatályos jogszabályt kell ellenőrizni.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0"/>
          </a:xfrm>
          <a:prstGeom prst="line">
            <a:avLst/>
          </a:prstGeom>
          <a:noFill/>
          <a:ln w="25400">
            <a:solidFill>
              <a:srgbClr val="27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00200"/>
            <a:ext cx="987552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Kali Linux Documentation - What is Kali Linux?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OWASP Top 10 hivatalos projektoldal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NIST Cybersecurity Framework 2.0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Btk. 423. § - információs rendszer vagy adat megsértése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2024. évi LXIX. törvény Magyarország kiberbiztonságáról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SZTFH kiberbiztonsági tájékoztatók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D39F"/>
                </a:solidFill>
              </a:rPr>
              <a:t>Letöltés/ellenőrzés ideje: 2026.08.02.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modul • Bevezetés az etikus hackelésbe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Oktatási tananyag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 modul - Bevezetés az etikus hackelésbe</dc:title>
  <dc:subject>Etikus hackelés bevezető modul</dc:subject>
  <dc:creator>OpenAI</dc:creator>
  <cp:lastModifiedBy>OpenAI</cp:lastModifiedBy>
  <cp:revision>1</cp:revision>
  <dcterms:created xsi:type="dcterms:W3CDTF">2026-08-02T15:09:07Z</dcterms:created>
  <dcterms:modified xsi:type="dcterms:W3CDTF">2026-08-02T15:09:07Z</dcterms:modified>
</cp:coreProperties>
</file>